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MiSans" panose="020B0604020202020204" charset="-122"/>
      <p:regular r:id="rId16"/>
    </p:embeddedFon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6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415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367359113d7f8f61c11240a5d9f560c821e828ce.jp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5C6A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191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EXXONMOBIL HACKATHON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68580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INOVETERS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00225"/>
            <a:ext cx="610552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PM2.5 Air Pollution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</a:t>
            </a: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3863" y="4772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676775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1050" y="4867275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Satellite-Derived PM2.5 (1998-2023)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90550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210300"/>
            <a:ext cx="2713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Mahati Atre &amp; Prakhar Mandloi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7342" y="5905500"/>
            <a:ext cx="1647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762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6762750" cy="1466850"/>
          </a:xfrm>
          <a:custGeom>
            <a:avLst/>
            <a:gdLst/>
            <a:ahLst/>
            <a:cxnLst/>
            <a:rect l="l" t="t" r="r" b="b"/>
            <a:pathLst>
              <a:path w="6762750" h="1466850">
                <a:moveTo>
                  <a:pt x="0" y="0"/>
                </a:moveTo>
                <a:lnTo>
                  <a:pt x="6686547" y="0"/>
                </a:lnTo>
                <a:cubicBezTo>
                  <a:pt x="6728605" y="0"/>
                  <a:pt x="6762750" y="34145"/>
                  <a:pt x="6762750" y="76203"/>
                </a:cubicBezTo>
                <a:lnTo>
                  <a:pt x="6762750" y="1390647"/>
                </a:lnTo>
                <a:cubicBezTo>
                  <a:pt x="6762750" y="1432705"/>
                  <a:pt x="6728605" y="1466850"/>
                  <a:pt x="6686547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85788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939879" y="1600200"/>
            <a:ext cx="612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Environmental Health Risk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9879" y="1943100"/>
            <a:ext cx="6105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pollution is one of the most serious environmental health risks worldwide. Fine particulate matter (PM2.5) can penetrate deep into the lungs and bloodstream, causing respiratory and cardiovascular diseases.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028950"/>
            <a:ext cx="6762750" cy="1485900"/>
          </a:xfrm>
          <a:custGeom>
            <a:avLst/>
            <a:gdLst/>
            <a:ahLst/>
            <a:cxnLst/>
            <a:rect l="l" t="t" r="r" b="b"/>
            <a:pathLst>
              <a:path w="6762750" h="1485900">
                <a:moveTo>
                  <a:pt x="0" y="0"/>
                </a:moveTo>
                <a:lnTo>
                  <a:pt x="6686553" y="0"/>
                </a:lnTo>
                <a:cubicBezTo>
                  <a:pt x="6728635" y="0"/>
                  <a:pt x="6762750" y="34115"/>
                  <a:pt x="6762750" y="76197"/>
                </a:cubicBezTo>
                <a:lnTo>
                  <a:pt x="6762750" y="1409703"/>
                </a:lnTo>
                <a:cubicBezTo>
                  <a:pt x="6762750" y="1451785"/>
                  <a:pt x="6728635" y="1485900"/>
                  <a:pt x="6686553" y="1485900"/>
                </a:cubicBez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302895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633413" y="3267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828675" y="3219450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Accurate Prediction Matters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600450"/>
            <a:ext cx="2047875" cy="723900"/>
          </a:xfrm>
          <a:custGeom>
            <a:avLst/>
            <a:gdLst/>
            <a:ahLst/>
            <a:cxnLst/>
            <a:rect l="l" t="t" r="r" b="b"/>
            <a:pathLst>
              <a:path w="2047875" h="723900">
                <a:moveTo>
                  <a:pt x="76198" y="0"/>
                </a:moveTo>
                <a:lnTo>
                  <a:pt x="1971677" y="0"/>
                </a:lnTo>
                <a:cubicBezTo>
                  <a:pt x="2013732" y="0"/>
                  <a:pt x="2047875" y="34143"/>
                  <a:pt x="2047875" y="76198"/>
                </a:cubicBezTo>
                <a:lnTo>
                  <a:pt x="2047875" y="647702"/>
                </a:lnTo>
                <a:cubicBezTo>
                  <a:pt x="2047875" y="689757"/>
                  <a:pt x="2013732" y="723900"/>
                  <a:pt x="19716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17571" y="3714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690563" y="401955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Health Monitoring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68560" y="3600450"/>
            <a:ext cx="2047875" cy="723900"/>
          </a:xfrm>
          <a:custGeom>
            <a:avLst/>
            <a:gdLst/>
            <a:ahLst/>
            <a:cxnLst/>
            <a:rect l="l" t="t" r="r" b="b"/>
            <a:pathLst>
              <a:path w="2047875" h="723900">
                <a:moveTo>
                  <a:pt x="76198" y="0"/>
                </a:moveTo>
                <a:lnTo>
                  <a:pt x="1971677" y="0"/>
                </a:lnTo>
                <a:cubicBezTo>
                  <a:pt x="2013732" y="0"/>
                  <a:pt x="2047875" y="34143"/>
                  <a:pt x="2047875" y="76198"/>
                </a:cubicBezTo>
                <a:lnTo>
                  <a:pt x="2047875" y="647702"/>
                </a:lnTo>
                <a:cubicBezTo>
                  <a:pt x="2047875" y="689757"/>
                  <a:pt x="2013732" y="723900"/>
                  <a:pt x="19716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76531" y="3714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6576" y="2277"/>
                </a:moveTo>
                <a:cubicBezTo>
                  <a:pt x="111264" y="-759"/>
                  <a:pt x="117336" y="-759"/>
                  <a:pt x="122024" y="2277"/>
                </a:cubicBezTo>
                <a:lnTo>
                  <a:pt x="222037" y="66571"/>
                </a:lnTo>
                <a:cubicBezTo>
                  <a:pt x="227350" y="70009"/>
                  <a:pt x="229806" y="76527"/>
                  <a:pt x="228020" y="82600"/>
                </a:cubicBezTo>
                <a:cubicBezTo>
                  <a:pt x="226234" y="88672"/>
                  <a:pt x="220653" y="92869"/>
                  <a:pt x="214313" y="92869"/>
                </a:cubicBezTo>
                <a:lnTo>
                  <a:pt x="200025" y="92869"/>
                </a:lnTo>
                <a:lnTo>
                  <a:pt x="200025" y="185738"/>
                </a:lnTo>
                <a:lnTo>
                  <a:pt x="222885" y="202883"/>
                </a:lnTo>
                <a:cubicBezTo>
                  <a:pt x="226502" y="205561"/>
                  <a:pt x="228600" y="209803"/>
                  <a:pt x="228600" y="214313"/>
                </a:cubicBezTo>
                <a:cubicBezTo>
                  <a:pt x="228600" y="222215"/>
                  <a:pt x="222215" y="228600"/>
                  <a:pt x="214313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ubicBezTo>
                  <a:pt x="0" y="209803"/>
                  <a:pt x="2098" y="205561"/>
                  <a:pt x="5715" y="202883"/>
                </a:cubicBezTo>
                <a:lnTo>
                  <a:pt x="28575" y="185738"/>
                </a:lnTo>
                <a:lnTo>
                  <a:pt x="28575" y="185738"/>
                </a:lnTo>
                <a:lnTo>
                  <a:pt x="28575" y="92869"/>
                </a:lnTo>
                <a:lnTo>
                  <a:pt x="14288" y="92869"/>
                </a:lnTo>
                <a:cubicBezTo>
                  <a:pt x="7947" y="92869"/>
                  <a:pt x="2366" y="88672"/>
                  <a:pt x="580" y="82600"/>
                </a:cubicBezTo>
                <a:cubicBezTo>
                  <a:pt x="-1206" y="76527"/>
                  <a:pt x="1250" y="69964"/>
                  <a:pt x="6563" y="66571"/>
                </a:cubicBezTo>
                <a:lnTo>
                  <a:pt x="106576" y="2277"/>
                </a:lnTo>
                <a:close/>
                <a:moveTo>
                  <a:pt x="150019" y="92869"/>
                </a:moveTo>
                <a:lnTo>
                  <a:pt x="150019" y="185738"/>
                </a:lnTo>
                <a:lnTo>
                  <a:pt x="178594" y="185738"/>
                </a:lnTo>
                <a:lnTo>
                  <a:pt x="178594" y="92869"/>
                </a:lnTo>
                <a:lnTo>
                  <a:pt x="150019" y="92869"/>
                </a:lnTo>
                <a:close/>
                <a:moveTo>
                  <a:pt x="100013" y="185738"/>
                </a:moveTo>
                <a:lnTo>
                  <a:pt x="128588" y="185738"/>
                </a:lnTo>
                <a:lnTo>
                  <a:pt x="128588" y="92869"/>
                </a:lnTo>
                <a:lnTo>
                  <a:pt x="100013" y="92869"/>
                </a:lnTo>
                <a:lnTo>
                  <a:pt x="100013" y="185738"/>
                </a:lnTo>
                <a:close/>
                <a:moveTo>
                  <a:pt x="50006" y="92869"/>
                </a:moveTo>
                <a:lnTo>
                  <a:pt x="50006" y="185738"/>
                </a:lnTo>
                <a:lnTo>
                  <a:pt x="78581" y="185738"/>
                </a:lnTo>
                <a:lnTo>
                  <a:pt x="78581" y="92869"/>
                </a:lnTo>
                <a:lnTo>
                  <a:pt x="50006" y="9286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2849523" y="401955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Policy Planning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27521" y="3600450"/>
            <a:ext cx="2047875" cy="723900"/>
          </a:xfrm>
          <a:custGeom>
            <a:avLst/>
            <a:gdLst/>
            <a:ahLst/>
            <a:cxnLst/>
            <a:rect l="l" t="t" r="r" b="b"/>
            <a:pathLst>
              <a:path w="2047875" h="723900">
                <a:moveTo>
                  <a:pt x="76198" y="0"/>
                </a:moveTo>
                <a:lnTo>
                  <a:pt x="1971677" y="0"/>
                </a:lnTo>
                <a:cubicBezTo>
                  <a:pt x="2013732" y="0"/>
                  <a:pt x="2047875" y="34143"/>
                  <a:pt x="2047875" y="76198"/>
                </a:cubicBezTo>
                <a:lnTo>
                  <a:pt x="2047875" y="647702"/>
                </a:lnTo>
                <a:cubicBezTo>
                  <a:pt x="2047875" y="689757"/>
                  <a:pt x="2013732" y="723900"/>
                  <a:pt x="19716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835611" y="3714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5008483" y="401955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Pollution Mitigation Strategies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4671060"/>
            <a:ext cx="6770370" cy="1150620"/>
          </a:xfrm>
          <a:custGeom>
            <a:avLst/>
            <a:gdLst/>
            <a:ahLst/>
            <a:cxnLst/>
            <a:rect l="l" t="t" r="r" b="b"/>
            <a:pathLst>
              <a:path w="6770370" h="1150620">
                <a:moveTo>
                  <a:pt x="76206" y="0"/>
                </a:moveTo>
                <a:lnTo>
                  <a:pt x="6694164" y="0"/>
                </a:lnTo>
                <a:cubicBezTo>
                  <a:pt x="6736252" y="0"/>
                  <a:pt x="6770370" y="34118"/>
                  <a:pt x="6770370" y="76206"/>
                </a:cubicBezTo>
                <a:lnTo>
                  <a:pt x="6770370" y="1074414"/>
                </a:lnTo>
                <a:cubicBezTo>
                  <a:pt x="6770370" y="1116502"/>
                  <a:pt x="6736252" y="1150620"/>
                  <a:pt x="6694164" y="1150620"/>
                </a:cubicBezTo>
                <a:lnTo>
                  <a:pt x="76206" y="1150620"/>
                </a:lnTo>
                <a:cubicBezTo>
                  <a:pt x="34118" y="1150620"/>
                  <a:pt x="0" y="1116502"/>
                  <a:pt x="0" y="10744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170" y="513207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906304" y="4865370"/>
            <a:ext cx="614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6304" y="517017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machine learning model capable of predicting population-weighted PM2.5 levels using historical environmental data.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53300" y="1409700"/>
            <a:ext cx="4457700" cy="3905250"/>
          </a:xfrm>
          <a:custGeom>
            <a:avLst/>
            <a:gdLst/>
            <a:ahLst/>
            <a:cxnLst/>
            <a:rect l="l" t="t" r="r" b="b"/>
            <a:pathLst>
              <a:path w="4457700" h="3905250">
                <a:moveTo>
                  <a:pt x="76191" y="0"/>
                </a:moveTo>
                <a:lnTo>
                  <a:pt x="4381509" y="0"/>
                </a:lnTo>
                <a:cubicBezTo>
                  <a:pt x="4423560" y="0"/>
                  <a:pt x="4457700" y="34140"/>
                  <a:pt x="4457700" y="76191"/>
                </a:cubicBezTo>
                <a:lnTo>
                  <a:pt x="4457700" y="3829059"/>
                </a:lnTo>
                <a:cubicBezTo>
                  <a:pt x="4457700" y="3871110"/>
                  <a:pt x="4423560" y="3905250"/>
                  <a:pt x="4381509" y="3905250"/>
                </a:cubicBezTo>
                <a:lnTo>
                  <a:pt x="76191" y="3905250"/>
                </a:lnTo>
                <a:cubicBezTo>
                  <a:pt x="34140" y="3905250"/>
                  <a:pt x="0" y="3871110"/>
                  <a:pt x="0" y="382905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pic>
        <p:nvPicPr>
          <p:cNvPr id="28" name="Image 0" descr="https://kimi-web-img.moonshot.cn/img/cap-mzansi.com/210de666c7509886e9bd7594fc34867b41f8d68f.jpg"/>
          <p:cNvPicPr>
            <a:picLocks noChangeAspect="1"/>
          </p:cNvPicPr>
          <p:nvPr/>
        </p:nvPicPr>
        <p:blipFill>
          <a:blip r:embed="rId3"/>
          <a:srcRect t="23924" b="23924"/>
          <a:stretch/>
        </p:blipFill>
        <p:spPr>
          <a:xfrm>
            <a:off x="7353300" y="1409700"/>
            <a:ext cx="4457700" cy="2190750"/>
          </a:xfrm>
          <a:prstGeom prst="roundRect">
            <a:avLst>
              <a:gd name="adj" fmla="val 1951"/>
            </a:avLst>
          </a:prstGeom>
        </p:spPr>
      </p:pic>
      <p:sp>
        <p:nvSpPr>
          <p:cNvPr id="29" name="Text 26"/>
          <p:cNvSpPr/>
          <p:nvPr/>
        </p:nvSpPr>
        <p:spPr>
          <a:xfrm>
            <a:off x="7505700" y="3898900"/>
            <a:ext cx="421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IMPACT VISUALIZATION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05700" y="4127381"/>
            <a:ext cx="42195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PM2.5 particles cause both short-term effects (cough, throat irritation) and long-term damage (stroke, heart disease, lung cancer, COPD, diabetes).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357110" y="5475209"/>
            <a:ext cx="4446270" cy="998220"/>
          </a:xfrm>
          <a:custGeom>
            <a:avLst/>
            <a:gdLst/>
            <a:ahLst/>
            <a:cxnLst/>
            <a:rect l="l" t="t" r="r" b="b"/>
            <a:pathLst>
              <a:path w="4446270" h="998220">
                <a:moveTo>
                  <a:pt x="76204" y="0"/>
                </a:moveTo>
                <a:lnTo>
                  <a:pt x="4370066" y="0"/>
                </a:lnTo>
                <a:cubicBezTo>
                  <a:pt x="4412152" y="0"/>
                  <a:pt x="4446270" y="34118"/>
                  <a:pt x="4446270" y="76204"/>
                </a:cubicBezTo>
                <a:lnTo>
                  <a:pt x="4446270" y="922016"/>
                </a:lnTo>
                <a:cubicBezTo>
                  <a:pt x="4446270" y="964102"/>
                  <a:pt x="4412152" y="998220"/>
                  <a:pt x="43700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13320" y="5688449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Deaths/Year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203306" y="5631418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7M+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513320" y="6012299"/>
            <a:ext cx="4133850" cy="76200"/>
          </a:xfrm>
          <a:custGeom>
            <a:avLst/>
            <a:gdLst/>
            <a:ahLst/>
            <a:cxnLst/>
            <a:rect l="l" t="t" r="r" b="b"/>
            <a:pathLst>
              <a:path w="4133850" h="76200">
                <a:moveTo>
                  <a:pt x="38100" y="0"/>
                </a:moveTo>
                <a:lnTo>
                  <a:pt x="4095750" y="0"/>
                </a:lnTo>
                <a:cubicBezTo>
                  <a:pt x="4116778" y="0"/>
                  <a:pt x="4133850" y="17072"/>
                  <a:pt x="4133850" y="38100"/>
                </a:cubicBezTo>
                <a:lnTo>
                  <a:pt x="4133850" y="38100"/>
                </a:lnTo>
                <a:cubicBezTo>
                  <a:pt x="4133850" y="59128"/>
                  <a:pt x="4116778" y="76200"/>
                  <a:pt x="40957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7513320" y="6012299"/>
            <a:ext cx="3514725" cy="76200"/>
          </a:xfrm>
          <a:custGeom>
            <a:avLst/>
            <a:gdLst/>
            <a:ahLst/>
            <a:cxnLst/>
            <a:rect l="l" t="t" r="r" b="b"/>
            <a:pathLst>
              <a:path w="3514725" h="76200">
                <a:moveTo>
                  <a:pt x="38100" y="0"/>
                </a:moveTo>
                <a:lnTo>
                  <a:pt x="3476625" y="0"/>
                </a:lnTo>
                <a:cubicBezTo>
                  <a:pt x="3497653" y="0"/>
                  <a:pt x="3514725" y="17072"/>
                  <a:pt x="3514725" y="38100"/>
                </a:cubicBezTo>
                <a:lnTo>
                  <a:pt x="3514725" y="38100"/>
                </a:lnTo>
                <a:cubicBezTo>
                  <a:pt x="3514725" y="59128"/>
                  <a:pt x="3497653" y="76200"/>
                  <a:pt x="3476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3"/>
          <p:cNvSpPr/>
          <p:nvPr/>
        </p:nvSpPr>
        <p:spPr>
          <a:xfrm>
            <a:off x="7513320" y="6164699"/>
            <a:ext cx="419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Attributed to air pollution (WHO)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780" y="361780"/>
            <a:ext cx="54267" cy="361780"/>
          </a:xfrm>
          <a:custGeom>
            <a:avLst/>
            <a:gdLst/>
            <a:ahLst/>
            <a:cxnLst/>
            <a:rect l="l" t="t" r="r" b="b"/>
            <a:pathLst>
              <a:path w="54267" h="361780">
                <a:moveTo>
                  <a:pt x="0" y="0"/>
                </a:moveTo>
                <a:lnTo>
                  <a:pt x="54267" y="0"/>
                </a:lnTo>
                <a:lnTo>
                  <a:pt x="54267" y="361780"/>
                </a:lnTo>
                <a:lnTo>
                  <a:pt x="0" y="36178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24582" y="452226"/>
            <a:ext cx="130240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kern="0" spc="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1780" y="795917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869" y="1302409"/>
            <a:ext cx="5625685" cy="1718457"/>
          </a:xfrm>
          <a:custGeom>
            <a:avLst/>
            <a:gdLst/>
            <a:ahLst/>
            <a:cxnLst/>
            <a:rect l="l" t="t" r="r" b="b"/>
            <a:pathLst>
              <a:path w="5625685" h="1718457">
                <a:moveTo>
                  <a:pt x="0" y="0"/>
                </a:moveTo>
                <a:lnTo>
                  <a:pt x="5553321" y="0"/>
                </a:lnTo>
                <a:cubicBezTo>
                  <a:pt x="5593287" y="0"/>
                  <a:pt x="5625685" y="32399"/>
                  <a:pt x="5625685" y="72364"/>
                </a:cubicBezTo>
                <a:lnTo>
                  <a:pt x="5625685" y="1646093"/>
                </a:lnTo>
                <a:cubicBezTo>
                  <a:pt x="5625685" y="1686058"/>
                  <a:pt x="5593287" y="1718457"/>
                  <a:pt x="5553321" y="1718457"/>
                </a:cubicBezTo>
                <a:lnTo>
                  <a:pt x="0" y="1718457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9869" y="1302409"/>
            <a:ext cx="36178" cy="1718457"/>
          </a:xfrm>
          <a:custGeom>
            <a:avLst/>
            <a:gdLst/>
            <a:ahLst/>
            <a:cxnLst/>
            <a:rect l="l" t="t" r="r" b="b"/>
            <a:pathLst>
              <a:path w="36178" h="1718457">
                <a:moveTo>
                  <a:pt x="0" y="0"/>
                </a:moveTo>
                <a:lnTo>
                  <a:pt x="36178" y="0"/>
                </a:lnTo>
                <a:lnTo>
                  <a:pt x="36178" y="1718457"/>
                </a:lnTo>
                <a:lnTo>
                  <a:pt x="0" y="1718457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615027" y="1600766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105460" y="3710"/>
                </a:moveTo>
                <a:cubicBezTo>
                  <a:pt x="110442" y="-1272"/>
                  <a:pt x="118497" y="-1272"/>
                  <a:pt x="123426" y="3710"/>
                </a:cubicBezTo>
                <a:lnTo>
                  <a:pt x="170803" y="51087"/>
                </a:lnTo>
                <a:lnTo>
                  <a:pt x="199951" y="21940"/>
                </a:lnTo>
                <a:cubicBezTo>
                  <a:pt x="206575" y="15316"/>
                  <a:pt x="217333" y="15316"/>
                  <a:pt x="223958" y="21940"/>
                </a:cubicBezTo>
                <a:lnTo>
                  <a:pt x="249395" y="47378"/>
                </a:lnTo>
                <a:cubicBezTo>
                  <a:pt x="256020" y="54002"/>
                  <a:pt x="256020" y="64760"/>
                  <a:pt x="249395" y="71385"/>
                </a:cubicBezTo>
                <a:lnTo>
                  <a:pt x="220248" y="100532"/>
                </a:lnTo>
                <a:lnTo>
                  <a:pt x="267626" y="147910"/>
                </a:lnTo>
                <a:cubicBezTo>
                  <a:pt x="272607" y="152891"/>
                  <a:pt x="272607" y="160946"/>
                  <a:pt x="267626" y="165875"/>
                </a:cubicBezTo>
                <a:lnTo>
                  <a:pt x="216750" y="216750"/>
                </a:lnTo>
                <a:cubicBezTo>
                  <a:pt x="211769" y="221732"/>
                  <a:pt x="203713" y="221732"/>
                  <a:pt x="198785" y="216750"/>
                </a:cubicBezTo>
                <a:lnTo>
                  <a:pt x="151407" y="169373"/>
                </a:lnTo>
                <a:lnTo>
                  <a:pt x="143193" y="177587"/>
                </a:lnTo>
                <a:cubicBezTo>
                  <a:pt x="149234" y="190624"/>
                  <a:pt x="152626" y="205144"/>
                  <a:pt x="152626" y="220460"/>
                </a:cubicBezTo>
                <a:cubicBezTo>
                  <a:pt x="152626" y="237259"/>
                  <a:pt x="148545" y="253052"/>
                  <a:pt x="141391" y="266990"/>
                </a:cubicBezTo>
                <a:cubicBezTo>
                  <a:pt x="138900" y="271759"/>
                  <a:pt x="132541" y="272448"/>
                  <a:pt x="128778" y="268633"/>
                </a:cubicBezTo>
                <a:lnTo>
                  <a:pt x="77744" y="217598"/>
                </a:lnTo>
                <a:lnTo>
                  <a:pt x="45947" y="249395"/>
                </a:lnTo>
                <a:cubicBezTo>
                  <a:pt x="39322" y="256020"/>
                  <a:pt x="28564" y="256020"/>
                  <a:pt x="21940" y="249395"/>
                </a:cubicBezTo>
                <a:cubicBezTo>
                  <a:pt x="15316" y="242771"/>
                  <a:pt x="15316" y="232013"/>
                  <a:pt x="21940" y="225388"/>
                </a:cubicBezTo>
                <a:lnTo>
                  <a:pt x="53737" y="193591"/>
                </a:lnTo>
                <a:lnTo>
                  <a:pt x="2703" y="142557"/>
                </a:lnTo>
                <a:cubicBezTo>
                  <a:pt x="-1113" y="138741"/>
                  <a:pt x="-424" y="132382"/>
                  <a:pt x="4346" y="129944"/>
                </a:cubicBezTo>
                <a:cubicBezTo>
                  <a:pt x="18283" y="122737"/>
                  <a:pt x="34129" y="118709"/>
                  <a:pt x="50875" y="118709"/>
                </a:cubicBezTo>
                <a:cubicBezTo>
                  <a:pt x="66191" y="118709"/>
                  <a:pt x="80712" y="122101"/>
                  <a:pt x="93748" y="128142"/>
                </a:cubicBezTo>
                <a:lnTo>
                  <a:pt x="101963" y="119928"/>
                </a:lnTo>
                <a:lnTo>
                  <a:pt x="54585" y="72603"/>
                </a:lnTo>
                <a:cubicBezTo>
                  <a:pt x="49603" y="67622"/>
                  <a:pt x="49603" y="59567"/>
                  <a:pt x="54585" y="54638"/>
                </a:cubicBezTo>
                <a:lnTo>
                  <a:pt x="105460" y="3710"/>
                </a:lnTo>
                <a:close/>
                <a:moveTo>
                  <a:pt x="114470" y="30684"/>
                </a:moveTo>
                <a:lnTo>
                  <a:pt x="81560" y="63594"/>
                </a:lnTo>
                <a:lnTo>
                  <a:pt x="119928" y="101963"/>
                </a:lnTo>
                <a:lnTo>
                  <a:pt x="152838" y="69053"/>
                </a:lnTo>
                <a:lnTo>
                  <a:pt x="114470" y="30684"/>
                </a:lnTo>
                <a:close/>
                <a:moveTo>
                  <a:pt x="207741" y="189776"/>
                </a:moveTo>
                <a:lnTo>
                  <a:pt x="240651" y="156866"/>
                </a:lnTo>
                <a:lnTo>
                  <a:pt x="202283" y="118497"/>
                </a:lnTo>
                <a:lnTo>
                  <a:pt x="169373" y="151407"/>
                </a:lnTo>
                <a:lnTo>
                  <a:pt x="207741" y="18977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026552" y="1483300"/>
            <a:ext cx="303895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Satellite-Derived PM2.5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6552" y="1772611"/>
            <a:ext cx="3002777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1998 — 2023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8849" y="2134392"/>
            <a:ext cx="5318172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comprehensive dataset provides </a:t>
            </a:r>
            <a:r>
              <a:rPr lang="en-US" sz="1139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years of pollution data </a:t>
            </a:r>
            <a:r>
              <a:rPr lang="en-US" sz="1139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from satellite observations, enabling robust analysis of long-term trends across global regions.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780" y="3165466"/>
            <a:ext cx="5643774" cy="3585472"/>
          </a:xfrm>
          <a:custGeom>
            <a:avLst/>
            <a:gdLst/>
            <a:ahLst/>
            <a:cxnLst/>
            <a:rect l="l" t="t" r="r" b="b"/>
            <a:pathLst>
              <a:path w="5643774" h="3585472">
                <a:moveTo>
                  <a:pt x="72364" y="0"/>
                </a:moveTo>
                <a:lnTo>
                  <a:pt x="5571410" y="0"/>
                </a:lnTo>
                <a:cubicBezTo>
                  <a:pt x="5611376" y="0"/>
                  <a:pt x="5643774" y="31479"/>
                  <a:pt x="5643774" y="70311"/>
                </a:cubicBezTo>
                <a:lnTo>
                  <a:pt x="5643774" y="3515161"/>
                </a:lnTo>
                <a:cubicBezTo>
                  <a:pt x="5643774" y="3553992"/>
                  <a:pt x="5611376" y="3585472"/>
                  <a:pt x="5571410" y="3585472"/>
                </a:cubicBezTo>
                <a:lnTo>
                  <a:pt x="72364" y="3585472"/>
                </a:lnTo>
                <a:cubicBezTo>
                  <a:pt x="32398" y="3585472"/>
                  <a:pt x="0" y="3553992"/>
                  <a:pt x="0" y="3515161"/>
                </a:cubicBezTo>
                <a:lnTo>
                  <a:pt x="0" y="70311"/>
                </a:lnTo>
                <a:cubicBezTo>
                  <a:pt x="0" y="31479"/>
                  <a:pt x="32398" y="0"/>
                  <a:pt x="7236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5282" y="3391579"/>
            <a:ext cx="162801" cy="162801"/>
          </a:xfrm>
          <a:custGeom>
            <a:avLst/>
            <a:gdLst/>
            <a:ahLst/>
            <a:cxnLst/>
            <a:rect l="l" t="t" r="r" b="b"/>
            <a:pathLst>
              <a:path w="162801" h="162801">
                <a:moveTo>
                  <a:pt x="15263" y="45788"/>
                </a:moveTo>
                <a:cubicBezTo>
                  <a:pt x="23686" y="45788"/>
                  <a:pt x="30525" y="38949"/>
                  <a:pt x="30525" y="30525"/>
                </a:cubicBezTo>
                <a:cubicBezTo>
                  <a:pt x="30525" y="22102"/>
                  <a:pt x="23686" y="15263"/>
                  <a:pt x="15263" y="15263"/>
                </a:cubicBezTo>
                <a:cubicBezTo>
                  <a:pt x="6839" y="15263"/>
                  <a:pt x="0" y="22102"/>
                  <a:pt x="0" y="30525"/>
                </a:cubicBezTo>
                <a:cubicBezTo>
                  <a:pt x="0" y="38949"/>
                  <a:pt x="6839" y="45788"/>
                  <a:pt x="15263" y="45788"/>
                </a:cubicBezTo>
                <a:close/>
                <a:moveTo>
                  <a:pt x="61050" y="20350"/>
                </a:moveTo>
                <a:cubicBezTo>
                  <a:pt x="55422" y="20350"/>
                  <a:pt x="50875" y="24897"/>
                  <a:pt x="50875" y="30525"/>
                </a:cubicBezTo>
                <a:cubicBezTo>
                  <a:pt x="50875" y="36153"/>
                  <a:pt x="55422" y="40700"/>
                  <a:pt x="61050" y="40700"/>
                </a:cubicBezTo>
                <a:lnTo>
                  <a:pt x="152626" y="40700"/>
                </a:lnTo>
                <a:cubicBezTo>
                  <a:pt x="158254" y="40700"/>
                  <a:pt x="162801" y="36153"/>
                  <a:pt x="162801" y="30525"/>
                </a:cubicBezTo>
                <a:cubicBezTo>
                  <a:pt x="162801" y="24897"/>
                  <a:pt x="158254" y="20350"/>
                  <a:pt x="152626" y="20350"/>
                </a:cubicBezTo>
                <a:lnTo>
                  <a:pt x="61050" y="20350"/>
                </a:lnTo>
                <a:close/>
                <a:moveTo>
                  <a:pt x="61050" y="71226"/>
                </a:moveTo>
                <a:cubicBezTo>
                  <a:pt x="55422" y="71226"/>
                  <a:pt x="50875" y="75773"/>
                  <a:pt x="50875" y="81401"/>
                </a:cubicBezTo>
                <a:cubicBezTo>
                  <a:pt x="50875" y="87029"/>
                  <a:pt x="55422" y="91576"/>
                  <a:pt x="61050" y="91576"/>
                </a:cubicBezTo>
                <a:lnTo>
                  <a:pt x="152626" y="91576"/>
                </a:lnTo>
                <a:cubicBezTo>
                  <a:pt x="158254" y="91576"/>
                  <a:pt x="162801" y="87029"/>
                  <a:pt x="162801" y="81401"/>
                </a:cubicBezTo>
                <a:cubicBezTo>
                  <a:pt x="162801" y="75773"/>
                  <a:pt x="158254" y="71226"/>
                  <a:pt x="152626" y="71226"/>
                </a:cubicBezTo>
                <a:lnTo>
                  <a:pt x="61050" y="71226"/>
                </a:lnTo>
                <a:close/>
                <a:moveTo>
                  <a:pt x="61050" y="122101"/>
                </a:moveTo>
                <a:cubicBezTo>
                  <a:pt x="55422" y="122101"/>
                  <a:pt x="50875" y="126648"/>
                  <a:pt x="50875" y="132276"/>
                </a:cubicBezTo>
                <a:cubicBezTo>
                  <a:pt x="50875" y="137904"/>
                  <a:pt x="55422" y="142451"/>
                  <a:pt x="61050" y="142451"/>
                </a:cubicBezTo>
                <a:lnTo>
                  <a:pt x="152626" y="142451"/>
                </a:lnTo>
                <a:cubicBezTo>
                  <a:pt x="158254" y="142451"/>
                  <a:pt x="162801" y="137904"/>
                  <a:pt x="162801" y="132276"/>
                </a:cubicBezTo>
                <a:cubicBezTo>
                  <a:pt x="162801" y="126648"/>
                  <a:pt x="158254" y="122101"/>
                  <a:pt x="152626" y="122101"/>
                </a:cubicBezTo>
                <a:lnTo>
                  <a:pt x="61050" y="122101"/>
                </a:lnTo>
                <a:close/>
                <a:moveTo>
                  <a:pt x="15263" y="147539"/>
                </a:moveTo>
                <a:cubicBezTo>
                  <a:pt x="23686" y="147539"/>
                  <a:pt x="30525" y="140700"/>
                  <a:pt x="30525" y="132276"/>
                </a:cubicBezTo>
                <a:cubicBezTo>
                  <a:pt x="30525" y="123852"/>
                  <a:pt x="23686" y="117013"/>
                  <a:pt x="15263" y="117013"/>
                </a:cubicBezTo>
                <a:cubicBezTo>
                  <a:pt x="6839" y="117013"/>
                  <a:pt x="0" y="123852"/>
                  <a:pt x="0" y="132276"/>
                </a:cubicBezTo>
                <a:cubicBezTo>
                  <a:pt x="0" y="140700"/>
                  <a:pt x="6839" y="147539"/>
                  <a:pt x="15263" y="147539"/>
                </a:cubicBezTo>
                <a:close/>
                <a:moveTo>
                  <a:pt x="30525" y="81401"/>
                </a:moveTo>
                <a:cubicBezTo>
                  <a:pt x="30525" y="72977"/>
                  <a:pt x="23686" y="66138"/>
                  <a:pt x="15263" y="66138"/>
                </a:cubicBezTo>
                <a:cubicBezTo>
                  <a:pt x="6839" y="66138"/>
                  <a:pt x="0" y="72977"/>
                  <a:pt x="0" y="81401"/>
                </a:cubicBezTo>
                <a:cubicBezTo>
                  <a:pt x="0" y="89824"/>
                  <a:pt x="6839" y="96663"/>
                  <a:pt x="15263" y="96663"/>
                </a:cubicBezTo>
                <a:cubicBezTo>
                  <a:pt x="23686" y="96663"/>
                  <a:pt x="30525" y="89824"/>
                  <a:pt x="30525" y="8140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750694" y="3346356"/>
            <a:ext cx="5155371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Attributes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671" y="3744315"/>
            <a:ext cx="5281994" cy="397958"/>
          </a:xfrm>
          <a:custGeom>
            <a:avLst/>
            <a:gdLst/>
            <a:ahLst/>
            <a:cxnLst/>
            <a:rect l="l" t="t" r="r" b="b"/>
            <a:pathLst>
              <a:path w="5281994" h="397958">
                <a:moveTo>
                  <a:pt x="36178" y="0"/>
                </a:moveTo>
                <a:lnTo>
                  <a:pt x="5245816" y="0"/>
                </a:lnTo>
                <a:cubicBezTo>
                  <a:pt x="5265796" y="0"/>
                  <a:pt x="5281994" y="16198"/>
                  <a:pt x="5281994" y="36178"/>
                </a:cubicBezTo>
                <a:lnTo>
                  <a:pt x="5281994" y="361780"/>
                </a:lnTo>
                <a:cubicBezTo>
                  <a:pt x="5281994" y="381761"/>
                  <a:pt x="5265796" y="397958"/>
                  <a:pt x="5245816" y="397958"/>
                </a:cubicBezTo>
                <a:lnTo>
                  <a:pt x="36178" y="397958"/>
                </a:lnTo>
                <a:cubicBezTo>
                  <a:pt x="16198" y="397958"/>
                  <a:pt x="0" y="381761"/>
                  <a:pt x="0" y="36178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9294" y="3870938"/>
            <a:ext cx="108534" cy="144712"/>
          </a:xfrm>
          <a:custGeom>
            <a:avLst/>
            <a:gdLst/>
            <a:ahLst/>
            <a:cxnLst/>
            <a:rect l="l" t="t" r="r" b="b"/>
            <a:pathLst>
              <a:path w="108534" h="144712">
                <a:moveTo>
                  <a:pt x="0" y="53306"/>
                </a:moveTo>
                <a:cubicBezTo>
                  <a:pt x="0" y="23855"/>
                  <a:pt x="24307" y="0"/>
                  <a:pt x="54267" y="0"/>
                </a:cubicBezTo>
                <a:cubicBezTo>
                  <a:pt x="84227" y="0"/>
                  <a:pt x="108534" y="23855"/>
                  <a:pt x="108534" y="53306"/>
                </a:cubicBezTo>
                <a:cubicBezTo>
                  <a:pt x="108534" y="87025"/>
                  <a:pt x="74561" y="127443"/>
                  <a:pt x="60372" y="142847"/>
                </a:cubicBezTo>
                <a:cubicBezTo>
                  <a:pt x="57037" y="146465"/>
                  <a:pt x="51469" y="146465"/>
                  <a:pt x="48134" y="142847"/>
                </a:cubicBezTo>
                <a:cubicBezTo>
                  <a:pt x="33945" y="127443"/>
                  <a:pt x="-28" y="87025"/>
                  <a:pt x="-28" y="53306"/>
                </a:cubicBezTo>
                <a:close/>
                <a:moveTo>
                  <a:pt x="54267" y="72356"/>
                </a:moveTo>
                <a:cubicBezTo>
                  <a:pt x="64251" y="72356"/>
                  <a:pt x="72356" y="64251"/>
                  <a:pt x="72356" y="54267"/>
                </a:cubicBezTo>
                <a:cubicBezTo>
                  <a:pt x="72356" y="44283"/>
                  <a:pt x="64251" y="36178"/>
                  <a:pt x="54267" y="36178"/>
                </a:cubicBezTo>
                <a:cubicBezTo>
                  <a:pt x="44283" y="36178"/>
                  <a:pt x="36178" y="44283"/>
                  <a:pt x="36178" y="54267"/>
                </a:cubicBezTo>
                <a:cubicBezTo>
                  <a:pt x="36178" y="64251"/>
                  <a:pt x="44283" y="72356"/>
                  <a:pt x="54267" y="7235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922540" y="3834760"/>
            <a:ext cx="24058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Region:</a:t>
            </a:r>
            <a:r>
              <a:rPr lang="en-US" sz="113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Geographic location identifier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671" y="4250807"/>
            <a:ext cx="5281994" cy="397958"/>
          </a:xfrm>
          <a:custGeom>
            <a:avLst/>
            <a:gdLst/>
            <a:ahLst/>
            <a:cxnLst/>
            <a:rect l="l" t="t" r="r" b="b"/>
            <a:pathLst>
              <a:path w="5281994" h="397958">
                <a:moveTo>
                  <a:pt x="36178" y="0"/>
                </a:moveTo>
                <a:lnTo>
                  <a:pt x="5245816" y="0"/>
                </a:lnTo>
                <a:cubicBezTo>
                  <a:pt x="5265796" y="0"/>
                  <a:pt x="5281994" y="16198"/>
                  <a:pt x="5281994" y="36178"/>
                </a:cubicBezTo>
                <a:lnTo>
                  <a:pt x="5281994" y="361780"/>
                </a:lnTo>
                <a:cubicBezTo>
                  <a:pt x="5281994" y="381761"/>
                  <a:pt x="5265796" y="397958"/>
                  <a:pt x="5245816" y="397958"/>
                </a:cubicBezTo>
                <a:lnTo>
                  <a:pt x="36178" y="397958"/>
                </a:lnTo>
                <a:cubicBezTo>
                  <a:pt x="16198" y="397958"/>
                  <a:pt x="0" y="381761"/>
                  <a:pt x="0" y="36178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0249" y="4377430"/>
            <a:ext cx="126623" cy="144712"/>
          </a:xfrm>
          <a:custGeom>
            <a:avLst/>
            <a:gdLst/>
            <a:ahLst/>
            <a:cxnLst/>
            <a:rect l="l" t="t" r="r" b="b"/>
            <a:pathLst>
              <a:path w="126623" h="144712">
                <a:moveTo>
                  <a:pt x="36178" y="0"/>
                </a:moveTo>
                <a:cubicBezTo>
                  <a:pt x="31175" y="0"/>
                  <a:pt x="27134" y="4042"/>
                  <a:pt x="27134" y="9045"/>
                </a:cubicBezTo>
                <a:lnTo>
                  <a:pt x="27134" y="18089"/>
                </a:lnTo>
                <a:lnTo>
                  <a:pt x="18089" y="18089"/>
                </a:lnTo>
                <a:cubicBezTo>
                  <a:pt x="8112" y="18089"/>
                  <a:pt x="0" y="26201"/>
                  <a:pt x="0" y="36178"/>
                </a:cubicBezTo>
                <a:lnTo>
                  <a:pt x="0" y="49745"/>
                </a:lnTo>
                <a:lnTo>
                  <a:pt x="126623" y="49745"/>
                </a:lnTo>
                <a:lnTo>
                  <a:pt x="126623" y="36178"/>
                </a:lnTo>
                <a:cubicBezTo>
                  <a:pt x="126623" y="26201"/>
                  <a:pt x="118511" y="18089"/>
                  <a:pt x="108534" y="18089"/>
                </a:cubicBezTo>
                <a:lnTo>
                  <a:pt x="99490" y="18089"/>
                </a:lnTo>
                <a:lnTo>
                  <a:pt x="99490" y="9045"/>
                </a:lnTo>
                <a:cubicBezTo>
                  <a:pt x="99490" y="4042"/>
                  <a:pt x="95448" y="0"/>
                  <a:pt x="90445" y="0"/>
                </a:cubicBezTo>
                <a:cubicBezTo>
                  <a:pt x="85442" y="0"/>
                  <a:pt x="81401" y="4042"/>
                  <a:pt x="81401" y="9045"/>
                </a:cubicBezTo>
                <a:lnTo>
                  <a:pt x="81401" y="18089"/>
                </a:lnTo>
                <a:lnTo>
                  <a:pt x="45223" y="18089"/>
                </a:lnTo>
                <a:lnTo>
                  <a:pt x="45223" y="9045"/>
                </a:lnTo>
                <a:cubicBezTo>
                  <a:pt x="45223" y="4042"/>
                  <a:pt x="41181" y="0"/>
                  <a:pt x="36178" y="0"/>
                </a:cubicBezTo>
                <a:close/>
                <a:moveTo>
                  <a:pt x="0" y="63312"/>
                </a:moveTo>
                <a:lnTo>
                  <a:pt x="0" y="117579"/>
                </a:lnTo>
                <a:cubicBezTo>
                  <a:pt x="0" y="127556"/>
                  <a:pt x="8112" y="135668"/>
                  <a:pt x="18089" y="135668"/>
                </a:cubicBezTo>
                <a:lnTo>
                  <a:pt x="108534" y="135668"/>
                </a:lnTo>
                <a:cubicBezTo>
                  <a:pt x="118511" y="135668"/>
                  <a:pt x="126623" y="127556"/>
                  <a:pt x="126623" y="117579"/>
                </a:cubicBezTo>
                <a:lnTo>
                  <a:pt x="126623" y="63312"/>
                </a:lnTo>
                <a:lnTo>
                  <a:pt x="0" y="6331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922540" y="4341252"/>
            <a:ext cx="245106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Year:</a:t>
            </a:r>
            <a:r>
              <a:rPr lang="en-US" sz="113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Temporal reference (1998-2023)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671" y="4757300"/>
            <a:ext cx="5281994" cy="397958"/>
          </a:xfrm>
          <a:custGeom>
            <a:avLst/>
            <a:gdLst/>
            <a:ahLst/>
            <a:cxnLst/>
            <a:rect l="l" t="t" r="r" b="b"/>
            <a:pathLst>
              <a:path w="5281994" h="397958">
                <a:moveTo>
                  <a:pt x="36178" y="0"/>
                </a:moveTo>
                <a:lnTo>
                  <a:pt x="5245816" y="0"/>
                </a:lnTo>
                <a:cubicBezTo>
                  <a:pt x="5265796" y="0"/>
                  <a:pt x="5281994" y="16198"/>
                  <a:pt x="5281994" y="36178"/>
                </a:cubicBezTo>
                <a:lnTo>
                  <a:pt x="5281994" y="361780"/>
                </a:lnTo>
                <a:cubicBezTo>
                  <a:pt x="5281994" y="381761"/>
                  <a:pt x="5265796" y="397958"/>
                  <a:pt x="5245816" y="397958"/>
                </a:cubicBezTo>
                <a:lnTo>
                  <a:pt x="36178" y="397958"/>
                </a:lnTo>
                <a:cubicBezTo>
                  <a:pt x="16198" y="397958"/>
                  <a:pt x="0" y="381761"/>
                  <a:pt x="0" y="36178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1205" y="4883923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63312" y="27134"/>
                </a:moveTo>
                <a:cubicBezTo>
                  <a:pt x="63312" y="22142"/>
                  <a:pt x="67364" y="18089"/>
                  <a:pt x="72356" y="18089"/>
                </a:cubicBezTo>
                <a:cubicBezTo>
                  <a:pt x="77348" y="18089"/>
                  <a:pt x="81401" y="22142"/>
                  <a:pt x="81401" y="27134"/>
                </a:cubicBezTo>
                <a:cubicBezTo>
                  <a:pt x="81401" y="32125"/>
                  <a:pt x="77348" y="36178"/>
                  <a:pt x="72356" y="36178"/>
                </a:cubicBezTo>
                <a:cubicBezTo>
                  <a:pt x="67364" y="36178"/>
                  <a:pt x="63312" y="32125"/>
                  <a:pt x="63312" y="27134"/>
                </a:cubicBezTo>
                <a:close/>
                <a:moveTo>
                  <a:pt x="97935" y="36178"/>
                </a:moveTo>
                <a:cubicBezTo>
                  <a:pt x="98924" y="33352"/>
                  <a:pt x="99490" y="30299"/>
                  <a:pt x="99490" y="27134"/>
                </a:cubicBezTo>
                <a:cubicBezTo>
                  <a:pt x="99490" y="12154"/>
                  <a:pt x="87336" y="0"/>
                  <a:pt x="72356" y="0"/>
                </a:cubicBezTo>
                <a:cubicBezTo>
                  <a:pt x="57376" y="0"/>
                  <a:pt x="45223" y="12154"/>
                  <a:pt x="45223" y="27134"/>
                </a:cubicBezTo>
                <a:cubicBezTo>
                  <a:pt x="45223" y="30299"/>
                  <a:pt x="45760" y="33352"/>
                  <a:pt x="46777" y="36178"/>
                </a:cubicBezTo>
                <a:lnTo>
                  <a:pt x="40616" y="36178"/>
                </a:lnTo>
                <a:cubicBezTo>
                  <a:pt x="32617" y="36178"/>
                  <a:pt x="25579" y="41407"/>
                  <a:pt x="23290" y="49066"/>
                </a:cubicBezTo>
                <a:lnTo>
                  <a:pt x="678" y="124419"/>
                </a:lnTo>
                <a:cubicBezTo>
                  <a:pt x="226" y="125888"/>
                  <a:pt x="0" y="127415"/>
                  <a:pt x="0" y="128941"/>
                </a:cubicBezTo>
                <a:cubicBezTo>
                  <a:pt x="0" y="137646"/>
                  <a:pt x="7066" y="144712"/>
                  <a:pt x="15771" y="144712"/>
                </a:cubicBezTo>
                <a:lnTo>
                  <a:pt x="128941" y="144712"/>
                </a:lnTo>
                <a:cubicBezTo>
                  <a:pt x="137646" y="144712"/>
                  <a:pt x="144712" y="137646"/>
                  <a:pt x="144712" y="128941"/>
                </a:cubicBezTo>
                <a:cubicBezTo>
                  <a:pt x="144712" y="127415"/>
                  <a:pt x="144486" y="125888"/>
                  <a:pt x="144034" y="124419"/>
                </a:cubicBezTo>
                <a:lnTo>
                  <a:pt x="121423" y="49095"/>
                </a:lnTo>
                <a:cubicBezTo>
                  <a:pt x="119133" y="41435"/>
                  <a:pt x="112095" y="36206"/>
                  <a:pt x="104097" y="36206"/>
                </a:cubicBezTo>
                <a:lnTo>
                  <a:pt x="97935" y="3620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922540" y="4847745"/>
            <a:ext cx="283997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Population-Weighted PM2.5:</a:t>
            </a:r>
            <a:r>
              <a:rPr lang="en-US" sz="113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 variable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2671" y="5263792"/>
            <a:ext cx="5281994" cy="397958"/>
          </a:xfrm>
          <a:custGeom>
            <a:avLst/>
            <a:gdLst/>
            <a:ahLst/>
            <a:cxnLst/>
            <a:rect l="l" t="t" r="r" b="b"/>
            <a:pathLst>
              <a:path w="5281994" h="397958">
                <a:moveTo>
                  <a:pt x="36178" y="0"/>
                </a:moveTo>
                <a:lnTo>
                  <a:pt x="5245816" y="0"/>
                </a:lnTo>
                <a:cubicBezTo>
                  <a:pt x="5265796" y="0"/>
                  <a:pt x="5281994" y="16198"/>
                  <a:pt x="5281994" y="36178"/>
                </a:cubicBezTo>
                <a:lnTo>
                  <a:pt x="5281994" y="361780"/>
                </a:lnTo>
                <a:cubicBezTo>
                  <a:pt x="5281994" y="381761"/>
                  <a:pt x="5265796" y="397958"/>
                  <a:pt x="5245816" y="397958"/>
                </a:cubicBezTo>
                <a:lnTo>
                  <a:pt x="36178" y="397958"/>
                </a:lnTo>
                <a:cubicBezTo>
                  <a:pt x="16198" y="397958"/>
                  <a:pt x="0" y="381761"/>
                  <a:pt x="0" y="36178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1205" y="5390416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99461" y="79139"/>
                </a:moveTo>
                <a:lnTo>
                  <a:pt x="45505" y="79139"/>
                </a:lnTo>
                <a:cubicBezTo>
                  <a:pt x="46325" y="97370"/>
                  <a:pt x="50367" y="114159"/>
                  <a:pt x="56104" y="126454"/>
                </a:cubicBezTo>
                <a:cubicBezTo>
                  <a:pt x="59326" y="133378"/>
                  <a:pt x="62803" y="138268"/>
                  <a:pt x="66025" y="141264"/>
                </a:cubicBezTo>
                <a:cubicBezTo>
                  <a:pt x="69191" y="144232"/>
                  <a:pt x="71367" y="144712"/>
                  <a:pt x="72497" y="144712"/>
                </a:cubicBezTo>
                <a:cubicBezTo>
                  <a:pt x="73628" y="144712"/>
                  <a:pt x="75804" y="144232"/>
                  <a:pt x="78970" y="141264"/>
                </a:cubicBezTo>
                <a:cubicBezTo>
                  <a:pt x="82192" y="138268"/>
                  <a:pt x="85668" y="133350"/>
                  <a:pt x="88891" y="126454"/>
                </a:cubicBezTo>
                <a:cubicBezTo>
                  <a:pt x="94628" y="114159"/>
                  <a:pt x="98670" y="97370"/>
                  <a:pt x="99490" y="79139"/>
                </a:cubicBezTo>
                <a:close/>
                <a:moveTo>
                  <a:pt x="45477" y="65573"/>
                </a:moveTo>
                <a:lnTo>
                  <a:pt x="99433" y="65573"/>
                </a:lnTo>
                <a:cubicBezTo>
                  <a:pt x="98642" y="47342"/>
                  <a:pt x="94600" y="30553"/>
                  <a:pt x="88862" y="18259"/>
                </a:cubicBezTo>
                <a:cubicBezTo>
                  <a:pt x="85640" y="11362"/>
                  <a:pt x="82164" y="6444"/>
                  <a:pt x="78942" y="3448"/>
                </a:cubicBezTo>
                <a:cubicBezTo>
                  <a:pt x="75776" y="480"/>
                  <a:pt x="73600" y="0"/>
                  <a:pt x="72469" y="0"/>
                </a:cubicBezTo>
                <a:cubicBezTo>
                  <a:pt x="71339" y="0"/>
                  <a:pt x="69162" y="480"/>
                  <a:pt x="65997" y="3448"/>
                </a:cubicBezTo>
                <a:cubicBezTo>
                  <a:pt x="62775" y="6444"/>
                  <a:pt x="59298" y="11362"/>
                  <a:pt x="56076" y="18259"/>
                </a:cubicBezTo>
                <a:cubicBezTo>
                  <a:pt x="50338" y="30553"/>
                  <a:pt x="46297" y="47342"/>
                  <a:pt x="45477" y="65573"/>
                </a:cubicBezTo>
                <a:close/>
                <a:moveTo>
                  <a:pt x="31910" y="65573"/>
                </a:moveTo>
                <a:cubicBezTo>
                  <a:pt x="32899" y="41379"/>
                  <a:pt x="39146" y="18909"/>
                  <a:pt x="48275" y="4155"/>
                </a:cubicBezTo>
                <a:cubicBezTo>
                  <a:pt x="22244" y="13369"/>
                  <a:pt x="3081" y="37082"/>
                  <a:pt x="424" y="65573"/>
                </a:cubicBezTo>
                <a:lnTo>
                  <a:pt x="31910" y="65573"/>
                </a:lnTo>
                <a:close/>
                <a:moveTo>
                  <a:pt x="424" y="79139"/>
                </a:moveTo>
                <a:cubicBezTo>
                  <a:pt x="3081" y="107630"/>
                  <a:pt x="22244" y="131343"/>
                  <a:pt x="48275" y="140557"/>
                </a:cubicBezTo>
                <a:cubicBezTo>
                  <a:pt x="39146" y="125803"/>
                  <a:pt x="32899" y="103334"/>
                  <a:pt x="31910" y="79139"/>
                </a:cubicBezTo>
                <a:lnTo>
                  <a:pt x="424" y="79139"/>
                </a:lnTo>
                <a:close/>
                <a:moveTo>
                  <a:pt x="113028" y="79139"/>
                </a:moveTo>
                <a:cubicBezTo>
                  <a:pt x="112039" y="103334"/>
                  <a:pt x="105793" y="125803"/>
                  <a:pt x="96663" y="140557"/>
                </a:cubicBezTo>
                <a:cubicBezTo>
                  <a:pt x="122694" y="131315"/>
                  <a:pt x="141857" y="107630"/>
                  <a:pt x="144514" y="79139"/>
                </a:cubicBezTo>
                <a:lnTo>
                  <a:pt x="113028" y="79139"/>
                </a:lnTo>
                <a:close/>
                <a:moveTo>
                  <a:pt x="144514" y="65573"/>
                </a:moveTo>
                <a:cubicBezTo>
                  <a:pt x="141857" y="37082"/>
                  <a:pt x="122694" y="13369"/>
                  <a:pt x="96663" y="4155"/>
                </a:cubicBezTo>
                <a:cubicBezTo>
                  <a:pt x="105793" y="18909"/>
                  <a:pt x="112039" y="41379"/>
                  <a:pt x="113028" y="65573"/>
                </a:cubicBezTo>
                <a:lnTo>
                  <a:pt x="144514" y="6557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922540" y="5354238"/>
            <a:ext cx="2722398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Mean PM2.5:</a:t>
            </a:r>
            <a:r>
              <a:rPr lang="en-US" sz="113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Regional average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2671" y="5770285"/>
            <a:ext cx="5281994" cy="397958"/>
          </a:xfrm>
          <a:custGeom>
            <a:avLst/>
            <a:gdLst/>
            <a:ahLst/>
            <a:cxnLst/>
            <a:rect l="l" t="t" r="r" b="b"/>
            <a:pathLst>
              <a:path w="5281994" h="397958">
                <a:moveTo>
                  <a:pt x="36178" y="0"/>
                </a:moveTo>
                <a:lnTo>
                  <a:pt x="5245816" y="0"/>
                </a:lnTo>
                <a:cubicBezTo>
                  <a:pt x="5265796" y="0"/>
                  <a:pt x="5281994" y="16198"/>
                  <a:pt x="5281994" y="36178"/>
                </a:cubicBezTo>
                <a:lnTo>
                  <a:pt x="5281994" y="361780"/>
                </a:lnTo>
                <a:cubicBezTo>
                  <a:pt x="5281994" y="381761"/>
                  <a:pt x="5265796" y="397958"/>
                  <a:pt x="5245816" y="397958"/>
                </a:cubicBezTo>
                <a:lnTo>
                  <a:pt x="36178" y="397958"/>
                </a:lnTo>
                <a:cubicBezTo>
                  <a:pt x="16198" y="397958"/>
                  <a:pt x="0" y="381761"/>
                  <a:pt x="0" y="36178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3116" y="5896908"/>
            <a:ext cx="180890" cy="144712"/>
          </a:xfrm>
          <a:custGeom>
            <a:avLst/>
            <a:gdLst/>
            <a:ahLst/>
            <a:cxnLst/>
            <a:rect l="l" t="t" r="r" b="b"/>
            <a:pathLst>
              <a:path w="180890" h="144712">
                <a:moveTo>
                  <a:pt x="90445" y="4522"/>
                </a:moveTo>
                <a:cubicBezTo>
                  <a:pt x="106668" y="4522"/>
                  <a:pt x="119840" y="17694"/>
                  <a:pt x="119840" y="33917"/>
                </a:cubicBezTo>
                <a:cubicBezTo>
                  <a:pt x="119840" y="50140"/>
                  <a:pt x="106668" y="63312"/>
                  <a:pt x="90445" y="63312"/>
                </a:cubicBezTo>
                <a:cubicBezTo>
                  <a:pt x="74222" y="63312"/>
                  <a:pt x="61050" y="50140"/>
                  <a:pt x="61050" y="33917"/>
                </a:cubicBezTo>
                <a:cubicBezTo>
                  <a:pt x="61050" y="17694"/>
                  <a:pt x="74222" y="4522"/>
                  <a:pt x="90445" y="4522"/>
                </a:cubicBezTo>
                <a:close/>
                <a:moveTo>
                  <a:pt x="27134" y="24872"/>
                </a:moveTo>
                <a:cubicBezTo>
                  <a:pt x="38365" y="24872"/>
                  <a:pt x="47484" y="33991"/>
                  <a:pt x="47484" y="45223"/>
                </a:cubicBezTo>
                <a:cubicBezTo>
                  <a:pt x="47484" y="56454"/>
                  <a:pt x="38365" y="65573"/>
                  <a:pt x="27134" y="65573"/>
                </a:cubicBezTo>
                <a:cubicBezTo>
                  <a:pt x="15902" y="65573"/>
                  <a:pt x="6783" y="56454"/>
                  <a:pt x="6783" y="45223"/>
                </a:cubicBezTo>
                <a:cubicBezTo>
                  <a:pt x="6783" y="33991"/>
                  <a:pt x="15902" y="24872"/>
                  <a:pt x="27134" y="24872"/>
                </a:cubicBezTo>
                <a:close/>
                <a:moveTo>
                  <a:pt x="0" y="117579"/>
                </a:moveTo>
                <a:cubicBezTo>
                  <a:pt x="0" y="97596"/>
                  <a:pt x="16195" y="81401"/>
                  <a:pt x="36178" y="81401"/>
                </a:cubicBezTo>
                <a:cubicBezTo>
                  <a:pt x="39796" y="81401"/>
                  <a:pt x="43301" y="81938"/>
                  <a:pt x="46607" y="82927"/>
                </a:cubicBezTo>
                <a:cubicBezTo>
                  <a:pt x="37309" y="93328"/>
                  <a:pt x="31656" y="107064"/>
                  <a:pt x="31656" y="122101"/>
                </a:cubicBezTo>
                <a:lnTo>
                  <a:pt x="31656" y="126623"/>
                </a:lnTo>
                <a:cubicBezTo>
                  <a:pt x="31656" y="129845"/>
                  <a:pt x="32334" y="132898"/>
                  <a:pt x="33549" y="135668"/>
                </a:cubicBezTo>
                <a:lnTo>
                  <a:pt x="9045" y="135668"/>
                </a:lnTo>
                <a:cubicBezTo>
                  <a:pt x="4042" y="135668"/>
                  <a:pt x="0" y="131626"/>
                  <a:pt x="0" y="126623"/>
                </a:cubicBezTo>
                <a:lnTo>
                  <a:pt x="0" y="117579"/>
                </a:lnTo>
                <a:close/>
                <a:moveTo>
                  <a:pt x="147341" y="135668"/>
                </a:moveTo>
                <a:cubicBezTo>
                  <a:pt x="148556" y="132898"/>
                  <a:pt x="149234" y="129845"/>
                  <a:pt x="149234" y="126623"/>
                </a:cubicBezTo>
                <a:lnTo>
                  <a:pt x="149234" y="122101"/>
                </a:lnTo>
                <a:cubicBezTo>
                  <a:pt x="149234" y="107064"/>
                  <a:pt x="143582" y="93328"/>
                  <a:pt x="134283" y="82927"/>
                </a:cubicBezTo>
                <a:cubicBezTo>
                  <a:pt x="137590" y="81938"/>
                  <a:pt x="141094" y="81401"/>
                  <a:pt x="144712" y="81401"/>
                </a:cubicBezTo>
                <a:cubicBezTo>
                  <a:pt x="164695" y="81401"/>
                  <a:pt x="180890" y="97596"/>
                  <a:pt x="180890" y="117579"/>
                </a:cubicBezTo>
                <a:lnTo>
                  <a:pt x="180890" y="126623"/>
                </a:lnTo>
                <a:cubicBezTo>
                  <a:pt x="180890" y="131626"/>
                  <a:pt x="176848" y="135668"/>
                  <a:pt x="171846" y="135668"/>
                </a:cubicBezTo>
                <a:lnTo>
                  <a:pt x="147341" y="135668"/>
                </a:lnTo>
                <a:close/>
                <a:moveTo>
                  <a:pt x="133407" y="45223"/>
                </a:moveTo>
                <a:cubicBezTo>
                  <a:pt x="133407" y="33991"/>
                  <a:pt x="142525" y="24872"/>
                  <a:pt x="153757" y="24872"/>
                </a:cubicBezTo>
                <a:cubicBezTo>
                  <a:pt x="164988" y="24872"/>
                  <a:pt x="174107" y="33991"/>
                  <a:pt x="174107" y="45223"/>
                </a:cubicBezTo>
                <a:cubicBezTo>
                  <a:pt x="174107" y="56454"/>
                  <a:pt x="164988" y="65573"/>
                  <a:pt x="153757" y="65573"/>
                </a:cubicBezTo>
                <a:cubicBezTo>
                  <a:pt x="142525" y="65573"/>
                  <a:pt x="133407" y="56454"/>
                  <a:pt x="133407" y="45223"/>
                </a:cubicBezTo>
                <a:close/>
                <a:moveTo>
                  <a:pt x="45223" y="122101"/>
                </a:moveTo>
                <a:cubicBezTo>
                  <a:pt x="45223" y="97115"/>
                  <a:pt x="65460" y="76878"/>
                  <a:pt x="90445" y="76878"/>
                </a:cubicBezTo>
                <a:cubicBezTo>
                  <a:pt x="115431" y="76878"/>
                  <a:pt x="135668" y="97115"/>
                  <a:pt x="135668" y="122101"/>
                </a:cubicBezTo>
                <a:lnTo>
                  <a:pt x="135668" y="126623"/>
                </a:lnTo>
                <a:cubicBezTo>
                  <a:pt x="135668" y="131626"/>
                  <a:pt x="131626" y="135668"/>
                  <a:pt x="126623" y="135668"/>
                </a:cubicBezTo>
                <a:lnTo>
                  <a:pt x="54267" y="135668"/>
                </a:lnTo>
                <a:cubicBezTo>
                  <a:pt x="49264" y="135668"/>
                  <a:pt x="45223" y="131626"/>
                  <a:pt x="45223" y="126623"/>
                </a:cubicBezTo>
                <a:lnTo>
                  <a:pt x="45223" y="12210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922540" y="5860730"/>
            <a:ext cx="316557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Population Exposure Indicators:</a:t>
            </a:r>
            <a:r>
              <a:rPr lang="en-US" sz="113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Exposure metrics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2671" y="6276778"/>
            <a:ext cx="5281994" cy="397958"/>
          </a:xfrm>
          <a:custGeom>
            <a:avLst/>
            <a:gdLst/>
            <a:ahLst/>
            <a:cxnLst/>
            <a:rect l="l" t="t" r="r" b="b"/>
            <a:pathLst>
              <a:path w="5281994" h="397958">
                <a:moveTo>
                  <a:pt x="36178" y="0"/>
                </a:moveTo>
                <a:lnTo>
                  <a:pt x="5245816" y="0"/>
                </a:lnTo>
                <a:cubicBezTo>
                  <a:pt x="5265796" y="0"/>
                  <a:pt x="5281994" y="16198"/>
                  <a:pt x="5281994" y="36178"/>
                </a:cubicBezTo>
                <a:lnTo>
                  <a:pt x="5281994" y="361780"/>
                </a:lnTo>
                <a:cubicBezTo>
                  <a:pt x="5281994" y="381761"/>
                  <a:pt x="5265796" y="397958"/>
                  <a:pt x="5245816" y="397958"/>
                </a:cubicBezTo>
                <a:lnTo>
                  <a:pt x="36178" y="397958"/>
                </a:lnTo>
                <a:cubicBezTo>
                  <a:pt x="16198" y="397958"/>
                  <a:pt x="0" y="381761"/>
                  <a:pt x="0" y="361780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2160" y="6403401"/>
            <a:ext cx="162801" cy="144712"/>
          </a:xfrm>
          <a:custGeom>
            <a:avLst/>
            <a:gdLst/>
            <a:ahLst/>
            <a:cxnLst/>
            <a:rect l="l" t="t" r="r" b="b"/>
            <a:pathLst>
              <a:path w="162801" h="144712">
                <a:moveTo>
                  <a:pt x="18089" y="36178"/>
                </a:moveTo>
                <a:cubicBezTo>
                  <a:pt x="18089" y="18707"/>
                  <a:pt x="32274" y="4522"/>
                  <a:pt x="49745" y="4522"/>
                </a:cubicBezTo>
                <a:cubicBezTo>
                  <a:pt x="67216" y="4522"/>
                  <a:pt x="81401" y="18707"/>
                  <a:pt x="81401" y="36178"/>
                </a:cubicBezTo>
                <a:cubicBezTo>
                  <a:pt x="81401" y="53649"/>
                  <a:pt x="67216" y="67834"/>
                  <a:pt x="49745" y="67834"/>
                </a:cubicBezTo>
                <a:cubicBezTo>
                  <a:pt x="32274" y="67834"/>
                  <a:pt x="18089" y="53649"/>
                  <a:pt x="18089" y="36178"/>
                </a:cubicBezTo>
                <a:close/>
                <a:moveTo>
                  <a:pt x="0" y="131145"/>
                </a:moveTo>
                <a:cubicBezTo>
                  <a:pt x="0" y="103673"/>
                  <a:pt x="22272" y="81401"/>
                  <a:pt x="49745" y="81401"/>
                </a:cubicBezTo>
                <a:cubicBezTo>
                  <a:pt x="77218" y="81401"/>
                  <a:pt x="99490" y="103673"/>
                  <a:pt x="99490" y="131145"/>
                </a:cubicBezTo>
                <a:lnTo>
                  <a:pt x="99490" y="132841"/>
                </a:lnTo>
                <a:cubicBezTo>
                  <a:pt x="99490" y="139399"/>
                  <a:pt x="94176" y="144712"/>
                  <a:pt x="87619" y="144712"/>
                </a:cubicBezTo>
                <a:lnTo>
                  <a:pt x="11871" y="144712"/>
                </a:lnTo>
                <a:cubicBezTo>
                  <a:pt x="5314" y="144712"/>
                  <a:pt x="0" y="139399"/>
                  <a:pt x="0" y="132841"/>
                </a:cubicBezTo>
                <a:lnTo>
                  <a:pt x="0" y="131145"/>
                </a:lnTo>
                <a:close/>
                <a:moveTo>
                  <a:pt x="122101" y="18089"/>
                </a:moveTo>
                <a:cubicBezTo>
                  <a:pt x="137076" y="18089"/>
                  <a:pt x="149234" y="30247"/>
                  <a:pt x="149234" y="45223"/>
                </a:cubicBezTo>
                <a:cubicBezTo>
                  <a:pt x="149234" y="60198"/>
                  <a:pt x="137076" y="72356"/>
                  <a:pt x="122101" y="72356"/>
                </a:cubicBezTo>
                <a:cubicBezTo>
                  <a:pt x="107125" y="72356"/>
                  <a:pt x="94967" y="60198"/>
                  <a:pt x="94967" y="45223"/>
                </a:cubicBezTo>
                <a:cubicBezTo>
                  <a:pt x="94967" y="30247"/>
                  <a:pt x="107125" y="18089"/>
                  <a:pt x="122101" y="18089"/>
                </a:cubicBezTo>
                <a:close/>
                <a:moveTo>
                  <a:pt x="122101" y="85923"/>
                </a:moveTo>
                <a:cubicBezTo>
                  <a:pt x="144571" y="85923"/>
                  <a:pt x="162801" y="104153"/>
                  <a:pt x="162801" y="126623"/>
                </a:cubicBezTo>
                <a:lnTo>
                  <a:pt x="162801" y="132954"/>
                </a:lnTo>
                <a:cubicBezTo>
                  <a:pt x="162801" y="139455"/>
                  <a:pt x="157544" y="144712"/>
                  <a:pt x="151043" y="144712"/>
                </a:cubicBezTo>
                <a:lnTo>
                  <a:pt x="110117" y="144712"/>
                </a:lnTo>
                <a:cubicBezTo>
                  <a:pt x="111982" y="141179"/>
                  <a:pt x="113056" y="137137"/>
                  <a:pt x="113056" y="132841"/>
                </a:cubicBezTo>
                <a:lnTo>
                  <a:pt x="113056" y="131145"/>
                </a:lnTo>
                <a:cubicBezTo>
                  <a:pt x="113056" y="116589"/>
                  <a:pt x="108138" y="103192"/>
                  <a:pt x="99914" y="92508"/>
                </a:cubicBezTo>
                <a:cubicBezTo>
                  <a:pt x="106301" y="88354"/>
                  <a:pt x="113933" y="85923"/>
                  <a:pt x="122101" y="8592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922540" y="6367223"/>
            <a:ext cx="230635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Population:</a:t>
            </a:r>
            <a:r>
              <a:rPr lang="en-US" sz="1139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Demographic data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0755" y="1309646"/>
            <a:ext cx="5577312" cy="4464258"/>
          </a:xfrm>
          <a:custGeom>
            <a:avLst/>
            <a:gdLst/>
            <a:ahLst/>
            <a:cxnLst/>
            <a:rect l="l" t="t" r="r" b="b"/>
            <a:pathLst>
              <a:path w="5632921" h="4464258">
                <a:moveTo>
                  <a:pt x="72354" y="0"/>
                </a:moveTo>
                <a:lnTo>
                  <a:pt x="5560567" y="0"/>
                </a:lnTo>
                <a:cubicBezTo>
                  <a:pt x="5600501" y="0"/>
                  <a:pt x="5632921" y="30786"/>
                  <a:pt x="5632921" y="68705"/>
                </a:cubicBezTo>
                <a:lnTo>
                  <a:pt x="5632921" y="4395553"/>
                </a:lnTo>
                <a:cubicBezTo>
                  <a:pt x="5632921" y="4433497"/>
                  <a:pt x="5600527" y="4464258"/>
                  <a:pt x="5560567" y="4464258"/>
                </a:cubicBezTo>
                <a:lnTo>
                  <a:pt x="72354" y="4464258"/>
                </a:lnTo>
                <a:cubicBezTo>
                  <a:pt x="32421" y="4464258"/>
                  <a:pt x="0" y="4433472"/>
                  <a:pt x="0" y="4395553"/>
                </a:cubicBezTo>
                <a:lnTo>
                  <a:pt x="0" y="68705"/>
                </a:lnTo>
                <a:cubicBezTo>
                  <a:pt x="0" y="30786"/>
                  <a:pt x="32421" y="0"/>
                  <a:pt x="72354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6191646" y="1309646"/>
            <a:ext cx="5625685" cy="401576"/>
          </a:xfrm>
          <a:custGeom>
            <a:avLst/>
            <a:gdLst/>
            <a:ahLst/>
            <a:cxnLst/>
            <a:rect l="l" t="t" r="r" b="b"/>
            <a:pathLst>
              <a:path w="5625685" h="401576">
                <a:moveTo>
                  <a:pt x="0" y="0"/>
                </a:moveTo>
                <a:lnTo>
                  <a:pt x="5625685" y="0"/>
                </a:lnTo>
                <a:lnTo>
                  <a:pt x="5625685" y="401576"/>
                </a:lnTo>
                <a:lnTo>
                  <a:pt x="0" y="40157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91646" y="1711222"/>
            <a:ext cx="5625685" cy="7236"/>
          </a:xfrm>
          <a:custGeom>
            <a:avLst/>
            <a:gdLst/>
            <a:ahLst/>
            <a:cxnLst/>
            <a:rect l="l" t="t" r="r" b="b"/>
            <a:pathLst>
              <a:path w="5625685" h="7236">
                <a:moveTo>
                  <a:pt x="0" y="0"/>
                </a:moveTo>
                <a:lnTo>
                  <a:pt x="5625685" y="0"/>
                </a:lnTo>
                <a:lnTo>
                  <a:pt x="5625685" y="7236"/>
                </a:lnTo>
                <a:lnTo>
                  <a:pt x="0" y="723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36358" y="1418180"/>
            <a:ext cx="687383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df.head()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294332" y="1463402"/>
            <a:ext cx="90445" cy="90445"/>
          </a:xfrm>
          <a:custGeom>
            <a:avLst/>
            <a:gdLst/>
            <a:ahLst/>
            <a:cxnLst/>
            <a:rect l="l" t="t" r="r" b="b"/>
            <a:pathLst>
              <a:path w="90445" h="90445">
                <a:moveTo>
                  <a:pt x="45223" y="0"/>
                </a:moveTo>
                <a:lnTo>
                  <a:pt x="45223" y="0"/>
                </a:lnTo>
                <a:cubicBezTo>
                  <a:pt x="70182" y="0"/>
                  <a:pt x="90445" y="20264"/>
                  <a:pt x="90445" y="45223"/>
                </a:cubicBezTo>
                <a:lnTo>
                  <a:pt x="90445" y="45223"/>
                </a:lnTo>
                <a:cubicBezTo>
                  <a:pt x="90445" y="70182"/>
                  <a:pt x="70182" y="90445"/>
                  <a:pt x="45223" y="90445"/>
                </a:cubicBezTo>
                <a:lnTo>
                  <a:pt x="45223" y="90445"/>
                </a:lnTo>
                <a:cubicBezTo>
                  <a:pt x="20264" y="90445"/>
                  <a:pt x="0" y="70182"/>
                  <a:pt x="0" y="45223"/>
                </a:cubicBezTo>
                <a:lnTo>
                  <a:pt x="0" y="45223"/>
                </a:lnTo>
                <a:cubicBezTo>
                  <a:pt x="0" y="20264"/>
                  <a:pt x="20264" y="0"/>
                  <a:pt x="45223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39045" y="1463402"/>
            <a:ext cx="90445" cy="90445"/>
          </a:xfrm>
          <a:custGeom>
            <a:avLst/>
            <a:gdLst/>
            <a:ahLst/>
            <a:cxnLst/>
            <a:rect l="l" t="t" r="r" b="b"/>
            <a:pathLst>
              <a:path w="90445" h="90445">
                <a:moveTo>
                  <a:pt x="45223" y="0"/>
                </a:moveTo>
                <a:lnTo>
                  <a:pt x="45223" y="0"/>
                </a:lnTo>
                <a:cubicBezTo>
                  <a:pt x="70182" y="0"/>
                  <a:pt x="90445" y="20264"/>
                  <a:pt x="90445" y="45223"/>
                </a:cubicBezTo>
                <a:lnTo>
                  <a:pt x="90445" y="45223"/>
                </a:lnTo>
                <a:cubicBezTo>
                  <a:pt x="90445" y="70182"/>
                  <a:pt x="70182" y="90445"/>
                  <a:pt x="45223" y="90445"/>
                </a:cubicBezTo>
                <a:lnTo>
                  <a:pt x="45223" y="90445"/>
                </a:lnTo>
                <a:cubicBezTo>
                  <a:pt x="20264" y="90445"/>
                  <a:pt x="0" y="70182"/>
                  <a:pt x="0" y="45223"/>
                </a:cubicBezTo>
                <a:lnTo>
                  <a:pt x="0" y="45223"/>
                </a:lnTo>
                <a:cubicBezTo>
                  <a:pt x="0" y="20264"/>
                  <a:pt x="20264" y="0"/>
                  <a:pt x="45223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83757" y="1463402"/>
            <a:ext cx="90445" cy="90445"/>
          </a:xfrm>
          <a:custGeom>
            <a:avLst/>
            <a:gdLst/>
            <a:ahLst/>
            <a:cxnLst/>
            <a:rect l="l" t="t" r="r" b="b"/>
            <a:pathLst>
              <a:path w="90445" h="90445">
                <a:moveTo>
                  <a:pt x="45223" y="0"/>
                </a:moveTo>
                <a:lnTo>
                  <a:pt x="45223" y="0"/>
                </a:lnTo>
                <a:cubicBezTo>
                  <a:pt x="70182" y="0"/>
                  <a:pt x="90445" y="20264"/>
                  <a:pt x="90445" y="45223"/>
                </a:cubicBezTo>
                <a:lnTo>
                  <a:pt x="90445" y="45223"/>
                </a:lnTo>
                <a:cubicBezTo>
                  <a:pt x="90445" y="70182"/>
                  <a:pt x="70182" y="90445"/>
                  <a:pt x="45223" y="90445"/>
                </a:cubicBezTo>
                <a:lnTo>
                  <a:pt x="45223" y="90445"/>
                </a:lnTo>
                <a:cubicBezTo>
                  <a:pt x="20264" y="90445"/>
                  <a:pt x="0" y="70182"/>
                  <a:pt x="0" y="45223"/>
                </a:cubicBezTo>
                <a:lnTo>
                  <a:pt x="0" y="45223"/>
                </a:lnTo>
                <a:cubicBezTo>
                  <a:pt x="0" y="20264"/>
                  <a:pt x="20264" y="0"/>
                  <a:pt x="45223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6" name="Text 54"/>
          <p:cNvSpPr/>
          <p:nvPr/>
        </p:nvSpPr>
        <p:spPr>
          <a:xfrm>
            <a:off x="11476675" y="7216075"/>
            <a:ext cx="75973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1999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188028" y="5929017"/>
            <a:ext cx="1798049" cy="694618"/>
          </a:xfrm>
          <a:custGeom>
            <a:avLst/>
            <a:gdLst/>
            <a:ahLst/>
            <a:cxnLst/>
            <a:rect l="l" t="t" r="r" b="b"/>
            <a:pathLst>
              <a:path w="1798049" h="694618">
                <a:moveTo>
                  <a:pt x="72358" y="0"/>
                </a:moveTo>
                <a:lnTo>
                  <a:pt x="1725690" y="0"/>
                </a:lnTo>
                <a:cubicBezTo>
                  <a:pt x="1765653" y="0"/>
                  <a:pt x="1798049" y="32396"/>
                  <a:pt x="1798049" y="72358"/>
                </a:cubicBezTo>
                <a:lnTo>
                  <a:pt x="1798049" y="622260"/>
                </a:lnTo>
                <a:cubicBezTo>
                  <a:pt x="1798049" y="662222"/>
                  <a:pt x="1765653" y="694618"/>
                  <a:pt x="1725690" y="694618"/>
                </a:cubicBezTo>
                <a:lnTo>
                  <a:pt x="72358" y="694618"/>
                </a:lnTo>
                <a:cubicBezTo>
                  <a:pt x="32423" y="694618"/>
                  <a:pt x="0" y="662196"/>
                  <a:pt x="0" y="622260"/>
                </a:cubicBezTo>
                <a:lnTo>
                  <a:pt x="0" y="72358"/>
                </a:lnTo>
                <a:cubicBezTo>
                  <a:pt x="0" y="32423"/>
                  <a:pt x="32423" y="0"/>
                  <a:pt x="7235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73046" y="6003069"/>
            <a:ext cx="1628012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Span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245913" y="6158444"/>
            <a:ext cx="168227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 Years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104786" y="5954417"/>
            <a:ext cx="1798049" cy="694618"/>
          </a:xfrm>
          <a:custGeom>
            <a:avLst/>
            <a:gdLst/>
            <a:ahLst/>
            <a:cxnLst/>
            <a:rect l="l" t="t" r="r" b="b"/>
            <a:pathLst>
              <a:path w="1798049" h="694618">
                <a:moveTo>
                  <a:pt x="72358" y="0"/>
                </a:moveTo>
                <a:lnTo>
                  <a:pt x="1725690" y="0"/>
                </a:lnTo>
                <a:cubicBezTo>
                  <a:pt x="1765653" y="0"/>
                  <a:pt x="1798049" y="32396"/>
                  <a:pt x="1798049" y="72358"/>
                </a:cubicBezTo>
                <a:lnTo>
                  <a:pt x="1798049" y="622260"/>
                </a:lnTo>
                <a:cubicBezTo>
                  <a:pt x="1798049" y="662222"/>
                  <a:pt x="1765653" y="694618"/>
                  <a:pt x="1725690" y="694618"/>
                </a:cubicBezTo>
                <a:lnTo>
                  <a:pt x="72358" y="694618"/>
                </a:lnTo>
                <a:cubicBezTo>
                  <a:pt x="32423" y="694618"/>
                  <a:pt x="0" y="662196"/>
                  <a:pt x="0" y="622260"/>
                </a:cubicBezTo>
                <a:lnTo>
                  <a:pt x="0" y="72358"/>
                </a:lnTo>
                <a:cubicBezTo>
                  <a:pt x="0" y="32423"/>
                  <a:pt x="32423" y="0"/>
                  <a:pt x="7235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04786" y="5954417"/>
            <a:ext cx="1798049" cy="6946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189804" y="6003069"/>
            <a:ext cx="1628012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Coverage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162671" y="6183844"/>
            <a:ext cx="168227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200+ Regions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10021544" y="5954417"/>
            <a:ext cx="1798049" cy="694618"/>
          </a:xfrm>
          <a:custGeom>
            <a:avLst/>
            <a:gdLst/>
            <a:ahLst/>
            <a:cxnLst/>
            <a:rect l="l" t="t" r="r" b="b"/>
            <a:pathLst>
              <a:path w="1798049" h="694618">
                <a:moveTo>
                  <a:pt x="72358" y="0"/>
                </a:moveTo>
                <a:lnTo>
                  <a:pt x="1725690" y="0"/>
                </a:lnTo>
                <a:cubicBezTo>
                  <a:pt x="1765653" y="0"/>
                  <a:pt x="1798049" y="32396"/>
                  <a:pt x="1798049" y="72358"/>
                </a:cubicBezTo>
                <a:lnTo>
                  <a:pt x="1798049" y="622260"/>
                </a:lnTo>
                <a:cubicBezTo>
                  <a:pt x="1798049" y="662222"/>
                  <a:pt x="1765653" y="694618"/>
                  <a:pt x="1725690" y="694618"/>
                </a:cubicBezTo>
                <a:lnTo>
                  <a:pt x="72358" y="694618"/>
                </a:lnTo>
                <a:cubicBezTo>
                  <a:pt x="32423" y="694618"/>
                  <a:pt x="0" y="662196"/>
                  <a:pt x="0" y="622260"/>
                </a:cubicBezTo>
                <a:lnTo>
                  <a:pt x="0" y="72358"/>
                </a:lnTo>
                <a:cubicBezTo>
                  <a:pt x="0" y="32423"/>
                  <a:pt x="32423" y="0"/>
                  <a:pt x="7235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106562" y="6003069"/>
            <a:ext cx="1628012" cy="14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10079429" y="6171144"/>
            <a:ext cx="168227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9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5,000+</a:t>
            </a:r>
            <a:endParaRPr lang="en-US" sz="1600" dirty="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C4446DD0-E678-2E43-D755-7B24DF6E1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578" y="1718459"/>
            <a:ext cx="5548129" cy="40220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129" y="373129"/>
            <a:ext cx="55969" cy="373129"/>
          </a:xfrm>
          <a:custGeom>
            <a:avLst/>
            <a:gdLst/>
            <a:ahLst/>
            <a:cxnLst/>
            <a:rect l="l" t="t" r="r" b="b"/>
            <a:pathLst>
              <a:path w="55969" h="373129">
                <a:moveTo>
                  <a:pt x="0" y="0"/>
                </a:moveTo>
                <a:lnTo>
                  <a:pt x="55969" y="0"/>
                </a:lnTo>
                <a:lnTo>
                  <a:pt x="55969" y="373129"/>
                </a:lnTo>
                <a:lnTo>
                  <a:pt x="0" y="373129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41037" y="466412"/>
            <a:ext cx="1352594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kern="0" spc="5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129" y="820884"/>
            <a:ext cx="11613650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1786" y="1343265"/>
            <a:ext cx="5606268" cy="4992274"/>
          </a:xfrm>
          <a:custGeom>
            <a:avLst/>
            <a:gdLst/>
            <a:ahLst/>
            <a:cxnLst/>
            <a:rect l="l" t="t" r="r" b="b"/>
            <a:pathLst>
              <a:path w="5606268" h="4992274">
                <a:moveTo>
                  <a:pt x="0" y="0"/>
                </a:moveTo>
                <a:lnTo>
                  <a:pt x="5531622" y="0"/>
                </a:lnTo>
                <a:cubicBezTo>
                  <a:pt x="5572848" y="0"/>
                  <a:pt x="5606268" y="30263"/>
                  <a:pt x="5606268" y="67595"/>
                </a:cubicBezTo>
                <a:lnTo>
                  <a:pt x="5606268" y="4924679"/>
                </a:lnTo>
                <a:cubicBezTo>
                  <a:pt x="5606268" y="4962010"/>
                  <a:pt x="5572848" y="4992274"/>
                  <a:pt x="5531622" y="4992274"/>
                </a:cubicBezTo>
                <a:lnTo>
                  <a:pt x="0" y="4992274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1786" y="1343265"/>
            <a:ext cx="37313" cy="4992274"/>
          </a:xfrm>
          <a:custGeom>
            <a:avLst/>
            <a:gdLst/>
            <a:ahLst/>
            <a:cxnLst/>
            <a:rect l="l" t="t" r="r" b="b"/>
            <a:pathLst>
              <a:path w="37313" h="4992274">
                <a:moveTo>
                  <a:pt x="0" y="0"/>
                </a:moveTo>
                <a:lnTo>
                  <a:pt x="37313" y="0"/>
                </a:lnTo>
                <a:lnTo>
                  <a:pt x="37313" y="4992274"/>
                </a:lnTo>
                <a:lnTo>
                  <a:pt x="0" y="4992274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97007" y="2215690"/>
            <a:ext cx="233206" cy="186565"/>
          </a:xfrm>
          <a:custGeom>
            <a:avLst/>
            <a:gdLst/>
            <a:ahLst/>
            <a:cxnLst/>
            <a:rect l="l" t="t" r="r" b="b"/>
            <a:pathLst>
              <a:path w="233206" h="186565">
                <a:moveTo>
                  <a:pt x="151547" y="76703"/>
                </a:moveTo>
                <a:cubicBezTo>
                  <a:pt x="155993" y="75500"/>
                  <a:pt x="160657" y="77614"/>
                  <a:pt x="162661" y="81731"/>
                </a:cubicBezTo>
                <a:lnTo>
                  <a:pt x="169439" y="95432"/>
                </a:lnTo>
                <a:cubicBezTo>
                  <a:pt x="173192" y="95942"/>
                  <a:pt x="176872" y="96963"/>
                  <a:pt x="180334" y="98384"/>
                </a:cubicBezTo>
                <a:lnTo>
                  <a:pt x="193087" y="89894"/>
                </a:lnTo>
                <a:cubicBezTo>
                  <a:pt x="196913" y="87343"/>
                  <a:pt x="201978" y="87853"/>
                  <a:pt x="205221" y="91096"/>
                </a:cubicBezTo>
                <a:lnTo>
                  <a:pt x="212217" y="98092"/>
                </a:lnTo>
                <a:cubicBezTo>
                  <a:pt x="215460" y="101335"/>
                  <a:pt x="215970" y="106437"/>
                  <a:pt x="213420" y="110226"/>
                </a:cubicBezTo>
                <a:lnTo>
                  <a:pt x="204930" y="122943"/>
                </a:lnTo>
                <a:cubicBezTo>
                  <a:pt x="205622" y="124656"/>
                  <a:pt x="206241" y="126441"/>
                  <a:pt x="206752" y="128300"/>
                </a:cubicBezTo>
                <a:cubicBezTo>
                  <a:pt x="207262" y="130158"/>
                  <a:pt x="207590" y="131980"/>
                  <a:pt x="207845" y="133838"/>
                </a:cubicBezTo>
                <a:lnTo>
                  <a:pt x="221582" y="140616"/>
                </a:lnTo>
                <a:cubicBezTo>
                  <a:pt x="225700" y="142656"/>
                  <a:pt x="227813" y="147320"/>
                  <a:pt x="226610" y="151730"/>
                </a:cubicBezTo>
                <a:lnTo>
                  <a:pt x="224060" y="161276"/>
                </a:lnTo>
                <a:cubicBezTo>
                  <a:pt x="222857" y="165685"/>
                  <a:pt x="218740" y="168673"/>
                  <a:pt x="214149" y="168382"/>
                </a:cubicBezTo>
                <a:lnTo>
                  <a:pt x="198844" y="167398"/>
                </a:lnTo>
                <a:cubicBezTo>
                  <a:pt x="196549" y="170350"/>
                  <a:pt x="193889" y="173082"/>
                  <a:pt x="190864" y="175414"/>
                </a:cubicBezTo>
                <a:lnTo>
                  <a:pt x="191848" y="190682"/>
                </a:lnTo>
                <a:cubicBezTo>
                  <a:pt x="192140" y="195273"/>
                  <a:pt x="189152" y="199427"/>
                  <a:pt x="184743" y="200593"/>
                </a:cubicBezTo>
                <a:lnTo>
                  <a:pt x="175196" y="203144"/>
                </a:lnTo>
                <a:cubicBezTo>
                  <a:pt x="170750" y="204347"/>
                  <a:pt x="166123" y="202233"/>
                  <a:pt x="164082" y="198116"/>
                </a:cubicBezTo>
                <a:lnTo>
                  <a:pt x="157305" y="184415"/>
                </a:lnTo>
                <a:cubicBezTo>
                  <a:pt x="153551" y="183905"/>
                  <a:pt x="149871" y="182884"/>
                  <a:pt x="146410" y="181463"/>
                </a:cubicBezTo>
                <a:lnTo>
                  <a:pt x="133656" y="189953"/>
                </a:lnTo>
                <a:cubicBezTo>
                  <a:pt x="129830" y="192504"/>
                  <a:pt x="124765" y="191994"/>
                  <a:pt x="121522" y="188751"/>
                </a:cubicBezTo>
                <a:lnTo>
                  <a:pt x="114526" y="181755"/>
                </a:lnTo>
                <a:cubicBezTo>
                  <a:pt x="111283" y="178512"/>
                  <a:pt x="110773" y="173447"/>
                  <a:pt x="113323" y="169621"/>
                </a:cubicBezTo>
                <a:lnTo>
                  <a:pt x="121814" y="156867"/>
                </a:lnTo>
                <a:cubicBezTo>
                  <a:pt x="121121" y="155155"/>
                  <a:pt x="120502" y="153369"/>
                  <a:pt x="119992" y="151511"/>
                </a:cubicBezTo>
                <a:cubicBezTo>
                  <a:pt x="119482" y="149653"/>
                  <a:pt x="119154" y="147794"/>
                  <a:pt x="118899" y="145972"/>
                </a:cubicBezTo>
                <a:lnTo>
                  <a:pt x="105161" y="139195"/>
                </a:lnTo>
                <a:cubicBezTo>
                  <a:pt x="101044" y="137154"/>
                  <a:pt x="98967" y="132490"/>
                  <a:pt x="100133" y="128081"/>
                </a:cubicBezTo>
                <a:lnTo>
                  <a:pt x="102683" y="118534"/>
                </a:lnTo>
                <a:cubicBezTo>
                  <a:pt x="103886" y="114125"/>
                  <a:pt x="108003" y="111137"/>
                  <a:pt x="112595" y="111429"/>
                </a:cubicBezTo>
                <a:lnTo>
                  <a:pt x="127862" y="112412"/>
                </a:lnTo>
                <a:cubicBezTo>
                  <a:pt x="130158" y="109461"/>
                  <a:pt x="132818" y="106728"/>
                  <a:pt x="135842" y="104396"/>
                </a:cubicBezTo>
                <a:lnTo>
                  <a:pt x="134859" y="89165"/>
                </a:lnTo>
                <a:cubicBezTo>
                  <a:pt x="134567" y="84574"/>
                  <a:pt x="137555" y="80420"/>
                  <a:pt x="141964" y="79254"/>
                </a:cubicBezTo>
                <a:lnTo>
                  <a:pt x="151511" y="76703"/>
                </a:lnTo>
                <a:close/>
                <a:moveTo>
                  <a:pt x="163390" y="123891"/>
                </a:moveTo>
                <a:cubicBezTo>
                  <a:pt x="154541" y="123901"/>
                  <a:pt x="147365" y="131093"/>
                  <a:pt x="147375" y="139942"/>
                </a:cubicBezTo>
                <a:cubicBezTo>
                  <a:pt x="147385" y="148791"/>
                  <a:pt x="154577" y="155966"/>
                  <a:pt x="163426" y="155956"/>
                </a:cubicBezTo>
                <a:cubicBezTo>
                  <a:pt x="172275" y="155946"/>
                  <a:pt x="179451" y="148754"/>
                  <a:pt x="179441" y="139905"/>
                </a:cubicBezTo>
                <a:cubicBezTo>
                  <a:pt x="179431" y="131056"/>
                  <a:pt x="172239" y="123881"/>
                  <a:pt x="163390" y="123891"/>
                </a:cubicBezTo>
                <a:close/>
                <a:moveTo>
                  <a:pt x="81950" y="-16579"/>
                </a:moveTo>
                <a:lnTo>
                  <a:pt x="91497" y="-14029"/>
                </a:lnTo>
                <a:cubicBezTo>
                  <a:pt x="95906" y="-12826"/>
                  <a:pt x="98894" y="-8672"/>
                  <a:pt x="98602" y="-4118"/>
                </a:cubicBezTo>
                <a:lnTo>
                  <a:pt x="97618" y="11114"/>
                </a:lnTo>
                <a:cubicBezTo>
                  <a:pt x="100643" y="13446"/>
                  <a:pt x="103303" y="16142"/>
                  <a:pt x="105599" y="19130"/>
                </a:cubicBezTo>
                <a:lnTo>
                  <a:pt x="120903" y="18146"/>
                </a:lnTo>
                <a:cubicBezTo>
                  <a:pt x="125457" y="17855"/>
                  <a:pt x="129611" y="20843"/>
                  <a:pt x="130814" y="25252"/>
                </a:cubicBezTo>
                <a:lnTo>
                  <a:pt x="133365" y="34799"/>
                </a:lnTo>
                <a:cubicBezTo>
                  <a:pt x="134531" y="39208"/>
                  <a:pt x="132454" y="43872"/>
                  <a:pt x="128336" y="45912"/>
                </a:cubicBezTo>
                <a:lnTo>
                  <a:pt x="114599" y="52690"/>
                </a:lnTo>
                <a:cubicBezTo>
                  <a:pt x="114344" y="54548"/>
                  <a:pt x="113979" y="56407"/>
                  <a:pt x="113506" y="58229"/>
                </a:cubicBezTo>
                <a:cubicBezTo>
                  <a:pt x="113032" y="60050"/>
                  <a:pt x="112376" y="61872"/>
                  <a:pt x="111684" y="63585"/>
                </a:cubicBezTo>
                <a:lnTo>
                  <a:pt x="120174" y="76338"/>
                </a:lnTo>
                <a:cubicBezTo>
                  <a:pt x="122725" y="80164"/>
                  <a:pt x="122214" y="85229"/>
                  <a:pt x="118971" y="88472"/>
                </a:cubicBezTo>
                <a:lnTo>
                  <a:pt x="111975" y="95469"/>
                </a:lnTo>
                <a:cubicBezTo>
                  <a:pt x="108732" y="98712"/>
                  <a:pt x="103667" y="99222"/>
                  <a:pt x="99841" y="96671"/>
                </a:cubicBezTo>
                <a:lnTo>
                  <a:pt x="87088" y="88181"/>
                </a:lnTo>
                <a:cubicBezTo>
                  <a:pt x="83626" y="89602"/>
                  <a:pt x="79946" y="90622"/>
                  <a:pt x="76193" y="91132"/>
                </a:cubicBezTo>
                <a:lnTo>
                  <a:pt x="69415" y="104833"/>
                </a:lnTo>
                <a:cubicBezTo>
                  <a:pt x="67375" y="108951"/>
                  <a:pt x="62711" y="111028"/>
                  <a:pt x="58301" y="109862"/>
                </a:cubicBezTo>
                <a:lnTo>
                  <a:pt x="48755" y="107311"/>
                </a:lnTo>
                <a:cubicBezTo>
                  <a:pt x="44309" y="106109"/>
                  <a:pt x="41358" y="101955"/>
                  <a:pt x="41649" y="97400"/>
                </a:cubicBezTo>
                <a:lnTo>
                  <a:pt x="42633" y="82132"/>
                </a:lnTo>
                <a:cubicBezTo>
                  <a:pt x="39609" y="79800"/>
                  <a:pt x="36949" y="77104"/>
                  <a:pt x="34653" y="74116"/>
                </a:cubicBezTo>
                <a:lnTo>
                  <a:pt x="19349" y="75100"/>
                </a:lnTo>
                <a:cubicBezTo>
                  <a:pt x="14794" y="75391"/>
                  <a:pt x="10640" y="72403"/>
                  <a:pt x="9438" y="67994"/>
                </a:cubicBezTo>
                <a:lnTo>
                  <a:pt x="6887" y="58447"/>
                </a:lnTo>
                <a:cubicBezTo>
                  <a:pt x="5721" y="54038"/>
                  <a:pt x="7798" y="49374"/>
                  <a:pt x="11915" y="47333"/>
                </a:cubicBezTo>
                <a:lnTo>
                  <a:pt x="25653" y="40556"/>
                </a:lnTo>
                <a:cubicBezTo>
                  <a:pt x="25908" y="38698"/>
                  <a:pt x="26272" y="36876"/>
                  <a:pt x="26746" y="35017"/>
                </a:cubicBezTo>
                <a:cubicBezTo>
                  <a:pt x="27256" y="33159"/>
                  <a:pt x="27839" y="31373"/>
                  <a:pt x="28568" y="29661"/>
                </a:cubicBezTo>
                <a:lnTo>
                  <a:pt x="20078" y="16944"/>
                </a:lnTo>
                <a:cubicBezTo>
                  <a:pt x="17527" y="13118"/>
                  <a:pt x="18037" y="8053"/>
                  <a:pt x="21280" y="4810"/>
                </a:cubicBezTo>
                <a:lnTo>
                  <a:pt x="28276" y="-2186"/>
                </a:lnTo>
                <a:cubicBezTo>
                  <a:pt x="31519" y="-5429"/>
                  <a:pt x="36584" y="-5939"/>
                  <a:pt x="40410" y="-3389"/>
                </a:cubicBezTo>
                <a:lnTo>
                  <a:pt x="53164" y="5101"/>
                </a:lnTo>
                <a:cubicBezTo>
                  <a:pt x="56625" y="3680"/>
                  <a:pt x="60306" y="2660"/>
                  <a:pt x="64059" y="2150"/>
                </a:cubicBezTo>
                <a:lnTo>
                  <a:pt x="70836" y="-11551"/>
                </a:lnTo>
                <a:cubicBezTo>
                  <a:pt x="72877" y="-15669"/>
                  <a:pt x="77504" y="-17746"/>
                  <a:pt x="81950" y="-16579"/>
                </a:cubicBezTo>
                <a:close/>
                <a:moveTo>
                  <a:pt x="70107" y="30608"/>
                </a:moveTo>
                <a:cubicBezTo>
                  <a:pt x="61259" y="30608"/>
                  <a:pt x="54075" y="37792"/>
                  <a:pt x="54075" y="46641"/>
                </a:cubicBezTo>
                <a:cubicBezTo>
                  <a:pt x="54075" y="55490"/>
                  <a:pt x="61259" y="62674"/>
                  <a:pt x="70107" y="62674"/>
                </a:cubicBezTo>
                <a:cubicBezTo>
                  <a:pt x="78956" y="62674"/>
                  <a:pt x="86140" y="55490"/>
                  <a:pt x="86140" y="46641"/>
                </a:cubicBezTo>
                <a:cubicBezTo>
                  <a:pt x="86140" y="37792"/>
                  <a:pt x="78956" y="30608"/>
                  <a:pt x="70107" y="3060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830213" y="2178377"/>
            <a:ext cx="5074559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7007" y="2588819"/>
            <a:ext cx="373129" cy="373129"/>
          </a:xfrm>
          <a:custGeom>
            <a:avLst/>
            <a:gdLst/>
            <a:ahLst/>
            <a:cxnLst/>
            <a:rect l="l" t="t" r="r" b="b"/>
            <a:pathLst>
              <a:path w="373129" h="373129">
                <a:moveTo>
                  <a:pt x="186565" y="0"/>
                </a:moveTo>
                <a:lnTo>
                  <a:pt x="186565" y="0"/>
                </a:lnTo>
                <a:cubicBezTo>
                  <a:pt x="289601" y="0"/>
                  <a:pt x="373129" y="83528"/>
                  <a:pt x="373129" y="186565"/>
                </a:cubicBezTo>
                <a:lnTo>
                  <a:pt x="373129" y="186565"/>
                </a:lnTo>
                <a:cubicBezTo>
                  <a:pt x="373129" y="289601"/>
                  <a:pt x="289601" y="373129"/>
                  <a:pt x="186565" y="373129"/>
                </a:cubicBezTo>
                <a:lnTo>
                  <a:pt x="186565" y="373129"/>
                </a:lnTo>
                <a:cubicBezTo>
                  <a:pt x="83528" y="373129"/>
                  <a:pt x="0" y="289601"/>
                  <a:pt x="0" y="186565"/>
                </a:cubicBezTo>
                <a:lnTo>
                  <a:pt x="0" y="186565"/>
                </a:lnTo>
                <a:cubicBezTo>
                  <a:pt x="0" y="83528"/>
                  <a:pt x="83528" y="0"/>
                  <a:pt x="18656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8"/>
          <p:cNvSpPr/>
          <p:nvPr/>
        </p:nvSpPr>
        <p:spPr>
          <a:xfrm>
            <a:off x="555030" y="2588819"/>
            <a:ext cx="457083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9388" y="2588819"/>
            <a:ext cx="477605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Sorting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9388" y="2887323"/>
            <a:ext cx="476672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Sorted dataset by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 and Year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maintain temporal sequence integrity for time-series analysis.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7007" y="3484329"/>
            <a:ext cx="373129" cy="373129"/>
          </a:xfrm>
          <a:custGeom>
            <a:avLst/>
            <a:gdLst/>
            <a:ahLst/>
            <a:cxnLst/>
            <a:rect l="l" t="t" r="r" b="b"/>
            <a:pathLst>
              <a:path w="373129" h="373129">
                <a:moveTo>
                  <a:pt x="186565" y="0"/>
                </a:moveTo>
                <a:lnTo>
                  <a:pt x="186565" y="0"/>
                </a:lnTo>
                <a:cubicBezTo>
                  <a:pt x="289601" y="0"/>
                  <a:pt x="373129" y="83528"/>
                  <a:pt x="373129" y="186565"/>
                </a:cubicBezTo>
                <a:lnTo>
                  <a:pt x="373129" y="186565"/>
                </a:lnTo>
                <a:cubicBezTo>
                  <a:pt x="373129" y="289601"/>
                  <a:pt x="289601" y="373129"/>
                  <a:pt x="186565" y="373129"/>
                </a:cubicBezTo>
                <a:lnTo>
                  <a:pt x="186565" y="373129"/>
                </a:lnTo>
                <a:cubicBezTo>
                  <a:pt x="83528" y="373129"/>
                  <a:pt x="0" y="289601"/>
                  <a:pt x="0" y="186565"/>
                </a:cubicBezTo>
                <a:lnTo>
                  <a:pt x="0" y="186565"/>
                </a:lnTo>
                <a:cubicBezTo>
                  <a:pt x="0" y="83528"/>
                  <a:pt x="83528" y="0"/>
                  <a:pt x="18656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555030" y="3484329"/>
            <a:ext cx="457083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9388" y="3484329"/>
            <a:ext cx="477605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Encoding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9388" y="3782833"/>
            <a:ext cx="476672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LabelEncoder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convert Region names into numerical values for ML compatibility.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7007" y="4379840"/>
            <a:ext cx="373129" cy="373129"/>
          </a:xfrm>
          <a:custGeom>
            <a:avLst/>
            <a:gdLst/>
            <a:ahLst/>
            <a:cxnLst/>
            <a:rect l="l" t="t" r="r" b="b"/>
            <a:pathLst>
              <a:path w="373129" h="373129">
                <a:moveTo>
                  <a:pt x="186565" y="0"/>
                </a:moveTo>
                <a:lnTo>
                  <a:pt x="186565" y="0"/>
                </a:lnTo>
                <a:cubicBezTo>
                  <a:pt x="289601" y="0"/>
                  <a:pt x="373129" y="83528"/>
                  <a:pt x="373129" y="186565"/>
                </a:cubicBezTo>
                <a:lnTo>
                  <a:pt x="373129" y="186565"/>
                </a:lnTo>
                <a:cubicBezTo>
                  <a:pt x="373129" y="289601"/>
                  <a:pt x="289601" y="373129"/>
                  <a:pt x="186565" y="373129"/>
                </a:cubicBezTo>
                <a:lnTo>
                  <a:pt x="186565" y="373129"/>
                </a:lnTo>
                <a:cubicBezTo>
                  <a:pt x="83528" y="373129"/>
                  <a:pt x="0" y="289601"/>
                  <a:pt x="0" y="186565"/>
                </a:cubicBezTo>
                <a:lnTo>
                  <a:pt x="0" y="186565"/>
                </a:lnTo>
                <a:cubicBezTo>
                  <a:pt x="0" y="83528"/>
                  <a:pt x="83528" y="0"/>
                  <a:pt x="18656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555030" y="4379840"/>
            <a:ext cx="457083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9388" y="4379840"/>
            <a:ext cx="477605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 Treatment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9388" y="4678343"/>
            <a:ext cx="476672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missing values to ensure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data integrity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prevent model training errors.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7007" y="5275350"/>
            <a:ext cx="373129" cy="373129"/>
          </a:xfrm>
          <a:custGeom>
            <a:avLst/>
            <a:gdLst/>
            <a:ahLst/>
            <a:cxnLst/>
            <a:rect l="l" t="t" r="r" b="b"/>
            <a:pathLst>
              <a:path w="373129" h="373129">
                <a:moveTo>
                  <a:pt x="186565" y="0"/>
                </a:moveTo>
                <a:lnTo>
                  <a:pt x="186565" y="0"/>
                </a:lnTo>
                <a:cubicBezTo>
                  <a:pt x="289601" y="0"/>
                  <a:pt x="373129" y="83528"/>
                  <a:pt x="373129" y="186565"/>
                </a:cubicBezTo>
                <a:lnTo>
                  <a:pt x="373129" y="186565"/>
                </a:lnTo>
                <a:cubicBezTo>
                  <a:pt x="373129" y="289601"/>
                  <a:pt x="289601" y="373129"/>
                  <a:pt x="186565" y="373129"/>
                </a:cubicBezTo>
                <a:lnTo>
                  <a:pt x="186565" y="373129"/>
                </a:lnTo>
                <a:cubicBezTo>
                  <a:pt x="83528" y="373129"/>
                  <a:pt x="0" y="289601"/>
                  <a:pt x="0" y="186565"/>
                </a:cubicBezTo>
                <a:lnTo>
                  <a:pt x="0" y="186565"/>
                </a:lnTo>
                <a:cubicBezTo>
                  <a:pt x="0" y="83528"/>
                  <a:pt x="83528" y="0"/>
                  <a:pt x="186565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555030" y="5275350"/>
            <a:ext cx="457083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9388" y="5275350"/>
            <a:ext cx="477605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Name Cleaning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9388" y="5573854"/>
            <a:ext cx="476672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Cleaned feature names for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compatibility </a:t>
            </a:r>
            <a:r>
              <a:rPr lang="en-US" sz="1175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removing special characters and spaces.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7650" y="1343265"/>
            <a:ext cx="5624924" cy="3031676"/>
          </a:xfrm>
          <a:custGeom>
            <a:avLst/>
            <a:gdLst/>
            <a:ahLst/>
            <a:cxnLst/>
            <a:rect l="l" t="t" r="r" b="b"/>
            <a:pathLst>
              <a:path w="5624924" h="3031676">
                <a:moveTo>
                  <a:pt x="74640" y="0"/>
                </a:moveTo>
                <a:lnTo>
                  <a:pt x="5550284" y="0"/>
                </a:lnTo>
                <a:cubicBezTo>
                  <a:pt x="5591507" y="0"/>
                  <a:pt x="5624924" y="33417"/>
                  <a:pt x="5624924" y="74640"/>
                </a:cubicBezTo>
                <a:lnTo>
                  <a:pt x="5624924" y="2957036"/>
                </a:lnTo>
                <a:cubicBezTo>
                  <a:pt x="5624924" y="2998258"/>
                  <a:pt x="5591507" y="3031676"/>
                  <a:pt x="5550284" y="3031676"/>
                </a:cubicBezTo>
                <a:lnTo>
                  <a:pt x="74640" y="3031676"/>
                </a:lnTo>
                <a:cubicBezTo>
                  <a:pt x="33417" y="3031676"/>
                  <a:pt x="0" y="2998258"/>
                  <a:pt x="0" y="2957036"/>
                </a:cubicBezTo>
                <a:lnTo>
                  <a:pt x="0" y="74640"/>
                </a:lnTo>
                <a:cubicBezTo>
                  <a:pt x="0" y="33445"/>
                  <a:pt x="33445" y="0"/>
                  <a:pt x="7464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pic>
        <p:nvPicPr>
          <p:cNvPr id="26" name="Image 0" descr="https://kimi-web-img.moonshot.cn/img/www.couchbase.com/92369ef24d70f44385be1c1794059984e6587156.png"/>
          <p:cNvPicPr>
            <a:picLocks noChangeAspect="1"/>
          </p:cNvPicPr>
          <p:nvPr/>
        </p:nvPicPr>
        <p:blipFill>
          <a:blip r:embed="rId3"/>
          <a:srcRect t="26692" b="26692"/>
          <a:stretch/>
        </p:blipFill>
        <p:spPr>
          <a:xfrm>
            <a:off x="6187650" y="1343265"/>
            <a:ext cx="5624924" cy="2089524"/>
          </a:xfrm>
          <a:prstGeom prst="roundRect">
            <a:avLst>
              <a:gd name="adj" fmla="val 2462"/>
            </a:avLst>
          </a:prstGeom>
        </p:spPr>
      </p:pic>
      <p:sp>
        <p:nvSpPr>
          <p:cNvPr id="27" name="Text 24"/>
          <p:cNvSpPr/>
          <p:nvPr/>
        </p:nvSpPr>
        <p:spPr>
          <a:xfrm>
            <a:off x="6336902" y="3582041"/>
            <a:ext cx="5382390" cy="14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PIPELINE WORKFLOW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36902" y="3805803"/>
            <a:ext cx="5391718" cy="42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8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preprocessing transforms raw data into model-ready format through systematic exploration, cleaning, transformation, feature engineering, selection, and splitting phases.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91381" y="4443572"/>
            <a:ext cx="5623059" cy="2155761"/>
          </a:xfrm>
          <a:custGeom>
            <a:avLst/>
            <a:gdLst/>
            <a:ahLst/>
            <a:cxnLst/>
            <a:rect l="l" t="t" r="r" b="b"/>
            <a:pathLst>
              <a:path w="5623059" h="2155761">
                <a:moveTo>
                  <a:pt x="74616" y="0"/>
                </a:moveTo>
                <a:lnTo>
                  <a:pt x="5548443" y="0"/>
                </a:lnTo>
                <a:cubicBezTo>
                  <a:pt x="5589652" y="0"/>
                  <a:pt x="5623059" y="31030"/>
                  <a:pt x="5623059" y="69308"/>
                </a:cubicBezTo>
                <a:lnTo>
                  <a:pt x="5623059" y="2086453"/>
                </a:lnTo>
                <a:cubicBezTo>
                  <a:pt x="5623059" y="2124730"/>
                  <a:pt x="5589652" y="2155761"/>
                  <a:pt x="5548443" y="2155761"/>
                </a:cubicBezTo>
                <a:lnTo>
                  <a:pt x="74616" y="2155761"/>
                </a:lnTo>
                <a:cubicBezTo>
                  <a:pt x="33407" y="2155761"/>
                  <a:pt x="0" y="2124730"/>
                  <a:pt x="0" y="2086453"/>
                </a:cubicBezTo>
                <a:lnTo>
                  <a:pt x="0" y="69308"/>
                </a:lnTo>
                <a:cubicBezTo>
                  <a:pt x="0" y="31056"/>
                  <a:pt x="33434" y="0"/>
                  <a:pt x="74616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63021" y="4557668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74626" y="149252"/>
                </a:moveTo>
                <a:cubicBezTo>
                  <a:pt x="115813" y="149252"/>
                  <a:pt x="149252" y="115813"/>
                  <a:pt x="149252" y="74626"/>
                </a:cubicBezTo>
                <a:cubicBezTo>
                  <a:pt x="149252" y="33439"/>
                  <a:pt x="115813" y="0"/>
                  <a:pt x="74626" y="0"/>
                </a:cubicBezTo>
                <a:cubicBezTo>
                  <a:pt x="33439" y="0"/>
                  <a:pt x="0" y="33439"/>
                  <a:pt x="0" y="74626"/>
                </a:cubicBezTo>
                <a:cubicBezTo>
                  <a:pt x="0" y="115813"/>
                  <a:pt x="33439" y="149252"/>
                  <a:pt x="74626" y="149252"/>
                </a:cubicBezTo>
                <a:close/>
                <a:moveTo>
                  <a:pt x="99229" y="62004"/>
                </a:moveTo>
                <a:lnTo>
                  <a:pt x="75908" y="99317"/>
                </a:lnTo>
                <a:cubicBezTo>
                  <a:pt x="74684" y="101270"/>
                  <a:pt x="72585" y="102494"/>
                  <a:pt x="70282" y="102611"/>
                </a:cubicBezTo>
                <a:cubicBezTo>
                  <a:pt x="67979" y="102727"/>
                  <a:pt x="65764" y="101678"/>
                  <a:pt x="64394" y="99812"/>
                </a:cubicBezTo>
                <a:lnTo>
                  <a:pt x="50402" y="81156"/>
                </a:lnTo>
                <a:cubicBezTo>
                  <a:pt x="48070" y="78066"/>
                  <a:pt x="48711" y="73693"/>
                  <a:pt x="51801" y="71361"/>
                </a:cubicBezTo>
                <a:cubicBezTo>
                  <a:pt x="54891" y="69029"/>
                  <a:pt x="59263" y="69670"/>
                  <a:pt x="61595" y="72760"/>
                </a:cubicBezTo>
                <a:lnTo>
                  <a:pt x="69466" y="83254"/>
                </a:lnTo>
                <a:lnTo>
                  <a:pt x="87365" y="54599"/>
                </a:lnTo>
                <a:cubicBezTo>
                  <a:pt x="89405" y="51334"/>
                  <a:pt x="93720" y="50314"/>
                  <a:pt x="97014" y="52384"/>
                </a:cubicBezTo>
                <a:cubicBezTo>
                  <a:pt x="100308" y="54454"/>
                  <a:pt x="101299" y="58739"/>
                  <a:pt x="99229" y="6203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8"/>
          <p:cNvSpPr/>
          <p:nvPr/>
        </p:nvSpPr>
        <p:spPr>
          <a:xfrm>
            <a:off x="6581729" y="4494956"/>
            <a:ext cx="520515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 Outcomes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44364" y="4767272"/>
            <a:ext cx="2602577" cy="783572"/>
          </a:xfrm>
          <a:custGeom>
            <a:avLst/>
            <a:gdLst/>
            <a:ahLst/>
            <a:cxnLst/>
            <a:rect l="l" t="t" r="r" b="b"/>
            <a:pathLst>
              <a:path w="2602577" h="783572">
                <a:moveTo>
                  <a:pt x="37314" y="0"/>
                </a:moveTo>
                <a:lnTo>
                  <a:pt x="2565263" y="0"/>
                </a:lnTo>
                <a:cubicBezTo>
                  <a:pt x="2585871" y="0"/>
                  <a:pt x="2602577" y="16706"/>
                  <a:pt x="2602577" y="37314"/>
                </a:cubicBezTo>
                <a:lnTo>
                  <a:pt x="2602577" y="746258"/>
                </a:lnTo>
                <a:cubicBezTo>
                  <a:pt x="2602577" y="766866"/>
                  <a:pt x="2585871" y="783572"/>
                  <a:pt x="2565263" y="783572"/>
                </a:cubicBezTo>
                <a:lnTo>
                  <a:pt x="37314" y="783572"/>
                </a:lnTo>
                <a:cubicBezTo>
                  <a:pt x="16720" y="783572"/>
                  <a:pt x="0" y="766852"/>
                  <a:pt x="0" y="746258"/>
                </a:cubicBezTo>
                <a:lnTo>
                  <a:pt x="0" y="37314"/>
                </a:lnTo>
                <a:cubicBezTo>
                  <a:pt x="0" y="16720"/>
                  <a:pt x="16720" y="0"/>
                  <a:pt x="3731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563331" y="4879211"/>
            <a:ext cx="163244" cy="186565"/>
          </a:xfrm>
          <a:custGeom>
            <a:avLst/>
            <a:gdLst/>
            <a:ahLst/>
            <a:cxnLst/>
            <a:rect l="l" t="t" r="r" b="b"/>
            <a:pathLst>
              <a:path w="163244" h="186565">
                <a:moveTo>
                  <a:pt x="163244" y="74990"/>
                </a:moveTo>
                <a:cubicBezTo>
                  <a:pt x="157851" y="78561"/>
                  <a:pt x="151657" y="81440"/>
                  <a:pt x="145207" y="83735"/>
                </a:cubicBezTo>
                <a:cubicBezTo>
                  <a:pt x="128081" y="89857"/>
                  <a:pt x="105599" y="93282"/>
                  <a:pt x="81622" y="93282"/>
                </a:cubicBezTo>
                <a:cubicBezTo>
                  <a:pt x="57646" y="93282"/>
                  <a:pt x="35127" y="89821"/>
                  <a:pt x="18037" y="83735"/>
                </a:cubicBezTo>
                <a:cubicBezTo>
                  <a:pt x="11624" y="81440"/>
                  <a:pt x="5393" y="78561"/>
                  <a:pt x="0" y="74990"/>
                </a:cubicBezTo>
                <a:lnTo>
                  <a:pt x="0" y="104943"/>
                </a:lnTo>
                <a:cubicBezTo>
                  <a:pt x="0" y="121048"/>
                  <a:pt x="36548" y="134093"/>
                  <a:pt x="81622" y="134093"/>
                </a:cubicBezTo>
                <a:cubicBezTo>
                  <a:pt x="126696" y="134093"/>
                  <a:pt x="163244" y="121048"/>
                  <a:pt x="163244" y="104943"/>
                </a:cubicBezTo>
                <a:lnTo>
                  <a:pt x="163244" y="74990"/>
                </a:lnTo>
                <a:close/>
                <a:moveTo>
                  <a:pt x="163244" y="46641"/>
                </a:moveTo>
                <a:lnTo>
                  <a:pt x="163244" y="29151"/>
                </a:lnTo>
                <a:cubicBezTo>
                  <a:pt x="163244" y="13045"/>
                  <a:pt x="126696" y="0"/>
                  <a:pt x="81622" y="0"/>
                </a:cubicBezTo>
                <a:cubicBezTo>
                  <a:pt x="36548" y="0"/>
                  <a:pt x="0" y="13045"/>
                  <a:pt x="0" y="29151"/>
                </a:cubicBezTo>
                <a:lnTo>
                  <a:pt x="0" y="46641"/>
                </a:lnTo>
                <a:cubicBezTo>
                  <a:pt x="0" y="62747"/>
                  <a:pt x="36548" y="75792"/>
                  <a:pt x="81622" y="75792"/>
                </a:cubicBezTo>
                <a:cubicBezTo>
                  <a:pt x="126696" y="75792"/>
                  <a:pt x="163244" y="62747"/>
                  <a:pt x="163244" y="46641"/>
                </a:cubicBezTo>
                <a:close/>
                <a:moveTo>
                  <a:pt x="145207" y="142037"/>
                </a:moveTo>
                <a:cubicBezTo>
                  <a:pt x="128117" y="148122"/>
                  <a:pt x="105635" y="151584"/>
                  <a:pt x="81622" y="151584"/>
                </a:cubicBezTo>
                <a:cubicBezTo>
                  <a:pt x="57609" y="151584"/>
                  <a:pt x="35127" y="148122"/>
                  <a:pt x="18037" y="142037"/>
                </a:cubicBezTo>
                <a:cubicBezTo>
                  <a:pt x="11624" y="139741"/>
                  <a:pt x="5393" y="136863"/>
                  <a:pt x="0" y="133292"/>
                </a:cubicBezTo>
                <a:lnTo>
                  <a:pt x="0" y="157414"/>
                </a:lnTo>
                <a:cubicBezTo>
                  <a:pt x="0" y="173520"/>
                  <a:pt x="36548" y="186565"/>
                  <a:pt x="81622" y="186565"/>
                </a:cubicBezTo>
                <a:cubicBezTo>
                  <a:pt x="126696" y="186565"/>
                  <a:pt x="163244" y="173520"/>
                  <a:pt x="163244" y="157414"/>
                </a:cubicBezTo>
                <a:lnTo>
                  <a:pt x="163244" y="133292"/>
                </a:lnTo>
                <a:cubicBezTo>
                  <a:pt x="157851" y="136863"/>
                  <a:pt x="151657" y="139741"/>
                  <a:pt x="145207" y="14203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1"/>
          <p:cNvSpPr/>
          <p:nvPr/>
        </p:nvSpPr>
        <p:spPr>
          <a:xfrm>
            <a:off x="6423654" y="5103088"/>
            <a:ext cx="2443997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Complete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28318" y="5289653"/>
            <a:ext cx="2434669" cy="14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missing values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057597" y="4767272"/>
            <a:ext cx="2602577" cy="783572"/>
          </a:xfrm>
          <a:custGeom>
            <a:avLst/>
            <a:gdLst/>
            <a:ahLst/>
            <a:cxnLst/>
            <a:rect l="l" t="t" r="r" b="b"/>
            <a:pathLst>
              <a:path w="2602577" h="783572">
                <a:moveTo>
                  <a:pt x="37314" y="0"/>
                </a:moveTo>
                <a:lnTo>
                  <a:pt x="2565263" y="0"/>
                </a:lnTo>
                <a:cubicBezTo>
                  <a:pt x="2585871" y="0"/>
                  <a:pt x="2602577" y="16706"/>
                  <a:pt x="2602577" y="37314"/>
                </a:cubicBezTo>
                <a:lnTo>
                  <a:pt x="2602577" y="746258"/>
                </a:lnTo>
                <a:cubicBezTo>
                  <a:pt x="2602577" y="766866"/>
                  <a:pt x="2585871" y="783572"/>
                  <a:pt x="2565263" y="783572"/>
                </a:cubicBezTo>
                <a:lnTo>
                  <a:pt x="37314" y="783572"/>
                </a:lnTo>
                <a:cubicBezTo>
                  <a:pt x="16720" y="783572"/>
                  <a:pt x="0" y="766852"/>
                  <a:pt x="0" y="746258"/>
                </a:cubicBezTo>
                <a:lnTo>
                  <a:pt x="0" y="37314"/>
                </a:lnTo>
                <a:cubicBezTo>
                  <a:pt x="0" y="16720"/>
                  <a:pt x="16720" y="0"/>
                  <a:pt x="3731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0253361" y="4879211"/>
            <a:ext cx="209885" cy="186565"/>
          </a:xfrm>
          <a:custGeom>
            <a:avLst/>
            <a:gdLst/>
            <a:ahLst/>
            <a:cxnLst/>
            <a:rect l="l" t="t" r="r" b="b"/>
            <a:pathLst>
              <a:path w="209885" h="186565">
                <a:moveTo>
                  <a:pt x="89857" y="136498"/>
                </a:moveTo>
                <a:lnTo>
                  <a:pt x="54876" y="171479"/>
                </a:lnTo>
                <a:cubicBezTo>
                  <a:pt x="50321" y="176034"/>
                  <a:pt x="42924" y="176034"/>
                  <a:pt x="38370" y="171479"/>
                </a:cubicBezTo>
                <a:lnTo>
                  <a:pt x="3389" y="136498"/>
                </a:lnTo>
                <a:cubicBezTo>
                  <a:pt x="-1166" y="131943"/>
                  <a:pt x="-1166" y="124546"/>
                  <a:pt x="3389" y="119992"/>
                </a:cubicBezTo>
                <a:cubicBezTo>
                  <a:pt x="7944" y="115437"/>
                  <a:pt x="15341" y="115437"/>
                  <a:pt x="19895" y="119992"/>
                </a:cubicBezTo>
                <a:lnTo>
                  <a:pt x="34981" y="135077"/>
                </a:lnTo>
                <a:lnTo>
                  <a:pt x="34981" y="23321"/>
                </a:lnTo>
                <a:cubicBezTo>
                  <a:pt x="34981" y="16871"/>
                  <a:pt x="40192" y="11660"/>
                  <a:pt x="46641" y="11660"/>
                </a:cubicBezTo>
                <a:cubicBezTo>
                  <a:pt x="53091" y="11660"/>
                  <a:pt x="58301" y="16871"/>
                  <a:pt x="58301" y="23321"/>
                </a:cubicBezTo>
                <a:lnTo>
                  <a:pt x="58301" y="135077"/>
                </a:lnTo>
                <a:lnTo>
                  <a:pt x="73387" y="119992"/>
                </a:lnTo>
                <a:cubicBezTo>
                  <a:pt x="77942" y="115437"/>
                  <a:pt x="85339" y="115437"/>
                  <a:pt x="89894" y="119992"/>
                </a:cubicBezTo>
                <a:cubicBezTo>
                  <a:pt x="94448" y="124546"/>
                  <a:pt x="94448" y="131943"/>
                  <a:pt x="89894" y="136498"/>
                </a:cubicBezTo>
                <a:close/>
                <a:moveTo>
                  <a:pt x="116603" y="174904"/>
                </a:moveTo>
                <a:cubicBezTo>
                  <a:pt x="110153" y="174904"/>
                  <a:pt x="104943" y="169694"/>
                  <a:pt x="104943" y="163244"/>
                </a:cubicBezTo>
                <a:cubicBezTo>
                  <a:pt x="104943" y="156794"/>
                  <a:pt x="110153" y="151584"/>
                  <a:pt x="116603" y="151584"/>
                </a:cubicBezTo>
                <a:lnTo>
                  <a:pt x="128263" y="151584"/>
                </a:lnTo>
                <a:cubicBezTo>
                  <a:pt x="134713" y="151584"/>
                  <a:pt x="139923" y="156794"/>
                  <a:pt x="139923" y="163244"/>
                </a:cubicBezTo>
                <a:cubicBezTo>
                  <a:pt x="139923" y="169694"/>
                  <a:pt x="134713" y="174904"/>
                  <a:pt x="128263" y="174904"/>
                </a:cubicBezTo>
                <a:lnTo>
                  <a:pt x="116603" y="174904"/>
                </a:lnTo>
                <a:close/>
                <a:moveTo>
                  <a:pt x="116603" y="128263"/>
                </a:moveTo>
                <a:cubicBezTo>
                  <a:pt x="110153" y="128263"/>
                  <a:pt x="104943" y="123053"/>
                  <a:pt x="104943" y="116603"/>
                </a:cubicBezTo>
                <a:cubicBezTo>
                  <a:pt x="104943" y="110153"/>
                  <a:pt x="110153" y="104943"/>
                  <a:pt x="116603" y="104943"/>
                </a:cubicBezTo>
                <a:lnTo>
                  <a:pt x="151584" y="104943"/>
                </a:lnTo>
                <a:cubicBezTo>
                  <a:pt x="158033" y="104943"/>
                  <a:pt x="163244" y="110153"/>
                  <a:pt x="163244" y="116603"/>
                </a:cubicBezTo>
                <a:cubicBezTo>
                  <a:pt x="163244" y="123053"/>
                  <a:pt x="158033" y="128263"/>
                  <a:pt x="151584" y="128263"/>
                </a:cubicBezTo>
                <a:lnTo>
                  <a:pt x="116603" y="128263"/>
                </a:lnTo>
                <a:close/>
                <a:moveTo>
                  <a:pt x="116603" y="81622"/>
                </a:moveTo>
                <a:cubicBezTo>
                  <a:pt x="110153" y="81622"/>
                  <a:pt x="104943" y="76411"/>
                  <a:pt x="104943" y="69962"/>
                </a:cubicBezTo>
                <a:cubicBezTo>
                  <a:pt x="104943" y="63512"/>
                  <a:pt x="110153" y="58301"/>
                  <a:pt x="116603" y="58301"/>
                </a:cubicBezTo>
                <a:lnTo>
                  <a:pt x="174904" y="58301"/>
                </a:lnTo>
                <a:cubicBezTo>
                  <a:pt x="181354" y="58301"/>
                  <a:pt x="186565" y="63512"/>
                  <a:pt x="186565" y="69962"/>
                </a:cubicBezTo>
                <a:cubicBezTo>
                  <a:pt x="186565" y="76411"/>
                  <a:pt x="181354" y="81622"/>
                  <a:pt x="174904" y="81622"/>
                </a:cubicBezTo>
                <a:lnTo>
                  <a:pt x="116603" y="81622"/>
                </a:lnTo>
                <a:close/>
                <a:moveTo>
                  <a:pt x="116603" y="34981"/>
                </a:moveTo>
                <a:cubicBezTo>
                  <a:pt x="110153" y="34981"/>
                  <a:pt x="104943" y="29770"/>
                  <a:pt x="104943" y="23321"/>
                </a:cubicBezTo>
                <a:cubicBezTo>
                  <a:pt x="104943" y="16871"/>
                  <a:pt x="110153" y="11660"/>
                  <a:pt x="116603" y="11660"/>
                </a:cubicBezTo>
                <a:lnTo>
                  <a:pt x="198225" y="11660"/>
                </a:lnTo>
                <a:cubicBezTo>
                  <a:pt x="204675" y="11660"/>
                  <a:pt x="209885" y="16871"/>
                  <a:pt x="209885" y="23321"/>
                </a:cubicBezTo>
                <a:cubicBezTo>
                  <a:pt x="209885" y="29770"/>
                  <a:pt x="204675" y="34981"/>
                  <a:pt x="198225" y="34981"/>
                </a:cubicBezTo>
                <a:lnTo>
                  <a:pt x="116603" y="3498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5"/>
          <p:cNvSpPr/>
          <p:nvPr/>
        </p:nvSpPr>
        <p:spPr>
          <a:xfrm>
            <a:off x="9136887" y="5103088"/>
            <a:ext cx="2443997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Properly Sorted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141551" y="5289653"/>
            <a:ext cx="2434669" cy="14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sequence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44364" y="5662666"/>
            <a:ext cx="2602577" cy="783572"/>
          </a:xfrm>
          <a:custGeom>
            <a:avLst/>
            <a:gdLst/>
            <a:ahLst/>
            <a:cxnLst/>
            <a:rect l="l" t="t" r="r" b="b"/>
            <a:pathLst>
              <a:path w="2602577" h="783572">
                <a:moveTo>
                  <a:pt x="37314" y="0"/>
                </a:moveTo>
                <a:lnTo>
                  <a:pt x="2565263" y="0"/>
                </a:lnTo>
                <a:cubicBezTo>
                  <a:pt x="2585871" y="0"/>
                  <a:pt x="2602577" y="16706"/>
                  <a:pt x="2602577" y="37314"/>
                </a:cubicBezTo>
                <a:lnTo>
                  <a:pt x="2602577" y="746258"/>
                </a:lnTo>
                <a:cubicBezTo>
                  <a:pt x="2602577" y="766866"/>
                  <a:pt x="2585871" y="783572"/>
                  <a:pt x="2565263" y="783572"/>
                </a:cubicBezTo>
                <a:lnTo>
                  <a:pt x="37314" y="783572"/>
                </a:lnTo>
                <a:cubicBezTo>
                  <a:pt x="16720" y="783572"/>
                  <a:pt x="0" y="766852"/>
                  <a:pt x="0" y="746258"/>
                </a:cubicBezTo>
                <a:lnTo>
                  <a:pt x="0" y="37314"/>
                </a:lnTo>
                <a:cubicBezTo>
                  <a:pt x="0" y="16720"/>
                  <a:pt x="16720" y="0"/>
                  <a:pt x="3731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540010" y="5774605"/>
            <a:ext cx="209885" cy="186565"/>
          </a:xfrm>
          <a:custGeom>
            <a:avLst/>
            <a:gdLst/>
            <a:ahLst/>
            <a:cxnLst/>
            <a:rect l="l" t="t" r="r" b="b"/>
            <a:pathLst>
              <a:path w="209885" h="186565">
                <a:moveTo>
                  <a:pt x="131470" y="437"/>
                </a:moveTo>
                <a:cubicBezTo>
                  <a:pt x="125275" y="-1348"/>
                  <a:pt x="118826" y="2259"/>
                  <a:pt x="117040" y="8454"/>
                </a:cubicBezTo>
                <a:lnTo>
                  <a:pt x="70399" y="171698"/>
                </a:lnTo>
                <a:cubicBezTo>
                  <a:pt x="68614" y="177892"/>
                  <a:pt x="72221" y="184342"/>
                  <a:pt x="78415" y="186127"/>
                </a:cubicBezTo>
                <a:cubicBezTo>
                  <a:pt x="84610" y="187913"/>
                  <a:pt x="91060" y="184305"/>
                  <a:pt x="92845" y="178111"/>
                </a:cubicBezTo>
                <a:lnTo>
                  <a:pt x="139486" y="14867"/>
                </a:lnTo>
                <a:cubicBezTo>
                  <a:pt x="141272" y="8672"/>
                  <a:pt x="137664" y="2223"/>
                  <a:pt x="131470" y="437"/>
                </a:cubicBezTo>
                <a:close/>
                <a:moveTo>
                  <a:pt x="155009" y="50030"/>
                </a:moveTo>
                <a:cubicBezTo>
                  <a:pt x="150454" y="54585"/>
                  <a:pt x="150454" y="61982"/>
                  <a:pt x="155009" y="66537"/>
                </a:cubicBezTo>
                <a:lnTo>
                  <a:pt x="181755" y="93282"/>
                </a:lnTo>
                <a:lnTo>
                  <a:pt x="155009" y="120028"/>
                </a:lnTo>
                <a:cubicBezTo>
                  <a:pt x="150454" y="124583"/>
                  <a:pt x="150454" y="131980"/>
                  <a:pt x="155009" y="136535"/>
                </a:cubicBezTo>
                <a:cubicBezTo>
                  <a:pt x="159564" y="141090"/>
                  <a:pt x="166961" y="141090"/>
                  <a:pt x="171516" y="136535"/>
                </a:cubicBezTo>
                <a:lnTo>
                  <a:pt x="206496" y="101554"/>
                </a:lnTo>
                <a:cubicBezTo>
                  <a:pt x="211051" y="96999"/>
                  <a:pt x="211051" y="89602"/>
                  <a:pt x="206496" y="85047"/>
                </a:cubicBezTo>
                <a:lnTo>
                  <a:pt x="171516" y="50066"/>
                </a:lnTo>
                <a:cubicBezTo>
                  <a:pt x="166961" y="45512"/>
                  <a:pt x="159564" y="45512"/>
                  <a:pt x="155009" y="50066"/>
                </a:cubicBezTo>
                <a:close/>
                <a:moveTo>
                  <a:pt x="54913" y="50030"/>
                </a:moveTo>
                <a:cubicBezTo>
                  <a:pt x="50358" y="45475"/>
                  <a:pt x="42961" y="45475"/>
                  <a:pt x="38406" y="50030"/>
                </a:cubicBezTo>
                <a:lnTo>
                  <a:pt x="3425" y="85011"/>
                </a:lnTo>
                <a:cubicBezTo>
                  <a:pt x="-1130" y="89566"/>
                  <a:pt x="-1130" y="96963"/>
                  <a:pt x="3425" y="101517"/>
                </a:cubicBezTo>
                <a:lnTo>
                  <a:pt x="38406" y="136498"/>
                </a:lnTo>
                <a:cubicBezTo>
                  <a:pt x="42961" y="141053"/>
                  <a:pt x="50358" y="141053"/>
                  <a:pt x="54913" y="136498"/>
                </a:cubicBezTo>
                <a:cubicBezTo>
                  <a:pt x="59467" y="131943"/>
                  <a:pt x="59467" y="124546"/>
                  <a:pt x="54913" y="119992"/>
                </a:cubicBezTo>
                <a:lnTo>
                  <a:pt x="28167" y="93282"/>
                </a:lnTo>
                <a:lnTo>
                  <a:pt x="54876" y="66537"/>
                </a:lnTo>
                <a:cubicBezTo>
                  <a:pt x="59431" y="61982"/>
                  <a:pt x="59431" y="54585"/>
                  <a:pt x="54876" y="5003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39"/>
          <p:cNvSpPr/>
          <p:nvPr/>
        </p:nvSpPr>
        <p:spPr>
          <a:xfrm>
            <a:off x="6423654" y="5998482"/>
            <a:ext cx="2443997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ML-Ready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28318" y="6185047"/>
            <a:ext cx="2434669" cy="14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compatible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057597" y="5662666"/>
            <a:ext cx="2602577" cy="783572"/>
          </a:xfrm>
          <a:custGeom>
            <a:avLst/>
            <a:gdLst/>
            <a:ahLst/>
            <a:cxnLst/>
            <a:rect l="l" t="t" r="r" b="b"/>
            <a:pathLst>
              <a:path w="2602577" h="783572">
                <a:moveTo>
                  <a:pt x="37314" y="0"/>
                </a:moveTo>
                <a:lnTo>
                  <a:pt x="2565263" y="0"/>
                </a:lnTo>
                <a:cubicBezTo>
                  <a:pt x="2585871" y="0"/>
                  <a:pt x="2602577" y="16706"/>
                  <a:pt x="2602577" y="37314"/>
                </a:cubicBezTo>
                <a:lnTo>
                  <a:pt x="2602577" y="746258"/>
                </a:lnTo>
                <a:cubicBezTo>
                  <a:pt x="2602577" y="766866"/>
                  <a:pt x="2585871" y="783572"/>
                  <a:pt x="2565263" y="783572"/>
                </a:cubicBezTo>
                <a:lnTo>
                  <a:pt x="37314" y="783572"/>
                </a:lnTo>
                <a:cubicBezTo>
                  <a:pt x="16720" y="783572"/>
                  <a:pt x="0" y="766852"/>
                  <a:pt x="0" y="746258"/>
                </a:cubicBezTo>
                <a:lnTo>
                  <a:pt x="0" y="37314"/>
                </a:lnTo>
                <a:cubicBezTo>
                  <a:pt x="0" y="16720"/>
                  <a:pt x="16720" y="0"/>
                  <a:pt x="3731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265021" y="5774605"/>
            <a:ext cx="186565" cy="186565"/>
          </a:xfrm>
          <a:custGeom>
            <a:avLst/>
            <a:gdLst/>
            <a:ahLst/>
            <a:cxnLst/>
            <a:rect l="l" t="t" r="r" b="b"/>
            <a:pathLst>
              <a:path w="186565" h="186565">
                <a:moveTo>
                  <a:pt x="93282" y="0"/>
                </a:moveTo>
                <a:cubicBezTo>
                  <a:pt x="94958" y="0"/>
                  <a:pt x="96635" y="364"/>
                  <a:pt x="98165" y="1057"/>
                </a:cubicBezTo>
                <a:lnTo>
                  <a:pt x="166815" y="30171"/>
                </a:lnTo>
                <a:cubicBezTo>
                  <a:pt x="174831" y="33560"/>
                  <a:pt x="180807" y="41467"/>
                  <a:pt x="180771" y="51014"/>
                </a:cubicBezTo>
                <a:cubicBezTo>
                  <a:pt x="180589" y="87161"/>
                  <a:pt x="165722" y="153296"/>
                  <a:pt x="102939" y="183358"/>
                </a:cubicBezTo>
                <a:cubicBezTo>
                  <a:pt x="96853" y="186273"/>
                  <a:pt x="89784" y="186273"/>
                  <a:pt x="83699" y="183358"/>
                </a:cubicBezTo>
                <a:cubicBezTo>
                  <a:pt x="20879" y="153296"/>
                  <a:pt x="6049" y="87161"/>
                  <a:pt x="5867" y="51014"/>
                </a:cubicBezTo>
                <a:cubicBezTo>
                  <a:pt x="5830" y="41467"/>
                  <a:pt x="11806" y="33560"/>
                  <a:pt x="19822" y="30171"/>
                </a:cubicBezTo>
                <a:lnTo>
                  <a:pt x="88436" y="1057"/>
                </a:lnTo>
                <a:cubicBezTo>
                  <a:pt x="89966" y="364"/>
                  <a:pt x="91606" y="0"/>
                  <a:pt x="93282" y="0"/>
                </a:cubicBezTo>
                <a:close/>
                <a:moveTo>
                  <a:pt x="93282" y="24341"/>
                </a:moveTo>
                <a:lnTo>
                  <a:pt x="93282" y="162114"/>
                </a:lnTo>
                <a:cubicBezTo>
                  <a:pt x="143567" y="137774"/>
                  <a:pt x="157086" y="83845"/>
                  <a:pt x="157414" y="51560"/>
                </a:cubicBezTo>
                <a:lnTo>
                  <a:pt x="93282" y="24377"/>
                </a:lnTo>
                <a:lnTo>
                  <a:pt x="93282" y="2437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3"/>
          <p:cNvSpPr/>
          <p:nvPr/>
        </p:nvSpPr>
        <p:spPr>
          <a:xfrm>
            <a:off x="9136887" y="5998482"/>
            <a:ext cx="2443997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Validated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141551" y="6185047"/>
            <a:ext cx="2434669" cy="14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677" y="366677"/>
            <a:ext cx="55002" cy="366677"/>
          </a:xfrm>
          <a:custGeom>
            <a:avLst/>
            <a:gdLst/>
            <a:ahLst/>
            <a:cxnLst/>
            <a:rect l="l" t="t" r="r" b="b"/>
            <a:pathLst>
              <a:path w="55002" h="366677">
                <a:moveTo>
                  <a:pt x="0" y="0"/>
                </a:moveTo>
                <a:lnTo>
                  <a:pt x="55002" y="0"/>
                </a:lnTo>
                <a:lnTo>
                  <a:pt x="55002" y="366677"/>
                </a:lnTo>
                <a:lnTo>
                  <a:pt x="0" y="366677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31681" y="458346"/>
            <a:ext cx="117336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kern="0" spc="5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6677" y="806689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6677" y="1210033"/>
            <a:ext cx="1154114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Capturing Temporal Pollution Patterns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011" y="1613377"/>
            <a:ext cx="6792686" cy="1411705"/>
          </a:xfrm>
          <a:custGeom>
            <a:avLst/>
            <a:gdLst/>
            <a:ahLst/>
            <a:cxnLst/>
            <a:rect l="l" t="t" r="r" b="b"/>
            <a:pathLst>
              <a:path w="6792686" h="1411705">
                <a:moveTo>
                  <a:pt x="0" y="0"/>
                </a:moveTo>
                <a:lnTo>
                  <a:pt x="6719348" y="0"/>
                </a:lnTo>
                <a:cubicBezTo>
                  <a:pt x="6759851" y="0"/>
                  <a:pt x="6792686" y="32835"/>
                  <a:pt x="6792686" y="73338"/>
                </a:cubicBezTo>
                <a:lnTo>
                  <a:pt x="6792686" y="1338367"/>
                </a:lnTo>
                <a:cubicBezTo>
                  <a:pt x="6792686" y="1378871"/>
                  <a:pt x="6759851" y="1411705"/>
                  <a:pt x="6719348" y="1411705"/>
                </a:cubicBezTo>
                <a:lnTo>
                  <a:pt x="0" y="141170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5011" y="1613377"/>
            <a:ext cx="36668" cy="1411705"/>
          </a:xfrm>
          <a:custGeom>
            <a:avLst/>
            <a:gdLst/>
            <a:ahLst/>
            <a:cxnLst/>
            <a:rect l="l" t="t" r="r" b="b"/>
            <a:pathLst>
              <a:path w="36668" h="1411705">
                <a:moveTo>
                  <a:pt x="0" y="0"/>
                </a:moveTo>
                <a:lnTo>
                  <a:pt x="36668" y="0"/>
                </a:lnTo>
                <a:lnTo>
                  <a:pt x="36668" y="1411705"/>
                </a:lnTo>
                <a:lnTo>
                  <a:pt x="0" y="141170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Shape 6"/>
          <p:cNvSpPr/>
          <p:nvPr/>
        </p:nvSpPr>
        <p:spPr>
          <a:xfrm>
            <a:off x="588974" y="1833383"/>
            <a:ext cx="206256" cy="275008"/>
          </a:xfrm>
          <a:custGeom>
            <a:avLst/>
            <a:gdLst/>
            <a:ahLst/>
            <a:cxnLst/>
            <a:rect l="l" t="t" r="r" b="b"/>
            <a:pathLst>
              <a:path w="206256" h="275008">
                <a:moveTo>
                  <a:pt x="157324" y="206256"/>
                </a:moveTo>
                <a:cubicBezTo>
                  <a:pt x="161245" y="194278"/>
                  <a:pt x="169087" y="183428"/>
                  <a:pt x="177949" y="174082"/>
                </a:cubicBezTo>
                <a:cubicBezTo>
                  <a:pt x="195513" y="155605"/>
                  <a:pt x="206256" y="130629"/>
                  <a:pt x="206256" y="103128"/>
                </a:cubicBezTo>
                <a:cubicBezTo>
                  <a:pt x="206256" y="46193"/>
                  <a:pt x="160063" y="0"/>
                  <a:pt x="103128" y="0"/>
                </a:cubicBezTo>
                <a:cubicBezTo>
                  <a:pt x="46193" y="0"/>
                  <a:pt x="0" y="46193"/>
                  <a:pt x="0" y="103128"/>
                </a:cubicBezTo>
                <a:cubicBezTo>
                  <a:pt x="0" y="130629"/>
                  <a:pt x="10742" y="155605"/>
                  <a:pt x="28306" y="174082"/>
                </a:cubicBezTo>
                <a:cubicBezTo>
                  <a:pt x="37169" y="183428"/>
                  <a:pt x="45065" y="194278"/>
                  <a:pt x="48932" y="206256"/>
                </a:cubicBezTo>
                <a:lnTo>
                  <a:pt x="157270" y="206256"/>
                </a:lnTo>
                <a:close/>
                <a:moveTo>
                  <a:pt x="154692" y="232038"/>
                </a:moveTo>
                <a:lnTo>
                  <a:pt x="51564" y="232038"/>
                </a:lnTo>
                <a:lnTo>
                  <a:pt x="51564" y="240632"/>
                </a:lnTo>
                <a:cubicBezTo>
                  <a:pt x="51564" y="264372"/>
                  <a:pt x="70793" y="283602"/>
                  <a:pt x="94534" y="283602"/>
                </a:cubicBezTo>
                <a:lnTo>
                  <a:pt x="111722" y="283602"/>
                </a:lnTo>
                <a:cubicBezTo>
                  <a:pt x="135463" y="283602"/>
                  <a:pt x="154692" y="264372"/>
                  <a:pt x="154692" y="240632"/>
                </a:cubicBezTo>
                <a:lnTo>
                  <a:pt x="154692" y="232038"/>
                </a:lnTo>
                <a:close/>
                <a:moveTo>
                  <a:pt x="98831" y="60158"/>
                </a:moveTo>
                <a:cubicBezTo>
                  <a:pt x="77453" y="60158"/>
                  <a:pt x="60158" y="77453"/>
                  <a:pt x="60158" y="98831"/>
                </a:cubicBezTo>
                <a:cubicBezTo>
                  <a:pt x="60158" y="105975"/>
                  <a:pt x="54411" y="111722"/>
                  <a:pt x="47267" y="111722"/>
                </a:cubicBezTo>
                <a:cubicBezTo>
                  <a:pt x="40123" y="111722"/>
                  <a:pt x="34376" y="105975"/>
                  <a:pt x="34376" y="98831"/>
                </a:cubicBezTo>
                <a:cubicBezTo>
                  <a:pt x="34376" y="63220"/>
                  <a:pt x="63220" y="34376"/>
                  <a:pt x="98831" y="34376"/>
                </a:cubicBezTo>
                <a:cubicBezTo>
                  <a:pt x="105975" y="34376"/>
                  <a:pt x="111722" y="40123"/>
                  <a:pt x="111722" y="47267"/>
                </a:cubicBezTo>
                <a:cubicBezTo>
                  <a:pt x="111722" y="54411"/>
                  <a:pt x="105975" y="60158"/>
                  <a:pt x="98831" y="6015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7"/>
          <p:cNvSpPr/>
          <p:nvPr/>
        </p:nvSpPr>
        <p:spPr>
          <a:xfrm>
            <a:off x="947286" y="1796716"/>
            <a:ext cx="614183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Innovation: Temporal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7286" y="2126725"/>
            <a:ext cx="6123501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capture historical pollution patterns, we engineered </a:t>
            </a:r>
            <a:r>
              <a:rPr lang="en-US" sz="1155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 features and rolling averages </a:t>
            </a:r>
            <a:r>
              <a:rPr lang="en-US" sz="1155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These temporal features enable the model to learn from past pollution trends, significantly improving prediction accuracy.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6677" y="3190087"/>
            <a:ext cx="3336758" cy="2291729"/>
          </a:xfrm>
          <a:custGeom>
            <a:avLst/>
            <a:gdLst/>
            <a:ahLst/>
            <a:cxnLst/>
            <a:rect l="l" t="t" r="r" b="b"/>
            <a:pathLst>
              <a:path w="3336758" h="2291729">
                <a:moveTo>
                  <a:pt x="36668" y="0"/>
                </a:moveTo>
                <a:lnTo>
                  <a:pt x="3300090" y="0"/>
                </a:lnTo>
                <a:cubicBezTo>
                  <a:pt x="3320341" y="0"/>
                  <a:pt x="3336758" y="16417"/>
                  <a:pt x="3336758" y="36668"/>
                </a:cubicBezTo>
                <a:lnTo>
                  <a:pt x="3336758" y="2218394"/>
                </a:lnTo>
                <a:cubicBezTo>
                  <a:pt x="3336758" y="2258869"/>
                  <a:pt x="3303897" y="2291729"/>
                  <a:pt x="3263423" y="2291729"/>
                </a:cubicBezTo>
                <a:lnTo>
                  <a:pt x="73335" y="2291729"/>
                </a:lnTo>
                <a:cubicBezTo>
                  <a:pt x="32833" y="2291729"/>
                  <a:pt x="0" y="2258896"/>
                  <a:pt x="0" y="221839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6677" y="3190087"/>
            <a:ext cx="3336758" cy="36668"/>
          </a:xfrm>
          <a:custGeom>
            <a:avLst/>
            <a:gdLst/>
            <a:ahLst/>
            <a:cxnLst/>
            <a:rect l="l" t="t" r="r" b="b"/>
            <a:pathLst>
              <a:path w="3336758" h="36668">
                <a:moveTo>
                  <a:pt x="36668" y="0"/>
                </a:moveTo>
                <a:lnTo>
                  <a:pt x="3300090" y="0"/>
                </a:lnTo>
                <a:cubicBezTo>
                  <a:pt x="3320341" y="0"/>
                  <a:pt x="3336758" y="16417"/>
                  <a:pt x="3336758" y="36668"/>
                </a:cubicBezTo>
                <a:lnTo>
                  <a:pt x="3336758" y="36668"/>
                </a:lnTo>
                <a:lnTo>
                  <a:pt x="0" y="36668"/>
                </a:ln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524806" y="3391759"/>
            <a:ext cx="206256" cy="183338"/>
          </a:xfrm>
          <a:custGeom>
            <a:avLst/>
            <a:gdLst/>
            <a:ahLst/>
            <a:cxnLst/>
            <a:rect l="l" t="t" r="r" b="b"/>
            <a:pathLst>
              <a:path w="206256" h="183338">
                <a:moveTo>
                  <a:pt x="103128" y="22917"/>
                </a:moveTo>
                <a:cubicBezTo>
                  <a:pt x="141085" y="22917"/>
                  <a:pt x="171880" y="53712"/>
                  <a:pt x="171880" y="91669"/>
                </a:cubicBezTo>
                <a:cubicBezTo>
                  <a:pt x="171880" y="129626"/>
                  <a:pt x="141085" y="160421"/>
                  <a:pt x="103128" y="160421"/>
                </a:cubicBezTo>
                <a:cubicBezTo>
                  <a:pt x="79781" y="160421"/>
                  <a:pt x="59119" y="148783"/>
                  <a:pt x="46694" y="130951"/>
                </a:cubicBezTo>
                <a:cubicBezTo>
                  <a:pt x="43077" y="125759"/>
                  <a:pt x="35916" y="124505"/>
                  <a:pt x="30723" y="128122"/>
                </a:cubicBezTo>
                <a:cubicBezTo>
                  <a:pt x="25531" y="131739"/>
                  <a:pt x="24278" y="138900"/>
                  <a:pt x="27895" y="144092"/>
                </a:cubicBezTo>
                <a:cubicBezTo>
                  <a:pt x="44438" y="167798"/>
                  <a:pt x="71975" y="183338"/>
                  <a:pt x="103128" y="183338"/>
                </a:cubicBezTo>
                <a:cubicBezTo>
                  <a:pt x="153761" y="183338"/>
                  <a:pt x="194797" y="142302"/>
                  <a:pt x="194797" y="91669"/>
                </a:cubicBezTo>
                <a:cubicBezTo>
                  <a:pt x="194797" y="41036"/>
                  <a:pt x="153761" y="0"/>
                  <a:pt x="103128" y="0"/>
                </a:cubicBezTo>
                <a:cubicBezTo>
                  <a:pt x="72440" y="0"/>
                  <a:pt x="45297" y="15075"/>
                  <a:pt x="28647" y="38207"/>
                </a:cubicBezTo>
                <a:lnTo>
                  <a:pt x="28647" y="28647"/>
                </a:lnTo>
                <a:cubicBezTo>
                  <a:pt x="28647" y="22309"/>
                  <a:pt x="23526" y="17188"/>
                  <a:pt x="17188" y="17188"/>
                </a:cubicBezTo>
                <a:cubicBezTo>
                  <a:pt x="10850" y="17188"/>
                  <a:pt x="5729" y="22309"/>
                  <a:pt x="5729" y="28647"/>
                </a:cubicBezTo>
                <a:lnTo>
                  <a:pt x="5729" y="68752"/>
                </a:lnTo>
                <a:cubicBezTo>
                  <a:pt x="5729" y="75090"/>
                  <a:pt x="10850" y="80211"/>
                  <a:pt x="17188" y="80211"/>
                </a:cubicBezTo>
                <a:lnTo>
                  <a:pt x="25997" y="80211"/>
                </a:lnTo>
                <a:cubicBezTo>
                  <a:pt x="26176" y="80211"/>
                  <a:pt x="26355" y="80211"/>
                  <a:pt x="26534" y="80211"/>
                </a:cubicBezTo>
                <a:lnTo>
                  <a:pt x="57329" y="80211"/>
                </a:lnTo>
                <a:cubicBezTo>
                  <a:pt x="63667" y="80211"/>
                  <a:pt x="68788" y="75090"/>
                  <a:pt x="68788" y="68752"/>
                </a:cubicBezTo>
                <a:cubicBezTo>
                  <a:pt x="68788" y="62414"/>
                  <a:pt x="63667" y="57293"/>
                  <a:pt x="57329" y="57293"/>
                </a:cubicBezTo>
                <a:lnTo>
                  <a:pt x="43614" y="57293"/>
                </a:lnTo>
                <a:cubicBezTo>
                  <a:pt x="55467" y="36739"/>
                  <a:pt x="77704" y="22917"/>
                  <a:pt x="103128" y="22917"/>
                </a:cubicBezTo>
                <a:close/>
                <a:moveTo>
                  <a:pt x="111722" y="54429"/>
                </a:moveTo>
                <a:cubicBezTo>
                  <a:pt x="111722" y="49666"/>
                  <a:pt x="107890" y="45835"/>
                  <a:pt x="103128" y="45835"/>
                </a:cubicBezTo>
                <a:cubicBezTo>
                  <a:pt x="98365" y="45835"/>
                  <a:pt x="94534" y="49666"/>
                  <a:pt x="94534" y="54429"/>
                </a:cubicBezTo>
                <a:lnTo>
                  <a:pt x="94534" y="91669"/>
                </a:lnTo>
                <a:cubicBezTo>
                  <a:pt x="94534" y="93961"/>
                  <a:pt x="95429" y="96145"/>
                  <a:pt x="97040" y="97757"/>
                </a:cubicBezTo>
                <a:lnTo>
                  <a:pt x="122822" y="123539"/>
                </a:lnTo>
                <a:cubicBezTo>
                  <a:pt x="126188" y="126905"/>
                  <a:pt x="131631" y="126905"/>
                  <a:pt x="134961" y="123539"/>
                </a:cubicBezTo>
                <a:cubicBezTo>
                  <a:pt x="138292" y="120173"/>
                  <a:pt x="138327" y="114730"/>
                  <a:pt x="134961" y="111400"/>
                </a:cubicBezTo>
                <a:lnTo>
                  <a:pt x="111686" y="88124"/>
                </a:lnTo>
                <a:lnTo>
                  <a:pt x="111686" y="5442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815856" y="3355092"/>
            <a:ext cx="102669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Lag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3347" y="3721768"/>
            <a:ext cx="3107585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PM2.5 values from previous years to capture temporal dependencies.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3347" y="4198448"/>
            <a:ext cx="3043417" cy="330009"/>
          </a:xfrm>
          <a:custGeom>
            <a:avLst/>
            <a:gdLst/>
            <a:ahLst/>
            <a:cxnLst/>
            <a:rect l="l" t="t" r="r" b="b"/>
            <a:pathLst>
              <a:path w="3043417" h="330009">
                <a:moveTo>
                  <a:pt x="36667" y="0"/>
                </a:moveTo>
                <a:lnTo>
                  <a:pt x="3006749" y="0"/>
                </a:lnTo>
                <a:cubicBezTo>
                  <a:pt x="3027000" y="0"/>
                  <a:pt x="3043417" y="16417"/>
                  <a:pt x="3043417" y="36667"/>
                </a:cubicBezTo>
                <a:lnTo>
                  <a:pt x="3043417" y="293342"/>
                </a:lnTo>
                <a:cubicBezTo>
                  <a:pt x="3043417" y="313593"/>
                  <a:pt x="3027000" y="330009"/>
                  <a:pt x="3006749" y="330009"/>
                </a:cubicBezTo>
                <a:lnTo>
                  <a:pt x="36667" y="330009"/>
                </a:lnTo>
                <a:cubicBezTo>
                  <a:pt x="16417" y="330009"/>
                  <a:pt x="0" y="313593"/>
                  <a:pt x="0" y="293342"/>
                </a:cubicBezTo>
                <a:lnTo>
                  <a:pt x="0" y="36667"/>
                </a:lnTo>
                <a:cubicBezTo>
                  <a:pt x="0" y="16430"/>
                  <a:pt x="16430" y="0"/>
                  <a:pt x="3666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86683" y="4271783"/>
            <a:ext cx="66001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PM2.5 (t-1)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4615" y="4290117"/>
            <a:ext cx="843356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Previous Year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3347" y="4601792"/>
            <a:ext cx="3043417" cy="330009"/>
          </a:xfrm>
          <a:custGeom>
            <a:avLst/>
            <a:gdLst/>
            <a:ahLst/>
            <a:cxnLst/>
            <a:rect l="l" t="t" r="r" b="b"/>
            <a:pathLst>
              <a:path w="3043417" h="330009">
                <a:moveTo>
                  <a:pt x="36667" y="0"/>
                </a:moveTo>
                <a:lnTo>
                  <a:pt x="3006749" y="0"/>
                </a:lnTo>
                <a:cubicBezTo>
                  <a:pt x="3027000" y="0"/>
                  <a:pt x="3043417" y="16417"/>
                  <a:pt x="3043417" y="36667"/>
                </a:cubicBezTo>
                <a:lnTo>
                  <a:pt x="3043417" y="293342"/>
                </a:lnTo>
                <a:cubicBezTo>
                  <a:pt x="3043417" y="313593"/>
                  <a:pt x="3027000" y="330009"/>
                  <a:pt x="3006749" y="330009"/>
                </a:cubicBezTo>
                <a:lnTo>
                  <a:pt x="36667" y="330009"/>
                </a:lnTo>
                <a:cubicBezTo>
                  <a:pt x="16417" y="330009"/>
                  <a:pt x="0" y="313593"/>
                  <a:pt x="0" y="293342"/>
                </a:cubicBezTo>
                <a:lnTo>
                  <a:pt x="0" y="36667"/>
                </a:lnTo>
                <a:cubicBezTo>
                  <a:pt x="0" y="16430"/>
                  <a:pt x="16430" y="0"/>
                  <a:pt x="3666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6683" y="4675128"/>
            <a:ext cx="687519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PM2.5 (t-2)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15619" y="4693462"/>
            <a:ext cx="724186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Years Ago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3347" y="5005137"/>
            <a:ext cx="3043417" cy="330009"/>
          </a:xfrm>
          <a:custGeom>
            <a:avLst/>
            <a:gdLst/>
            <a:ahLst/>
            <a:cxnLst/>
            <a:rect l="l" t="t" r="r" b="b"/>
            <a:pathLst>
              <a:path w="3043417" h="330009">
                <a:moveTo>
                  <a:pt x="36667" y="0"/>
                </a:moveTo>
                <a:lnTo>
                  <a:pt x="3006749" y="0"/>
                </a:lnTo>
                <a:cubicBezTo>
                  <a:pt x="3027000" y="0"/>
                  <a:pt x="3043417" y="16417"/>
                  <a:pt x="3043417" y="36667"/>
                </a:cubicBezTo>
                <a:lnTo>
                  <a:pt x="3043417" y="293342"/>
                </a:lnTo>
                <a:cubicBezTo>
                  <a:pt x="3043417" y="313593"/>
                  <a:pt x="3027000" y="330009"/>
                  <a:pt x="3006749" y="330009"/>
                </a:cubicBezTo>
                <a:lnTo>
                  <a:pt x="36667" y="330009"/>
                </a:lnTo>
                <a:cubicBezTo>
                  <a:pt x="16417" y="330009"/>
                  <a:pt x="0" y="313593"/>
                  <a:pt x="0" y="293342"/>
                </a:cubicBezTo>
                <a:lnTo>
                  <a:pt x="0" y="36667"/>
                </a:lnTo>
                <a:cubicBezTo>
                  <a:pt x="0" y="16430"/>
                  <a:pt x="16430" y="0"/>
                  <a:pt x="3666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86683" y="5078472"/>
            <a:ext cx="687519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PM2.5 (t-3)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15619" y="5096806"/>
            <a:ext cx="724186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Years Ago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7584" y="3190087"/>
            <a:ext cx="3336758" cy="2291729"/>
          </a:xfrm>
          <a:custGeom>
            <a:avLst/>
            <a:gdLst/>
            <a:ahLst/>
            <a:cxnLst/>
            <a:rect l="l" t="t" r="r" b="b"/>
            <a:pathLst>
              <a:path w="3336758" h="2291729">
                <a:moveTo>
                  <a:pt x="36668" y="0"/>
                </a:moveTo>
                <a:lnTo>
                  <a:pt x="3300090" y="0"/>
                </a:lnTo>
                <a:cubicBezTo>
                  <a:pt x="3320341" y="0"/>
                  <a:pt x="3336758" y="16417"/>
                  <a:pt x="3336758" y="36668"/>
                </a:cubicBezTo>
                <a:lnTo>
                  <a:pt x="3336758" y="2218394"/>
                </a:lnTo>
                <a:cubicBezTo>
                  <a:pt x="3336758" y="2258869"/>
                  <a:pt x="3303897" y="2291729"/>
                  <a:pt x="3263423" y="2291729"/>
                </a:cubicBezTo>
                <a:lnTo>
                  <a:pt x="73335" y="2291729"/>
                </a:lnTo>
                <a:cubicBezTo>
                  <a:pt x="32833" y="2291729"/>
                  <a:pt x="0" y="2258896"/>
                  <a:pt x="0" y="221839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47584" y="3190087"/>
            <a:ext cx="3336758" cy="36668"/>
          </a:xfrm>
          <a:custGeom>
            <a:avLst/>
            <a:gdLst/>
            <a:ahLst/>
            <a:cxnLst/>
            <a:rect l="l" t="t" r="r" b="b"/>
            <a:pathLst>
              <a:path w="3336758" h="36668">
                <a:moveTo>
                  <a:pt x="36668" y="0"/>
                </a:moveTo>
                <a:lnTo>
                  <a:pt x="3300090" y="0"/>
                </a:lnTo>
                <a:cubicBezTo>
                  <a:pt x="3320341" y="0"/>
                  <a:pt x="3336758" y="16417"/>
                  <a:pt x="3336758" y="36668"/>
                </a:cubicBezTo>
                <a:lnTo>
                  <a:pt x="3336758" y="36668"/>
                </a:lnTo>
                <a:lnTo>
                  <a:pt x="0" y="36668"/>
                </a:ln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4017172" y="3391759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22917" y="22917"/>
                </a:moveTo>
                <a:cubicBezTo>
                  <a:pt x="22917" y="16579"/>
                  <a:pt x="17797" y="11459"/>
                  <a:pt x="11459" y="11459"/>
                </a:cubicBezTo>
                <a:cubicBezTo>
                  <a:pt x="5121" y="11459"/>
                  <a:pt x="0" y="16579"/>
                  <a:pt x="0" y="22917"/>
                </a:cubicBezTo>
                <a:lnTo>
                  <a:pt x="0" y="143233"/>
                </a:lnTo>
                <a:cubicBezTo>
                  <a:pt x="0" y="159060"/>
                  <a:pt x="12819" y="171880"/>
                  <a:pt x="28647" y="171880"/>
                </a:cubicBezTo>
                <a:lnTo>
                  <a:pt x="171880" y="171880"/>
                </a:lnTo>
                <a:cubicBezTo>
                  <a:pt x="178218" y="171880"/>
                  <a:pt x="183338" y="166759"/>
                  <a:pt x="183338" y="160421"/>
                </a:cubicBezTo>
                <a:cubicBezTo>
                  <a:pt x="183338" y="154083"/>
                  <a:pt x="178218" y="148962"/>
                  <a:pt x="171880" y="148962"/>
                </a:cubicBezTo>
                <a:lnTo>
                  <a:pt x="28647" y="148962"/>
                </a:lnTo>
                <a:cubicBezTo>
                  <a:pt x="25495" y="148962"/>
                  <a:pt x="22917" y="146384"/>
                  <a:pt x="22917" y="143233"/>
                </a:cubicBezTo>
                <a:lnTo>
                  <a:pt x="22917" y="22917"/>
                </a:lnTo>
                <a:close/>
                <a:moveTo>
                  <a:pt x="168514" y="53927"/>
                </a:moveTo>
                <a:cubicBezTo>
                  <a:pt x="172990" y="49451"/>
                  <a:pt x="172990" y="42182"/>
                  <a:pt x="168514" y="37706"/>
                </a:cubicBezTo>
                <a:cubicBezTo>
                  <a:pt x="164038" y="33230"/>
                  <a:pt x="156769" y="33230"/>
                  <a:pt x="152293" y="37706"/>
                </a:cubicBezTo>
                <a:lnTo>
                  <a:pt x="114586" y="75448"/>
                </a:lnTo>
                <a:lnTo>
                  <a:pt x="94033" y="54930"/>
                </a:lnTo>
                <a:cubicBezTo>
                  <a:pt x="89556" y="50454"/>
                  <a:pt x="82287" y="50454"/>
                  <a:pt x="77811" y="54930"/>
                </a:cubicBezTo>
                <a:lnTo>
                  <a:pt x="43435" y="89306"/>
                </a:lnTo>
                <a:cubicBezTo>
                  <a:pt x="38959" y="93782"/>
                  <a:pt x="38959" y="101051"/>
                  <a:pt x="43435" y="105527"/>
                </a:cubicBezTo>
                <a:cubicBezTo>
                  <a:pt x="47911" y="110003"/>
                  <a:pt x="55181" y="110003"/>
                  <a:pt x="59657" y="105527"/>
                </a:cubicBezTo>
                <a:lnTo>
                  <a:pt x="85940" y="79244"/>
                </a:lnTo>
                <a:lnTo>
                  <a:pt x="106494" y="99798"/>
                </a:lnTo>
                <a:cubicBezTo>
                  <a:pt x="110970" y="104274"/>
                  <a:pt x="118239" y="104274"/>
                  <a:pt x="122715" y="99798"/>
                </a:cubicBezTo>
                <a:lnTo>
                  <a:pt x="168550" y="53963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4296763" y="3355092"/>
            <a:ext cx="130170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Rolling Averages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94255" y="3721768"/>
            <a:ext cx="3107585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averages to smooth short-term fluctuations and reveal long-term trends.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94255" y="4198448"/>
            <a:ext cx="3043417" cy="330009"/>
          </a:xfrm>
          <a:custGeom>
            <a:avLst/>
            <a:gdLst/>
            <a:ahLst/>
            <a:cxnLst/>
            <a:rect l="l" t="t" r="r" b="b"/>
            <a:pathLst>
              <a:path w="3043417" h="330009">
                <a:moveTo>
                  <a:pt x="36667" y="0"/>
                </a:moveTo>
                <a:lnTo>
                  <a:pt x="3006749" y="0"/>
                </a:lnTo>
                <a:cubicBezTo>
                  <a:pt x="3027000" y="0"/>
                  <a:pt x="3043417" y="16417"/>
                  <a:pt x="3043417" y="36667"/>
                </a:cubicBezTo>
                <a:lnTo>
                  <a:pt x="3043417" y="293342"/>
                </a:lnTo>
                <a:cubicBezTo>
                  <a:pt x="3043417" y="313593"/>
                  <a:pt x="3027000" y="330009"/>
                  <a:pt x="3006749" y="330009"/>
                </a:cubicBezTo>
                <a:lnTo>
                  <a:pt x="36667" y="330009"/>
                </a:lnTo>
                <a:cubicBezTo>
                  <a:pt x="16417" y="330009"/>
                  <a:pt x="0" y="313593"/>
                  <a:pt x="0" y="293342"/>
                </a:cubicBezTo>
                <a:lnTo>
                  <a:pt x="0" y="36667"/>
                </a:lnTo>
                <a:cubicBezTo>
                  <a:pt x="0" y="16430"/>
                  <a:pt x="16430" y="0"/>
                  <a:pt x="3666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067590" y="4271783"/>
            <a:ext cx="38501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MA-3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15136" y="4290117"/>
            <a:ext cx="898358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3-Year Average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94255" y="4601792"/>
            <a:ext cx="3043417" cy="330009"/>
          </a:xfrm>
          <a:custGeom>
            <a:avLst/>
            <a:gdLst/>
            <a:ahLst/>
            <a:cxnLst/>
            <a:rect l="l" t="t" r="r" b="b"/>
            <a:pathLst>
              <a:path w="3043417" h="330009">
                <a:moveTo>
                  <a:pt x="36667" y="0"/>
                </a:moveTo>
                <a:lnTo>
                  <a:pt x="3006749" y="0"/>
                </a:lnTo>
                <a:cubicBezTo>
                  <a:pt x="3027000" y="0"/>
                  <a:pt x="3043417" y="16417"/>
                  <a:pt x="3043417" y="36667"/>
                </a:cubicBezTo>
                <a:lnTo>
                  <a:pt x="3043417" y="293342"/>
                </a:lnTo>
                <a:cubicBezTo>
                  <a:pt x="3043417" y="313593"/>
                  <a:pt x="3027000" y="330009"/>
                  <a:pt x="3006749" y="330009"/>
                </a:cubicBezTo>
                <a:lnTo>
                  <a:pt x="36667" y="330009"/>
                </a:lnTo>
                <a:cubicBezTo>
                  <a:pt x="16417" y="330009"/>
                  <a:pt x="0" y="313593"/>
                  <a:pt x="0" y="293342"/>
                </a:cubicBezTo>
                <a:lnTo>
                  <a:pt x="0" y="36667"/>
                </a:lnTo>
                <a:cubicBezTo>
                  <a:pt x="0" y="16430"/>
                  <a:pt x="16430" y="0"/>
                  <a:pt x="3666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067590" y="4675128"/>
            <a:ext cx="38501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MA-5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15136" y="4693462"/>
            <a:ext cx="898358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5-Year Average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0343" y="5530554"/>
            <a:ext cx="6809186" cy="1217367"/>
          </a:xfrm>
          <a:custGeom>
            <a:avLst/>
            <a:gdLst/>
            <a:ahLst/>
            <a:cxnLst/>
            <a:rect l="l" t="t" r="r" b="b"/>
            <a:pathLst>
              <a:path w="6809186" h="1217367">
                <a:moveTo>
                  <a:pt x="73334" y="0"/>
                </a:moveTo>
                <a:lnTo>
                  <a:pt x="6735852" y="0"/>
                </a:lnTo>
                <a:cubicBezTo>
                  <a:pt x="6776353" y="0"/>
                  <a:pt x="6809186" y="32833"/>
                  <a:pt x="6809186" y="73334"/>
                </a:cubicBezTo>
                <a:lnTo>
                  <a:pt x="6809186" y="1144032"/>
                </a:lnTo>
                <a:cubicBezTo>
                  <a:pt x="6809186" y="1184534"/>
                  <a:pt x="6776353" y="1217367"/>
                  <a:pt x="6735852" y="1217367"/>
                </a:cubicBezTo>
                <a:lnTo>
                  <a:pt x="73334" y="1217367"/>
                </a:lnTo>
                <a:cubicBezTo>
                  <a:pt x="32860" y="1217367"/>
                  <a:pt x="0" y="1184507"/>
                  <a:pt x="0" y="1144032"/>
                </a:cubicBezTo>
                <a:lnTo>
                  <a:pt x="0" y="73334"/>
                </a:lnTo>
                <a:cubicBezTo>
                  <a:pt x="0" y="32860"/>
                  <a:pt x="32860" y="0"/>
                  <a:pt x="7333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015" y="5717560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34376" y="16042"/>
                </a:moveTo>
                <a:cubicBezTo>
                  <a:pt x="34376" y="7190"/>
                  <a:pt x="41566" y="0"/>
                  <a:pt x="50418" y="0"/>
                </a:cubicBezTo>
                <a:lnTo>
                  <a:pt x="57293" y="0"/>
                </a:lnTo>
                <a:cubicBezTo>
                  <a:pt x="62364" y="0"/>
                  <a:pt x="66460" y="4096"/>
                  <a:pt x="66460" y="9167"/>
                </a:cubicBezTo>
                <a:lnTo>
                  <a:pt x="66460" y="137504"/>
                </a:lnTo>
                <a:cubicBezTo>
                  <a:pt x="66460" y="142574"/>
                  <a:pt x="62364" y="146671"/>
                  <a:pt x="57293" y="146671"/>
                </a:cubicBezTo>
                <a:lnTo>
                  <a:pt x="48126" y="146671"/>
                </a:lnTo>
                <a:cubicBezTo>
                  <a:pt x="39590" y="146671"/>
                  <a:pt x="32399" y="140827"/>
                  <a:pt x="30365" y="132920"/>
                </a:cubicBezTo>
                <a:cubicBezTo>
                  <a:pt x="30165" y="132920"/>
                  <a:pt x="29993" y="132920"/>
                  <a:pt x="29792" y="132920"/>
                </a:cubicBezTo>
                <a:cubicBezTo>
                  <a:pt x="17131" y="132920"/>
                  <a:pt x="6875" y="122665"/>
                  <a:pt x="6875" y="110003"/>
                </a:cubicBezTo>
                <a:cubicBezTo>
                  <a:pt x="6875" y="104847"/>
                  <a:pt x="8594" y="100091"/>
                  <a:pt x="11459" y="96253"/>
                </a:cubicBezTo>
                <a:cubicBezTo>
                  <a:pt x="5901" y="92070"/>
                  <a:pt x="2292" y="85424"/>
                  <a:pt x="2292" y="77919"/>
                </a:cubicBezTo>
                <a:cubicBezTo>
                  <a:pt x="2292" y="69067"/>
                  <a:pt x="7334" y="61361"/>
                  <a:pt x="14667" y="57551"/>
                </a:cubicBezTo>
                <a:cubicBezTo>
                  <a:pt x="12633" y="54113"/>
                  <a:pt x="11459" y="50103"/>
                  <a:pt x="11459" y="45835"/>
                </a:cubicBezTo>
                <a:cubicBezTo>
                  <a:pt x="11459" y="33173"/>
                  <a:pt x="21714" y="22917"/>
                  <a:pt x="34376" y="22917"/>
                </a:cubicBezTo>
                <a:lnTo>
                  <a:pt x="34376" y="16042"/>
                </a:lnTo>
                <a:close/>
                <a:moveTo>
                  <a:pt x="112295" y="16042"/>
                </a:moveTo>
                <a:lnTo>
                  <a:pt x="112295" y="22917"/>
                </a:lnTo>
                <a:cubicBezTo>
                  <a:pt x="124957" y="22917"/>
                  <a:pt x="135212" y="33173"/>
                  <a:pt x="135212" y="45835"/>
                </a:cubicBezTo>
                <a:cubicBezTo>
                  <a:pt x="135212" y="50132"/>
                  <a:pt x="134038" y="54142"/>
                  <a:pt x="132004" y="57551"/>
                </a:cubicBezTo>
                <a:cubicBezTo>
                  <a:pt x="139366" y="61361"/>
                  <a:pt x="144379" y="69038"/>
                  <a:pt x="144379" y="77919"/>
                </a:cubicBezTo>
                <a:cubicBezTo>
                  <a:pt x="144379" y="85424"/>
                  <a:pt x="140769" y="92070"/>
                  <a:pt x="135212" y="96253"/>
                </a:cubicBezTo>
                <a:cubicBezTo>
                  <a:pt x="138077" y="100091"/>
                  <a:pt x="139795" y="104847"/>
                  <a:pt x="139795" y="110003"/>
                </a:cubicBezTo>
                <a:cubicBezTo>
                  <a:pt x="139795" y="122665"/>
                  <a:pt x="129540" y="132920"/>
                  <a:pt x="116878" y="132920"/>
                </a:cubicBezTo>
                <a:cubicBezTo>
                  <a:pt x="116678" y="132920"/>
                  <a:pt x="116506" y="132920"/>
                  <a:pt x="116305" y="132920"/>
                </a:cubicBezTo>
                <a:cubicBezTo>
                  <a:pt x="114271" y="140827"/>
                  <a:pt x="107081" y="146671"/>
                  <a:pt x="98544" y="146671"/>
                </a:cubicBezTo>
                <a:lnTo>
                  <a:pt x="89377" y="146671"/>
                </a:lnTo>
                <a:cubicBezTo>
                  <a:pt x="84307" y="146671"/>
                  <a:pt x="80211" y="142574"/>
                  <a:pt x="80211" y="137504"/>
                </a:cubicBezTo>
                <a:lnTo>
                  <a:pt x="80211" y="9167"/>
                </a:lnTo>
                <a:cubicBezTo>
                  <a:pt x="80211" y="4096"/>
                  <a:pt x="84307" y="0"/>
                  <a:pt x="89377" y="0"/>
                </a:cubicBezTo>
                <a:lnTo>
                  <a:pt x="96253" y="0"/>
                </a:lnTo>
                <a:cubicBezTo>
                  <a:pt x="105104" y="0"/>
                  <a:pt x="112295" y="7190"/>
                  <a:pt x="112295" y="1604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19" y="5680892"/>
            <a:ext cx="639850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Temporal Features Matter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0681" y="5974233"/>
            <a:ext cx="6572680" cy="62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Pollution levels exhibit strong temporal autocorrelation—</a:t>
            </a:r>
            <a:r>
              <a:rPr lang="en-US" sz="1011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past values are the best predictors of future values </a:t>
            </a:r>
            <a:r>
              <a:rPr lang="en-US" sz="101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By incorporating lag features and rolling averages, the model learns to recognize seasonal patterns, trend directions, and cyclical behaviors inherent in environmental data.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28607" y="1613377"/>
            <a:ext cx="4491789" cy="3245089"/>
          </a:xfrm>
          <a:custGeom>
            <a:avLst/>
            <a:gdLst/>
            <a:ahLst/>
            <a:cxnLst/>
            <a:rect l="l" t="t" r="r" b="b"/>
            <a:pathLst>
              <a:path w="4491789" h="3245089">
                <a:moveTo>
                  <a:pt x="73339" y="0"/>
                </a:moveTo>
                <a:lnTo>
                  <a:pt x="4418450" y="0"/>
                </a:lnTo>
                <a:cubicBezTo>
                  <a:pt x="4458954" y="0"/>
                  <a:pt x="4491789" y="32835"/>
                  <a:pt x="4491789" y="73339"/>
                </a:cubicBezTo>
                <a:lnTo>
                  <a:pt x="4491789" y="3171750"/>
                </a:lnTo>
                <a:cubicBezTo>
                  <a:pt x="4491789" y="3212254"/>
                  <a:pt x="4458954" y="3245089"/>
                  <a:pt x="4418450" y="3245089"/>
                </a:cubicBezTo>
                <a:lnTo>
                  <a:pt x="73339" y="3245089"/>
                </a:lnTo>
                <a:cubicBezTo>
                  <a:pt x="32835" y="3245089"/>
                  <a:pt x="0" y="3212254"/>
                  <a:pt x="0" y="3171750"/>
                </a:cubicBezTo>
                <a:lnTo>
                  <a:pt x="0" y="73339"/>
                </a:lnTo>
                <a:cubicBezTo>
                  <a:pt x="0" y="32835"/>
                  <a:pt x="32835" y="0"/>
                  <a:pt x="7333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pic>
        <p:nvPicPr>
          <p:cNvPr id="41" name="Image 0" descr="https://kimi-web-img.moonshot.cn/img/media.geeksforgeeks.org/5bddb27cd54b0a2964650c0e4c3c79142695185d.png"/>
          <p:cNvPicPr>
            <a:picLocks noChangeAspect="1"/>
          </p:cNvPicPr>
          <p:nvPr/>
        </p:nvPicPr>
        <p:blipFill>
          <a:blip r:embed="rId3"/>
          <a:srcRect t="1264" b="1264"/>
          <a:stretch/>
        </p:blipFill>
        <p:spPr>
          <a:xfrm>
            <a:off x="7328607" y="1613377"/>
            <a:ext cx="4491789" cy="1760048"/>
          </a:xfrm>
          <a:prstGeom prst="roundRect">
            <a:avLst>
              <a:gd name="adj" fmla="val 2260"/>
            </a:avLst>
          </a:prstGeom>
        </p:spPr>
      </p:pic>
      <p:sp>
        <p:nvSpPr>
          <p:cNvPr id="42" name="Text 39"/>
          <p:cNvSpPr/>
          <p:nvPr/>
        </p:nvSpPr>
        <p:spPr>
          <a:xfrm>
            <a:off x="7475278" y="3520096"/>
            <a:ext cx="4253450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AUTOCORRELATION ANALYSIS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475278" y="3739988"/>
            <a:ext cx="4262617" cy="42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ACF and PACF plots reveal strong temporal dependencies in PM2.5 data, justifying the use of lag features for prediction.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332274" y="4947595"/>
            <a:ext cx="4489956" cy="1840717"/>
          </a:xfrm>
          <a:custGeom>
            <a:avLst/>
            <a:gdLst/>
            <a:ahLst/>
            <a:cxnLst/>
            <a:rect l="l" t="t" r="r" b="b"/>
            <a:pathLst>
              <a:path w="4489956" h="1840717">
                <a:moveTo>
                  <a:pt x="73334" y="0"/>
                </a:moveTo>
                <a:lnTo>
                  <a:pt x="4416622" y="0"/>
                </a:lnTo>
                <a:cubicBezTo>
                  <a:pt x="4457123" y="0"/>
                  <a:pt x="4489956" y="32833"/>
                  <a:pt x="4489956" y="73334"/>
                </a:cubicBezTo>
                <a:lnTo>
                  <a:pt x="4489956" y="1767383"/>
                </a:lnTo>
                <a:cubicBezTo>
                  <a:pt x="4489956" y="1807884"/>
                  <a:pt x="4457123" y="1840717"/>
                  <a:pt x="4416622" y="1840717"/>
                </a:cubicBezTo>
                <a:lnTo>
                  <a:pt x="73334" y="1840717"/>
                </a:lnTo>
                <a:cubicBezTo>
                  <a:pt x="32833" y="1840717"/>
                  <a:pt x="0" y="1807884"/>
                  <a:pt x="0" y="1767383"/>
                </a:cubicBezTo>
                <a:lnTo>
                  <a:pt x="0" y="73334"/>
                </a:lnTo>
                <a:cubicBezTo>
                  <a:pt x="0" y="32860"/>
                  <a:pt x="32860" y="0"/>
                  <a:pt x="7333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82611" y="5097933"/>
            <a:ext cx="426261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Impact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82611" y="5446276"/>
            <a:ext cx="117336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318966" y="5427942"/>
            <a:ext cx="42167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+35%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482611" y="5684616"/>
            <a:ext cx="4189281" cy="73335"/>
          </a:xfrm>
          <a:custGeom>
            <a:avLst/>
            <a:gdLst/>
            <a:ahLst/>
            <a:cxnLst/>
            <a:rect l="l" t="t" r="r" b="b"/>
            <a:pathLst>
              <a:path w="4189281" h="73335">
                <a:moveTo>
                  <a:pt x="36668" y="0"/>
                </a:moveTo>
                <a:lnTo>
                  <a:pt x="4152614" y="0"/>
                </a:lnTo>
                <a:cubicBezTo>
                  <a:pt x="4172865" y="0"/>
                  <a:pt x="4189281" y="16417"/>
                  <a:pt x="4189281" y="36668"/>
                </a:cubicBezTo>
                <a:lnTo>
                  <a:pt x="4189281" y="36668"/>
                </a:lnTo>
                <a:cubicBezTo>
                  <a:pt x="4189281" y="56919"/>
                  <a:pt x="4172865" y="73335"/>
                  <a:pt x="4152614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482611" y="5684616"/>
            <a:ext cx="3556764" cy="73335"/>
          </a:xfrm>
          <a:custGeom>
            <a:avLst/>
            <a:gdLst/>
            <a:ahLst/>
            <a:cxnLst/>
            <a:rect l="l" t="t" r="r" b="b"/>
            <a:pathLst>
              <a:path w="3556764" h="73335">
                <a:moveTo>
                  <a:pt x="36668" y="0"/>
                </a:moveTo>
                <a:lnTo>
                  <a:pt x="3520096" y="0"/>
                </a:lnTo>
                <a:cubicBezTo>
                  <a:pt x="3540347" y="0"/>
                  <a:pt x="3556764" y="16417"/>
                  <a:pt x="3556764" y="36668"/>
                </a:cubicBezTo>
                <a:lnTo>
                  <a:pt x="3556764" y="36668"/>
                </a:lnTo>
                <a:cubicBezTo>
                  <a:pt x="3556764" y="56919"/>
                  <a:pt x="3540347" y="73335"/>
                  <a:pt x="3520096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0" name="Text 47"/>
          <p:cNvSpPr/>
          <p:nvPr/>
        </p:nvSpPr>
        <p:spPr>
          <a:xfrm>
            <a:off x="7482611" y="5886288"/>
            <a:ext cx="170504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Pattern Recognition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378322" y="5867954"/>
            <a:ext cx="36667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482611" y="6124628"/>
            <a:ext cx="4189281" cy="73335"/>
          </a:xfrm>
          <a:custGeom>
            <a:avLst/>
            <a:gdLst/>
            <a:ahLst/>
            <a:cxnLst/>
            <a:rect l="l" t="t" r="r" b="b"/>
            <a:pathLst>
              <a:path w="4189281" h="73335">
                <a:moveTo>
                  <a:pt x="36668" y="0"/>
                </a:moveTo>
                <a:lnTo>
                  <a:pt x="4152614" y="0"/>
                </a:lnTo>
                <a:cubicBezTo>
                  <a:pt x="4172865" y="0"/>
                  <a:pt x="4189281" y="16417"/>
                  <a:pt x="4189281" y="36668"/>
                </a:cubicBezTo>
                <a:lnTo>
                  <a:pt x="4189281" y="36668"/>
                </a:lnTo>
                <a:cubicBezTo>
                  <a:pt x="4189281" y="56919"/>
                  <a:pt x="4172865" y="73335"/>
                  <a:pt x="4152614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82611" y="6124628"/>
            <a:ext cx="3978442" cy="73335"/>
          </a:xfrm>
          <a:custGeom>
            <a:avLst/>
            <a:gdLst/>
            <a:ahLst/>
            <a:cxnLst/>
            <a:rect l="l" t="t" r="r" b="b"/>
            <a:pathLst>
              <a:path w="3978442" h="73335">
                <a:moveTo>
                  <a:pt x="36668" y="0"/>
                </a:moveTo>
                <a:lnTo>
                  <a:pt x="3941774" y="0"/>
                </a:lnTo>
                <a:cubicBezTo>
                  <a:pt x="3962025" y="0"/>
                  <a:pt x="3978442" y="16417"/>
                  <a:pt x="3978442" y="36668"/>
                </a:cubicBezTo>
                <a:lnTo>
                  <a:pt x="3978442" y="36668"/>
                </a:lnTo>
                <a:cubicBezTo>
                  <a:pt x="3978442" y="56919"/>
                  <a:pt x="3962025" y="73335"/>
                  <a:pt x="3941774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4" name="Text 51"/>
          <p:cNvSpPr/>
          <p:nvPr/>
        </p:nvSpPr>
        <p:spPr>
          <a:xfrm>
            <a:off x="7482611" y="6326300"/>
            <a:ext cx="108169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Robustness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1046251" y="6307966"/>
            <a:ext cx="69668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7482611" y="6564640"/>
            <a:ext cx="4189281" cy="73335"/>
          </a:xfrm>
          <a:custGeom>
            <a:avLst/>
            <a:gdLst/>
            <a:ahLst/>
            <a:cxnLst/>
            <a:rect l="l" t="t" r="r" b="b"/>
            <a:pathLst>
              <a:path w="4189281" h="73335">
                <a:moveTo>
                  <a:pt x="36668" y="0"/>
                </a:moveTo>
                <a:lnTo>
                  <a:pt x="4152614" y="0"/>
                </a:lnTo>
                <a:cubicBezTo>
                  <a:pt x="4172865" y="0"/>
                  <a:pt x="4189281" y="16417"/>
                  <a:pt x="4189281" y="36668"/>
                </a:cubicBezTo>
                <a:lnTo>
                  <a:pt x="4189281" y="36668"/>
                </a:lnTo>
                <a:cubicBezTo>
                  <a:pt x="4189281" y="56919"/>
                  <a:pt x="4172865" y="73335"/>
                  <a:pt x="4152614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482611" y="6564640"/>
            <a:ext cx="3767603" cy="73335"/>
          </a:xfrm>
          <a:custGeom>
            <a:avLst/>
            <a:gdLst/>
            <a:ahLst/>
            <a:cxnLst/>
            <a:rect l="l" t="t" r="r" b="b"/>
            <a:pathLst>
              <a:path w="3767603" h="73335">
                <a:moveTo>
                  <a:pt x="36668" y="0"/>
                </a:moveTo>
                <a:lnTo>
                  <a:pt x="3730935" y="0"/>
                </a:lnTo>
                <a:cubicBezTo>
                  <a:pt x="3751186" y="0"/>
                  <a:pt x="3767603" y="16417"/>
                  <a:pt x="3767603" y="36668"/>
                </a:cubicBezTo>
                <a:lnTo>
                  <a:pt x="3767603" y="36668"/>
                </a:lnTo>
                <a:cubicBezTo>
                  <a:pt x="3767603" y="56919"/>
                  <a:pt x="3751186" y="73335"/>
                  <a:pt x="3730935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537" y="357537"/>
            <a:ext cx="53630" cy="357537"/>
          </a:xfrm>
          <a:custGeom>
            <a:avLst/>
            <a:gdLst/>
            <a:ahLst/>
            <a:cxnLst/>
            <a:rect l="l" t="t" r="r" b="b"/>
            <a:pathLst>
              <a:path w="53630" h="357537">
                <a:moveTo>
                  <a:pt x="0" y="0"/>
                </a:moveTo>
                <a:lnTo>
                  <a:pt x="53630" y="0"/>
                </a:lnTo>
                <a:lnTo>
                  <a:pt x="53630" y="357537"/>
                </a:lnTo>
                <a:lnTo>
                  <a:pt x="0" y="357537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18428" y="446921"/>
            <a:ext cx="1483777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kern="0" spc="4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537" y="786581"/>
            <a:ext cx="11637818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413" y="1287132"/>
            <a:ext cx="5631202" cy="1734053"/>
          </a:xfrm>
          <a:custGeom>
            <a:avLst/>
            <a:gdLst/>
            <a:ahLst/>
            <a:cxnLst/>
            <a:rect l="l" t="t" r="r" b="b"/>
            <a:pathLst>
              <a:path w="5631202" h="1734053">
                <a:moveTo>
                  <a:pt x="0" y="0"/>
                </a:moveTo>
                <a:lnTo>
                  <a:pt x="5559690" y="0"/>
                </a:lnTo>
                <a:cubicBezTo>
                  <a:pt x="5599185" y="0"/>
                  <a:pt x="5631202" y="32017"/>
                  <a:pt x="5631202" y="71512"/>
                </a:cubicBezTo>
                <a:lnTo>
                  <a:pt x="5631202" y="1662540"/>
                </a:lnTo>
                <a:cubicBezTo>
                  <a:pt x="5631202" y="1702036"/>
                  <a:pt x="5599185" y="1734053"/>
                  <a:pt x="5559690" y="1734053"/>
                </a:cubicBezTo>
                <a:lnTo>
                  <a:pt x="0" y="1734053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5413" y="1287132"/>
            <a:ext cx="35754" cy="1734053"/>
          </a:xfrm>
          <a:custGeom>
            <a:avLst/>
            <a:gdLst/>
            <a:ahLst/>
            <a:cxnLst/>
            <a:rect l="l" t="t" r="r" b="b"/>
            <a:pathLst>
              <a:path w="35754" h="1734053">
                <a:moveTo>
                  <a:pt x="0" y="0"/>
                </a:moveTo>
                <a:lnTo>
                  <a:pt x="35754" y="0"/>
                </a:lnTo>
                <a:lnTo>
                  <a:pt x="35754" y="1734053"/>
                </a:lnTo>
                <a:lnTo>
                  <a:pt x="0" y="1734053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72059" y="1465900"/>
            <a:ext cx="572059" cy="572059"/>
          </a:xfrm>
          <a:custGeom>
            <a:avLst/>
            <a:gdLst/>
            <a:ahLst/>
            <a:cxnLst/>
            <a:rect l="l" t="t" r="r" b="b"/>
            <a:pathLst>
              <a:path w="572059" h="572059">
                <a:moveTo>
                  <a:pt x="71507" y="0"/>
                </a:moveTo>
                <a:lnTo>
                  <a:pt x="500551" y="0"/>
                </a:lnTo>
                <a:cubicBezTo>
                  <a:pt x="540044" y="0"/>
                  <a:pt x="572059" y="32015"/>
                  <a:pt x="572059" y="71507"/>
                </a:cubicBezTo>
                <a:lnTo>
                  <a:pt x="572059" y="500551"/>
                </a:lnTo>
                <a:cubicBezTo>
                  <a:pt x="572059" y="540044"/>
                  <a:pt x="540044" y="572059"/>
                  <a:pt x="500551" y="572059"/>
                </a:cubicBezTo>
                <a:lnTo>
                  <a:pt x="71507" y="572059"/>
                </a:lnTo>
                <a:cubicBezTo>
                  <a:pt x="32015" y="572059"/>
                  <a:pt x="0" y="540044"/>
                  <a:pt x="0" y="500551"/>
                </a:cubicBezTo>
                <a:lnTo>
                  <a:pt x="0" y="71507"/>
                </a:lnTo>
                <a:cubicBezTo>
                  <a:pt x="0" y="32015"/>
                  <a:pt x="32015" y="0"/>
                  <a:pt x="71507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Shape 6"/>
          <p:cNvSpPr/>
          <p:nvPr/>
        </p:nvSpPr>
        <p:spPr>
          <a:xfrm>
            <a:off x="743006" y="1617853"/>
            <a:ext cx="234633" cy="268152"/>
          </a:xfrm>
          <a:custGeom>
            <a:avLst/>
            <a:gdLst/>
            <a:ahLst/>
            <a:cxnLst/>
            <a:rect l="l" t="t" r="r" b="b"/>
            <a:pathLst>
              <a:path w="234633" h="268152">
                <a:moveTo>
                  <a:pt x="117317" y="-16760"/>
                </a:moveTo>
                <a:cubicBezTo>
                  <a:pt x="120983" y="-16760"/>
                  <a:pt x="124492" y="-15136"/>
                  <a:pt x="126901" y="-12308"/>
                </a:cubicBezTo>
                <a:lnTo>
                  <a:pt x="198129" y="71490"/>
                </a:lnTo>
                <a:cubicBezTo>
                  <a:pt x="201324" y="75208"/>
                  <a:pt x="202005" y="80446"/>
                  <a:pt x="199962" y="84897"/>
                </a:cubicBezTo>
                <a:cubicBezTo>
                  <a:pt x="197920" y="89349"/>
                  <a:pt x="193468" y="92177"/>
                  <a:pt x="188545" y="92177"/>
                </a:cubicBezTo>
                <a:lnTo>
                  <a:pt x="175504" y="92177"/>
                </a:lnTo>
                <a:lnTo>
                  <a:pt x="214889" y="138528"/>
                </a:lnTo>
                <a:cubicBezTo>
                  <a:pt x="218083" y="142247"/>
                  <a:pt x="218764" y="147484"/>
                  <a:pt x="216722" y="151936"/>
                </a:cubicBezTo>
                <a:cubicBezTo>
                  <a:pt x="214679" y="156387"/>
                  <a:pt x="210227" y="159216"/>
                  <a:pt x="205304" y="159216"/>
                </a:cubicBezTo>
                <a:lnTo>
                  <a:pt x="185140" y="159216"/>
                </a:lnTo>
                <a:lnTo>
                  <a:pt x="231648" y="213946"/>
                </a:lnTo>
                <a:cubicBezTo>
                  <a:pt x="234843" y="217664"/>
                  <a:pt x="235524" y="222902"/>
                  <a:pt x="233481" y="227354"/>
                </a:cubicBezTo>
                <a:cubicBezTo>
                  <a:pt x="231439" y="231805"/>
                  <a:pt x="226987" y="234633"/>
                  <a:pt x="222064" y="234633"/>
                </a:cubicBezTo>
                <a:lnTo>
                  <a:pt x="134076" y="234633"/>
                </a:lnTo>
                <a:lnTo>
                  <a:pt x="134076" y="268152"/>
                </a:lnTo>
                <a:cubicBezTo>
                  <a:pt x="134076" y="277423"/>
                  <a:pt x="126587" y="284912"/>
                  <a:pt x="117317" y="284912"/>
                </a:cubicBezTo>
                <a:cubicBezTo>
                  <a:pt x="108047" y="284912"/>
                  <a:pt x="100557" y="277423"/>
                  <a:pt x="100557" y="268152"/>
                </a:cubicBezTo>
                <a:lnTo>
                  <a:pt x="100557" y="234633"/>
                </a:lnTo>
                <a:lnTo>
                  <a:pt x="12570" y="234633"/>
                </a:lnTo>
                <a:cubicBezTo>
                  <a:pt x="7647" y="234633"/>
                  <a:pt x="3195" y="231805"/>
                  <a:pt x="1152" y="227354"/>
                </a:cubicBezTo>
                <a:cubicBezTo>
                  <a:pt x="-890" y="222902"/>
                  <a:pt x="-209" y="217664"/>
                  <a:pt x="2985" y="213946"/>
                </a:cubicBezTo>
                <a:lnTo>
                  <a:pt x="49493" y="159216"/>
                </a:lnTo>
                <a:lnTo>
                  <a:pt x="29329" y="159216"/>
                </a:lnTo>
                <a:cubicBezTo>
                  <a:pt x="24406" y="159216"/>
                  <a:pt x="19954" y="156387"/>
                  <a:pt x="17912" y="151936"/>
                </a:cubicBezTo>
                <a:cubicBezTo>
                  <a:pt x="15869" y="147484"/>
                  <a:pt x="16550" y="142247"/>
                  <a:pt x="19745" y="138528"/>
                </a:cubicBezTo>
                <a:lnTo>
                  <a:pt x="59130" y="92177"/>
                </a:lnTo>
                <a:lnTo>
                  <a:pt x="46089" y="92177"/>
                </a:lnTo>
                <a:cubicBezTo>
                  <a:pt x="41166" y="92177"/>
                  <a:pt x="36714" y="89349"/>
                  <a:pt x="34671" y="84897"/>
                </a:cubicBezTo>
                <a:cubicBezTo>
                  <a:pt x="32629" y="80446"/>
                  <a:pt x="33310" y="75208"/>
                  <a:pt x="36504" y="71490"/>
                </a:cubicBezTo>
                <a:lnTo>
                  <a:pt x="107732" y="-12308"/>
                </a:lnTo>
                <a:cubicBezTo>
                  <a:pt x="110142" y="-15136"/>
                  <a:pt x="113651" y="-16760"/>
                  <a:pt x="117317" y="-167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87132" y="1501654"/>
            <a:ext cx="194857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Regressor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7132" y="1787574"/>
            <a:ext cx="1912821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Gradient Boosting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2059" y="2145220"/>
            <a:ext cx="5327296" cy="69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6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is an optimized distributed gradient boosting library designed for speed and performance. It builds an ensemble of weak prediction models (typically decision trees) in a stage-wise fashion.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537" y="3164199"/>
            <a:ext cx="5649079" cy="3071241"/>
          </a:xfrm>
          <a:custGeom>
            <a:avLst/>
            <a:gdLst/>
            <a:ahLst/>
            <a:cxnLst/>
            <a:rect l="l" t="t" r="r" b="b"/>
            <a:pathLst>
              <a:path w="5649079" h="3071241">
                <a:moveTo>
                  <a:pt x="71506" y="0"/>
                </a:moveTo>
                <a:lnTo>
                  <a:pt x="5577574" y="0"/>
                </a:lnTo>
                <a:cubicBezTo>
                  <a:pt x="5617039" y="0"/>
                  <a:pt x="5649079" y="26657"/>
                  <a:pt x="5649079" y="59490"/>
                </a:cubicBezTo>
                <a:lnTo>
                  <a:pt x="5649079" y="3011751"/>
                </a:lnTo>
                <a:cubicBezTo>
                  <a:pt x="5649079" y="3044606"/>
                  <a:pt x="5617065" y="3071241"/>
                  <a:pt x="5577574" y="3071241"/>
                </a:cubicBezTo>
                <a:lnTo>
                  <a:pt x="71506" y="3071241"/>
                </a:lnTo>
                <a:cubicBezTo>
                  <a:pt x="32014" y="3071241"/>
                  <a:pt x="0" y="3044606"/>
                  <a:pt x="0" y="3011751"/>
                </a:cubicBezTo>
                <a:lnTo>
                  <a:pt x="0" y="59490"/>
                </a:lnTo>
                <a:cubicBezTo>
                  <a:pt x="0" y="26635"/>
                  <a:pt x="32014" y="0"/>
                  <a:pt x="715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2842" y="3351906"/>
            <a:ext cx="181003" cy="160891"/>
          </a:xfrm>
          <a:custGeom>
            <a:avLst/>
            <a:gdLst/>
            <a:ahLst/>
            <a:cxnLst/>
            <a:rect l="l" t="t" r="r" b="b"/>
            <a:pathLst>
              <a:path w="181003" h="160891">
                <a:moveTo>
                  <a:pt x="97258" y="-5939"/>
                </a:moveTo>
                <a:cubicBezTo>
                  <a:pt x="95969" y="-8453"/>
                  <a:pt x="93361" y="-10056"/>
                  <a:pt x="90533" y="-10056"/>
                </a:cubicBezTo>
                <a:cubicBezTo>
                  <a:pt x="87705" y="-10056"/>
                  <a:pt x="85097" y="-8453"/>
                  <a:pt x="83808" y="-5939"/>
                </a:cubicBezTo>
                <a:lnTo>
                  <a:pt x="60680" y="39374"/>
                </a:lnTo>
                <a:lnTo>
                  <a:pt x="10433" y="47356"/>
                </a:lnTo>
                <a:cubicBezTo>
                  <a:pt x="7636" y="47796"/>
                  <a:pt x="5311" y="49776"/>
                  <a:pt x="4431" y="52478"/>
                </a:cubicBezTo>
                <a:cubicBezTo>
                  <a:pt x="3551" y="55181"/>
                  <a:pt x="4274" y="58135"/>
                  <a:pt x="6253" y="60146"/>
                </a:cubicBezTo>
                <a:lnTo>
                  <a:pt x="42203" y="96126"/>
                </a:lnTo>
                <a:lnTo>
                  <a:pt x="34284" y="146374"/>
                </a:lnTo>
                <a:cubicBezTo>
                  <a:pt x="33844" y="149170"/>
                  <a:pt x="35006" y="151998"/>
                  <a:pt x="37300" y="153664"/>
                </a:cubicBezTo>
                <a:cubicBezTo>
                  <a:pt x="39594" y="155329"/>
                  <a:pt x="42611" y="155581"/>
                  <a:pt x="45156" y="154292"/>
                </a:cubicBezTo>
                <a:lnTo>
                  <a:pt x="90533" y="131227"/>
                </a:lnTo>
                <a:lnTo>
                  <a:pt x="135878" y="154292"/>
                </a:lnTo>
                <a:cubicBezTo>
                  <a:pt x="138392" y="155581"/>
                  <a:pt x="141440" y="155329"/>
                  <a:pt x="143734" y="153664"/>
                </a:cubicBezTo>
                <a:cubicBezTo>
                  <a:pt x="146028" y="151998"/>
                  <a:pt x="147191" y="149202"/>
                  <a:pt x="146751" y="146374"/>
                </a:cubicBezTo>
                <a:lnTo>
                  <a:pt x="138800" y="96126"/>
                </a:lnTo>
                <a:lnTo>
                  <a:pt x="174750" y="60146"/>
                </a:lnTo>
                <a:cubicBezTo>
                  <a:pt x="176761" y="58135"/>
                  <a:pt x="177452" y="55181"/>
                  <a:pt x="176572" y="52478"/>
                </a:cubicBezTo>
                <a:cubicBezTo>
                  <a:pt x="175692" y="49776"/>
                  <a:pt x="173398" y="47796"/>
                  <a:pt x="170570" y="47356"/>
                </a:cubicBezTo>
                <a:lnTo>
                  <a:pt x="120354" y="39374"/>
                </a:lnTo>
                <a:lnTo>
                  <a:pt x="97258" y="-593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706135" y="3307214"/>
            <a:ext cx="5237912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XGBoost?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551" y="3664751"/>
            <a:ext cx="5363050" cy="607812"/>
          </a:xfrm>
          <a:custGeom>
            <a:avLst/>
            <a:gdLst/>
            <a:ahLst/>
            <a:cxnLst/>
            <a:rect l="l" t="t" r="r" b="b"/>
            <a:pathLst>
              <a:path w="5363050" h="607812">
                <a:moveTo>
                  <a:pt x="35752" y="0"/>
                </a:moveTo>
                <a:lnTo>
                  <a:pt x="5327298" y="0"/>
                </a:lnTo>
                <a:cubicBezTo>
                  <a:pt x="5347043" y="0"/>
                  <a:pt x="5363050" y="16007"/>
                  <a:pt x="5363050" y="35752"/>
                </a:cubicBezTo>
                <a:lnTo>
                  <a:pt x="5363050" y="572061"/>
                </a:lnTo>
                <a:cubicBezTo>
                  <a:pt x="5363050" y="591806"/>
                  <a:pt x="5347043" y="607812"/>
                  <a:pt x="5327298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214" y="3789889"/>
            <a:ext cx="140780" cy="160891"/>
          </a:xfrm>
          <a:custGeom>
            <a:avLst/>
            <a:gdLst/>
            <a:ahLst/>
            <a:cxnLst/>
            <a:rect l="l" t="t" r="r" b="b"/>
            <a:pathLst>
              <a:path w="140780" h="160891">
                <a:moveTo>
                  <a:pt x="80446" y="50279"/>
                </a:moveTo>
                <a:lnTo>
                  <a:pt x="80446" y="80446"/>
                </a:lnTo>
                <a:lnTo>
                  <a:pt x="120669" y="80446"/>
                </a:lnTo>
                <a:lnTo>
                  <a:pt x="120669" y="50279"/>
                </a:lnTo>
                <a:lnTo>
                  <a:pt x="80446" y="50279"/>
                </a:lnTo>
                <a:close/>
                <a:moveTo>
                  <a:pt x="60334" y="50279"/>
                </a:moveTo>
                <a:lnTo>
                  <a:pt x="20111" y="50279"/>
                </a:lnTo>
                <a:lnTo>
                  <a:pt x="20111" y="80446"/>
                </a:lnTo>
                <a:lnTo>
                  <a:pt x="60334" y="80446"/>
                </a:lnTo>
                <a:lnTo>
                  <a:pt x="60334" y="50279"/>
                </a:lnTo>
                <a:close/>
                <a:moveTo>
                  <a:pt x="0" y="100557"/>
                </a:moveTo>
                <a:lnTo>
                  <a:pt x="0" y="30167"/>
                </a:lnTo>
                <a:cubicBezTo>
                  <a:pt x="0" y="19074"/>
                  <a:pt x="9019" y="10056"/>
                  <a:pt x="20111" y="10056"/>
                </a:cubicBezTo>
                <a:lnTo>
                  <a:pt x="120669" y="10056"/>
                </a:lnTo>
                <a:cubicBezTo>
                  <a:pt x="131761" y="10056"/>
                  <a:pt x="140780" y="19074"/>
                  <a:pt x="140780" y="30167"/>
                </a:cubicBezTo>
                <a:lnTo>
                  <a:pt x="140780" y="130724"/>
                </a:lnTo>
                <a:cubicBezTo>
                  <a:pt x="140780" y="141817"/>
                  <a:pt x="131761" y="150836"/>
                  <a:pt x="120669" y="150836"/>
                </a:cubicBezTo>
                <a:lnTo>
                  <a:pt x="20111" y="150836"/>
                </a:lnTo>
                <a:cubicBezTo>
                  <a:pt x="9019" y="150836"/>
                  <a:pt x="0" y="141817"/>
                  <a:pt x="0" y="130724"/>
                </a:cubicBezTo>
                <a:lnTo>
                  <a:pt x="0" y="100557"/>
                </a:lnTo>
                <a:close/>
                <a:moveTo>
                  <a:pt x="120669" y="100557"/>
                </a:moveTo>
                <a:lnTo>
                  <a:pt x="80446" y="100557"/>
                </a:lnTo>
                <a:lnTo>
                  <a:pt x="80446" y="130724"/>
                </a:lnTo>
                <a:lnTo>
                  <a:pt x="120669" y="130724"/>
                </a:lnTo>
                <a:lnTo>
                  <a:pt x="120669" y="100557"/>
                </a:lnTo>
                <a:close/>
                <a:moveTo>
                  <a:pt x="60334" y="130724"/>
                </a:moveTo>
                <a:lnTo>
                  <a:pt x="60334" y="100557"/>
                </a:lnTo>
                <a:lnTo>
                  <a:pt x="20111" y="100557"/>
                </a:lnTo>
                <a:lnTo>
                  <a:pt x="20111" y="130724"/>
                </a:lnTo>
                <a:lnTo>
                  <a:pt x="60334" y="13072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916188" y="3772012"/>
            <a:ext cx="330721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Tabular Data Excellence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6188" y="3986534"/>
            <a:ext cx="329827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DF2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Efficiently handles structured data with mixed feature types.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0551" y="4379824"/>
            <a:ext cx="5363050" cy="607812"/>
          </a:xfrm>
          <a:custGeom>
            <a:avLst/>
            <a:gdLst/>
            <a:ahLst/>
            <a:cxnLst/>
            <a:rect l="l" t="t" r="r" b="b"/>
            <a:pathLst>
              <a:path w="5363050" h="607812">
                <a:moveTo>
                  <a:pt x="35752" y="0"/>
                </a:moveTo>
                <a:lnTo>
                  <a:pt x="5327298" y="0"/>
                </a:lnTo>
                <a:cubicBezTo>
                  <a:pt x="5347043" y="0"/>
                  <a:pt x="5363050" y="16007"/>
                  <a:pt x="5363050" y="35752"/>
                </a:cubicBezTo>
                <a:lnTo>
                  <a:pt x="5363050" y="572061"/>
                </a:lnTo>
                <a:cubicBezTo>
                  <a:pt x="5363050" y="591806"/>
                  <a:pt x="5347043" y="607812"/>
                  <a:pt x="5327298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0158" y="4504962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0" y="25139"/>
                </a:moveTo>
                <a:cubicBezTo>
                  <a:pt x="0" y="16812"/>
                  <a:pt x="6756" y="10056"/>
                  <a:pt x="15084" y="10056"/>
                </a:cubicBezTo>
                <a:lnTo>
                  <a:pt x="45251" y="10056"/>
                </a:lnTo>
                <a:cubicBezTo>
                  <a:pt x="53578" y="10056"/>
                  <a:pt x="60334" y="16812"/>
                  <a:pt x="60334" y="25139"/>
                </a:cubicBezTo>
                <a:lnTo>
                  <a:pt x="60334" y="30167"/>
                </a:lnTo>
                <a:lnTo>
                  <a:pt x="100557" y="30167"/>
                </a:lnTo>
                <a:lnTo>
                  <a:pt x="100557" y="25139"/>
                </a:lnTo>
                <a:cubicBezTo>
                  <a:pt x="100557" y="16812"/>
                  <a:pt x="107313" y="10056"/>
                  <a:pt x="115641" y="10056"/>
                </a:cubicBezTo>
                <a:lnTo>
                  <a:pt x="145808" y="10056"/>
                </a:lnTo>
                <a:cubicBezTo>
                  <a:pt x="154135" y="10056"/>
                  <a:pt x="160891" y="16812"/>
                  <a:pt x="160891" y="25139"/>
                </a:cubicBezTo>
                <a:lnTo>
                  <a:pt x="160891" y="55306"/>
                </a:lnTo>
                <a:cubicBezTo>
                  <a:pt x="160891" y="63634"/>
                  <a:pt x="154135" y="70390"/>
                  <a:pt x="145808" y="70390"/>
                </a:cubicBezTo>
                <a:lnTo>
                  <a:pt x="115641" y="70390"/>
                </a:lnTo>
                <a:cubicBezTo>
                  <a:pt x="107313" y="70390"/>
                  <a:pt x="100557" y="63634"/>
                  <a:pt x="100557" y="55306"/>
                </a:cubicBezTo>
                <a:lnTo>
                  <a:pt x="100557" y="50279"/>
                </a:lnTo>
                <a:lnTo>
                  <a:pt x="60334" y="50279"/>
                </a:lnTo>
                <a:lnTo>
                  <a:pt x="60334" y="55306"/>
                </a:lnTo>
                <a:cubicBezTo>
                  <a:pt x="60334" y="57600"/>
                  <a:pt x="59800" y="59800"/>
                  <a:pt x="58889" y="61748"/>
                </a:cubicBezTo>
                <a:lnTo>
                  <a:pt x="80446" y="90501"/>
                </a:lnTo>
                <a:lnTo>
                  <a:pt x="105585" y="90501"/>
                </a:lnTo>
                <a:cubicBezTo>
                  <a:pt x="113912" y="90501"/>
                  <a:pt x="120669" y="97258"/>
                  <a:pt x="120669" y="105585"/>
                </a:cubicBezTo>
                <a:lnTo>
                  <a:pt x="120669" y="135752"/>
                </a:lnTo>
                <a:cubicBezTo>
                  <a:pt x="120669" y="144080"/>
                  <a:pt x="113912" y="150836"/>
                  <a:pt x="105585" y="150836"/>
                </a:cubicBezTo>
                <a:lnTo>
                  <a:pt x="75418" y="150836"/>
                </a:lnTo>
                <a:cubicBezTo>
                  <a:pt x="67090" y="150836"/>
                  <a:pt x="60334" y="144080"/>
                  <a:pt x="60334" y="135752"/>
                </a:cubicBezTo>
                <a:lnTo>
                  <a:pt x="60334" y="105585"/>
                </a:lnTo>
                <a:cubicBezTo>
                  <a:pt x="60334" y="103291"/>
                  <a:pt x="60869" y="101091"/>
                  <a:pt x="61780" y="99143"/>
                </a:cubicBezTo>
                <a:lnTo>
                  <a:pt x="40223" y="70390"/>
                </a:lnTo>
                <a:lnTo>
                  <a:pt x="15084" y="70390"/>
                </a:lnTo>
                <a:cubicBezTo>
                  <a:pt x="6756" y="70390"/>
                  <a:pt x="0" y="63634"/>
                  <a:pt x="0" y="55306"/>
                </a:cubicBezTo>
                <a:lnTo>
                  <a:pt x="0" y="2513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916188" y="4487085"/>
            <a:ext cx="2726217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Nonlinear Relationships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6188" y="4701607"/>
            <a:ext cx="2717279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DF2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complex interactions between features.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551" y="5094897"/>
            <a:ext cx="5363050" cy="607812"/>
          </a:xfrm>
          <a:custGeom>
            <a:avLst/>
            <a:gdLst/>
            <a:ahLst/>
            <a:cxnLst/>
            <a:rect l="l" t="t" r="r" b="b"/>
            <a:pathLst>
              <a:path w="5363050" h="607812">
                <a:moveTo>
                  <a:pt x="35752" y="0"/>
                </a:moveTo>
                <a:lnTo>
                  <a:pt x="5327298" y="0"/>
                </a:lnTo>
                <a:cubicBezTo>
                  <a:pt x="5347043" y="0"/>
                  <a:pt x="5363050" y="16007"/>
                  <a:pt x="5363050" y="35752"/>
                </a:cubicBezTo>
                <a:lnTo>
                  <a:pt x="5363050" y="572061"/>
                </a:lnTo>
                <a:cubicBezTo>
                  <a:pt x="5363050" y="591806"/>
                  <a:pt x="5347043" y="607812"/>
                  <a:pt x="5327298" y="607812"/>
                </a:cubicBezTo>
                <a:lnTo>
                  <a:pt x="35752" y="607812"/>
                </a:lnTo>
                <a:cubicBezTo>
                  <a:pt x="16007" y="607812"/>
                  <a:pt x="0" y="591806"/>
                  <a:pt x="0" y="572061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1A1D24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0158" y="5220035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45345" y="0"/>
                </a:moveTo>
                <a:lnTo>
                  <a:pt x="115735" y="0"/>
                </a:lnTo>
                <a:cubicBezTo>
                  <a:pt x="124062" y="0"/>
                  <a:pt x="130850" y="6850"/>
                  <a:pt x="130536" y="15146"/>
                </a:cubicBezTo>
                <a:cubicBezTo>
                  <a:pt x="130473" y="16812"/>
                  <a:pt x="130410" y="18477"/>
                  <a:pt x="130316" y="20111"/>
                </a:cubicBezTo>
                <a:lnTo>
                  <a:pt x="145902" y="20111"/>
                </a:lnTo>
                <a:cubicBezTo>
                  <a:pt x="154104" y="20111"/>
                  <a:pt x="161331" y="26899"/>
                  <a:pt x="160703" y="35761"/>
                </a:cubicBezTo>
                <a:cubicBezTo>
                  <a:pt x="158346" y="68347"/>
                  <a:pt x="141691" y="86259"/>
                  <a:pt x="123622" y="95624"/>
                </a:cubicBezTo>
                <a:cubicBezTo>
                  <a:pt x="118657" y="98200"/>
                  <a:pt x="113598" y="100117"/>
                  <a:pt x="108790" y="101531"/>
                </a:cubicBezTo>
                <a:cubicBezTo>
                  <a:pt x="102443" y="110519"/>
                  <a:pt x="95844" y="115264"/>
                  <a:pt x="90596" y="117809"/>
                </a:cubicBezTo>
                <a:lnTo>
                  <a:pt x="90596" y="140780"/>
                </a:lnTo>
                <a:lnTo>
                  <a:pt x="110707" y="140780"/>
                </a:lnTo>
                <a:cubicBezTo>
                  <a:pt x="116269" y="140780"/>
                  <a:pt x="120763" y="145274"/>
                  <a:pt x="120763" y="150836"/>
                </a:cubicBezTo>
                <a:cubicBezTo>
                  <a:pt x="120763" y="156398"/>
                  <a:pt x="116269" y="160891"/>
                  <a:pt x="110707" y="160891"/>
                </a:cubicBezTo>
                <a:lnTo>
                  <a:pt x="50373" y="160891"/>
                </a:lnTo>
                <a:cubicBezTo>
                  <a:pt x="44811" y="160891"/>
                  <a:pt x="40317" y="156398"/>
                  <a:pt x="40317" y="150836"/>
                </a:cubicBezTo>
                <a:cubicBezTo>
                  <a:pt x="40317" y="145274"/>
                  <a:pt x="44811" y="140780"/>
                  <a:pt x="50373" y="140780"/>
                </a:cubicBezTo>
                <a:lnTo>
                  <a:pt x="70484" y="140780"/>
                </a:lnTo>
                <a:lnTo>
                  <a:pt x="70484" y="117809"/>
                </a:lnTo>
                <a:cubicBezTo>
                  <a:pt x="65456" y="115389"/>
                  <a:pt x="59203" y="110896"/>
                  <a:pt x="53107" y="102631"/>
                </a:cubicBezTo>
                <a:cubicBezTo>
                  <a:pt x="47325" y="101123"/>
                  <a:pt x="41040" y="98829"/>
                  <a:pt x="34912" y="95372"/>
                </a:cubicBezTo>
                <a:cubicBezTo>
                  <a:pt x="17912" y="85851"/>
                  <a:pt x="2577" y="67908"/>
                  <a:pt x="377" y="35698"/>
                </a:cubicBezTo>
                <a:cubicBezTo>
                  <a:pt x="-220" y="26868"/>
                  <a:pt x="6976" y="20080"/>
                  <a:pt x="15178" y="20080"/>
                </a:cubicBezTo>
                <a:lnTo>
                  <a:pt x="30764" y="20080"/>
                </a:lnTo>
                <a:cubicBezTo>
                  <a:pt x="30670" y="18446"/>
                  <a:pt x="30607" y="16812"/>
                  <a:pt x="30544" y="15115"/>
                </a:cubicBezTo>
                <a:cubicBezTo>
                  <a:pt x="30230" y="6788"/>
                  <a:pt x="37018" y="-31"/>
                  <a:pt x="45345" y="-31"/>
                </a:cubicBezTo>
                <a:close/>
                <a:moveTo>
                  <a:pt x="31895" y="35195"/>
                </a:moveTo>
                <a:lnTo>
                  <a:pt x="15429" y="35195"/>
                </a:lnTo>
                <a:cubicBezTo>
                  <a:pt x="17378" y="61811"/>
                  <a:pt x="29602" y="75135"/>
                  <a:pt x="42203" y="82205"/>
                </a:cubicBezTo>
                <a:cubicBezTo>
                  <a:pt x="37678" y="70484"/>
                  <a:pt x="33938" y="55181"/>
                  <a:pt x="31895" y="35195"/>
                </a:cubicBezTo>
                <a:close/>
                <a:moveTo>
                  <a:pt x="119412" y="80697"/>
                </a:moveTo>
                <a:cubicBezTo>
                  <a:pt x="132138" y="73218"/>
                  <a:pt x="143640" y="59926"/>
                  <a:pt x="145588" y="35195"/>
                </a:cubicBezTo>
                <a:lnTo>
                  <a:pt x="129153" y="35195"/>
                </a:lnTo>
                <a:cubicBezTo>
                  <a:pt x="127205" y="54332"/>
                  <a:pt x="123685" y="69196"/>
                  <a:pt x="119412" y="8069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916188" y="5202158"/>
            <a:ext cx="3360845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Performance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6188" y="5416680"/>
            <a:ext cx="335190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DF2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ranks among top algorithms in ML competitions.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6949" y="1265307"/>
            <a:ext cx="5638353" cy="3081966"/>
          </a:xfrm>
          <a:custGeom>
            <a:avLst/>
            <a:gdLst/>
            <a:ahLst/>
            <a:cxnLst/>
            <a:rect l="l" t="t" r="r" b="b"/>
            <a:pathLst>
              <a:path w="5638353" h="3081966">
                <a:moveTo>
                  <a:pt x="71502" y="0"/>
                </a:moveTo>
                <a:lnTo>
                  <a:pt x="5566851" y="0"/>
                </a:lnTo>
                <a:cubicBezTo>
                  <a:pt x="5606341" y="0"/>
                  <a:pt x="5638353" y="32012"/>
                  <a:pt x="5638353" y="71502"/>
                </a:cubicBezTo>
                <a:lnTo>
                  <a:pt x="5638353" y="3010464"/>
                </a:lnTo>
                <a:cubicBezTo>
                  <a:pt x="5638353" y="3049954"/>
                  <a:pt x="5606341" y="3081966"/>
                  <a:pt x="5566851" y="3081966"/>
                </a:cubicBezTo>
                <a:lnTo>
                  <a:pt x="71502" y="3081966"/>
                </a:lnTo>
                <a:cubicBezTo>
                  <a:pt x="32012" y="3081966"/>
                  <a:pt x="0" y="3049954"/>
                  <a:pt x="0" y="3010464"/>
                </a:cubicBezTo>
                <a:lnTo>
                  <a:pt x="0" y="71502"/>
                </a:lnTo>
                <a:cubicBezTo>
                  <a:pt x="0" y="32039"/>
                  <a:pt x="32039" y="0"/>
                  <a:pt x="71502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885" y="1456590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10056" y="20111"/>
                </a:moveTo>
                <a:cubicBezTo>
                  <a:pt x="4494" y="20111"/>
                  <a:pt x="0" y="24605"/>
                  <a:pt x="0" y="30167"/>
                </a:cubicBezTo>
                <a:cubicBezTo>
                  <a:pt x="0" y="35729"/>
                  <a:pt x="4494" y="40223"/>
                  <a:pt x="10056" y="40223"/>
                </a:cubicBezTo>
                <a:lnTo>
                  <a:pt x="37300" y="40223"/>
                </a:lnTo>
                <a:cubicBezTo>
                  <a:pt x="41166" y="49116"/>
                  <a:pt x="50027" y="55306"/>
                  <a:pt x="60334" y="55306"/>
                </a:cubicBezTo>
                <a:cubicBezTo>
                  <a:pt x="70641" y="55306"/>
                  <a:pt x="79503" y="49116"/>
                  <a:pt x="83368" y="40223"/>
                </a:cubicBezTo>
                <a:lnTo>
                  <a:pt x="150836" y="40223"/>
                </a:lnTo>
                <a:cubicBezTo>
                  <a:pt x="156398" y="40223"/>
                  <a:pt x="160891" y="35729"/>
                  <a:pt x="160891" y="30167"/>
                </a:cubicBezTo>
                <a:cubicBezTo>
                  <a:pt x="160891" y="24605"/>
                  <a:pt x="156398" y="20111"/>
                  <a:pt x="150836" y="20111"/>
                </a:cubicBezTo>
                <a:lnTo>
                  <a:pt x="83368" y="20111"/>
                </a:lnTo>
                <a:cubicBezTo>
                  <a:pt x="79503" y="11218"/>
                  <a:pt x="70641" y="5028"/>
                  <a:pt x="60334" y="5028"/>
                </a:cubicBezTo>
                <a:cubicBezTo>
                  <a:pt x="50027" y="5028"/>
                  <a:pt x="41166" y="11218"/>
                  <a:pt x="37300" y="20111"/>
                </a:cubicBezTo>
                <a:lnTo>
                  <a:pt x="10056" y="20111"/>
                </a:lnTo>
                <a:close/>
                <a:moveTo>
                  <a:pt x="10056" y="70390"/>
                </a:moveTo>
                <a:cubicBezTo>
                  <a:pt x="4494" y="70390"/>
                  <a:pt x="0" y="74884"/>
                  <a:pt x="0" y="80446"/>
                </a:cubicBezTo>
                <a:cubicBezTo>
                  <a:pt x="0" y="86008"/>
                  <a:pt x="4494" y="90501"/>
                  <a:pt x="10056" y="90501"/>
                </a:cubicBezTo>
                <a:lnTo>
                  <a:pt x="87579" y="90501"/>
                </a:lnTo>
                <a:cubicBezTo>
                  <a:pt x="91444" y="99394"/>
                  <a:pt x="100306" y="105585"/>
                  <a:pt x="110613" y="105585"/>
                </a:cubicBezTo>
                <a:cubicBezTo>
                  <a:pt x="120920" y="105585"/>
                  <a:pt x="129782" y="99394"/>
                  <a:pt x="133647" y="90501"/>
                </a:cubicBezTo>
                <a:lnTo>
                  <a:pt x="150836" y="90501"/>
                </a:lnTo>
                <a:cubicBezTo>
                  <a:pt x="156398" y="90501"/>
                  <a:pt x="160891" y="86008"/>
                  <a:pt x="160891" y="80446"/>
                </a:cubicBezTo>
                <a:cubicBezTo>
                  <a:pt x="160891" y="74884"/>
                  <a:pt x="156398" y="70390"/>
                  <a:pt x="150836" y="70390"/>
                </a:cubicBezTo>
                <a:lnTo>
                  <a:pt x="133647" y="70390"/>
                </a:lnTo>
                <a:cubicBezTo>
                  <a:pt x="129782" y="61497"/>
                  <a:pt x="120920" y="55306"/>
                  <a:pt x="110613" y="55306"/>
                </a:cubicBezTo>
                <a:cubicBezTo>
                  <a:pt x="100306" y="55306"/>
                  <a:pt x="91444" y="61497"/>
                  <a:pt x="87579" y="70390"/>
                </a:cubicBezTo>
                <a:lnTo>
                  <a:pt x="10056" y="70390"/>
                </a:lnTo>
                <a:close/>
                <a:moveTo>
                  <a:pt x="10056" y="120669"/>
                </a:moveTo>
                <a:cubicBezTo>
                  <a:pt x="4494" y="120669"/>
                  <a:pt x="0" y="125162"/>
                  <a:pt x="0" y="130724"/>
                </a:cubicBezTo>
                <a:cubicBezTo>
                  <a:pt x="0" y="136286"/>
                  <a:pt x="4494" y="140780"/>
                  <a:pt x="10056" y="140780"/>
                </a:cubicBezTo>
                <a:lnTo>
                  <a:pt x="27245" y="140780"/>
                </a:lnTo>
                <a:cubicBezTo>
                  <a:pt x="31110" y="149673"/>
                  <a:pt x="39971" y="155864"/>
                  <a:pt x="50279" y="155864"/>
                </a:cubicBezTo>
                <a:cubicBezTo>
                  <a:pt x="60586" y="155864"/>
                  <a:pt x="69447" y="149673"/>
                  <a:pt x="73312" y="140780"/>
                </a:cubicBezTo>
                <a:lnTo>
                  <a:pt x="150836" y="140780"/>
                </a:lnTo>
                <a:cubicBezTo>
                  <a:pt x="156398" y="140780"/>
                  <a:pt x="160891" y="136286"/>
                  <a:pt x="160891" y="130724"/>
                </a:cubicBezTo>
                <a:cubicBezTo>
                  <a:pt x="160891" y="125162"/>
                  <a:pt x="156398" y="120669"/>
                  <a:pt x="150836" y="120669"/>
                </a:cubicBezTo>
                <a:lnTo>
                  <a:pt x="73312" y="120669"/>
                </a:lnTo>
                <a:cubicBezTo>
                  <a:pt x="69447" y="111776"/>
                  <a:pt x="60586" y="105585"/>
                  <a:pt x="50279" y="105585"/>
                </a:cubicBezTo>
                <a:cubicBezTo>
                  <a:pt x="39971" y="105585"/>
                  <a:pt x="31110" y="111776"/>
                  <a:pt x="27245" y="120669"/>
                </a:cubicBezTo>
                <a:lnTo>
                  <a:pt x="10056" y="12066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6539122" y="1411898"/>
            <a:ext cx="522003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Hyperparameters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3539" y="1769437"/>
            <a:ext cx="5345173" cy="429044"/>
          </a:xfrm>
          <a:custGeom>
            <a:avLst/>
            <a:gdLst/>
            <a:ahLst/>
            <a:cxnLst/>
            <a:rect l="l" t="t" r="r" b="b"/>
            <a:pathLst>
              <a:path w="5345173" h="429044">
                <a:moveTo>
                  <a:pt x="35752" y="0"/>
                </a:moveTo>
                <a:lnTo>
                  <a:pt x="5309421" y="0"/>
                </a:lnTo>
                <a:cubicBezTo>
                  <a:pt x="5329166" y="0"/>
                  <a:pt x="5345173" y="16007"/>
                  <a:pt x="5345173" y="35752"/>
                </a:cubicBezTo>
                <a:lnTo>
                  <a:pt x="5345173" y="393292"/>
                </a:lnTo>
                <a:cubicBezTo>
                  <a:pt x="5345173" y="413037"/>
                  <a:pt x="5329166" y="429044"/>
                  <a:pt x="5309421" y="429044"/>
                </a:cubicBezTo>
                <a:lnTo>
                  <a:pt x="35752" y="429044"/>
                </a:lnTo>
                <a:cubicBezTo>
                  <a:pt x="16007" y="429044"/>
                  <a:pt x="0" y="413037"/>
                  <a:pt x="0" y="393292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40800" y="1894574"/>
            <a:ext cx="884903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n_estimators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37040" y="1876698"/>
            <a:ext cx="303906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3539" y="2269988"/>
            <a:ext cx="5345173" cy="429044"/>
          </a:xfrm>
          <a:custGeom>
            <a:avLst/>
            <a:gdLst/>
            <a:ahLst/>
            <a:cxnLst/>
            <a:rect l="l" t="t" r="r" b="b"/>
            <a:pathLst>
              <a:path w="5345173" h="429044">
                <a:moveTo>
                  <a:pt x="35752" y="0"/>
                </a:moveTo>
                <a:lnTo>
                  <a:pt x="5309421" y="0"/>
                </a:lnTo>
                <a:cubicBezTo>
                  <a:pt x="5329166" y="0"/>
                  <a:pt x="5345173" y="16007"/>
                  <a:pt x="5345173" y="35752"/>
                </a:cubicBezTo>
                <a:lnTo>
                  <a:pt x="5345173" y="393292"/>
                </a:lnTo>
                <a:cubicBezTo>
                  <a:pt x="5345173" y="413037"/>
                  <a:pt x="5329166" y="429044"/>
                  <a:pt x="5309421" y="429044"/>
                </a:cubicBezTo>
                <a:lnTo>
                  <a:pt x="35752" y="429044"/>
                </a:lnTo>
                <a:cubicBezTo>
                  <a:pt x="16007" y="429044"/>
                  <a:pt x="0" y="413037"/>
                  <a:pt x="0" y="393292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40800" y="2395126"/>
            <a:ext cx="67932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max_depth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494357" y="2377249"/>
            <a:ext cx="151953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3539" y="2770539"/>
            <a:ext cx="5345173" cy="429044"/>
          </a:xfrm>
          <a:custGeom>
            <a:avLst/>
            <a:gdLst/>
            <a:ahLst/>
            <a:cxnLst/>
            <a:rect l="l" t="t" r="r" b="b"/>
            <a:pathLst>
              <a:path w="5345173" h="429044">
                <a:moveTo>
                  <a:pt x="35752" y="0"/>
                </a:moveTo>
                <a:lnTo>
                  <a:pt x="5309421" y="0"/>
                </a:lnTo>
                <a:cubicBezTo>
                  <a:pt x="5329166" y="0"/>
                  <a:pt x="5345173" y="16007"/>
                  <a:pt x="5345173" y="35752"/>
                </a:cubicBezTo>
                <a:lnTo>
                  <a:pt x="5345173" y="393292"/>
                </a:lnTo>
                <a:cubicBezTo>
                  <a:pt x="5345173" y="413037"/>
                  <a:pt x="5329166" y="429044"/>
                  <a:pt x="5309421" y="429044"/>
                </a:cubicBezTo>
                <a:lnTo>
                  <a:pt x="35752" y="429044"/>
                </a:lnTo>
                <a:cubicBezTo>
                  <a:pt x="16007" y="429044"/>
                  <a:pt x="0" y="413037"/>
                  <a:pt x="0" y="393292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40800" y="2895677"/>
            <a:ext cx="956411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learning_rate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58494" y="2877800"/>
            <a:ext cx="384352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3539" y="3271091"/>
            <a:ext cx="5345173" cy="429044"/>
          </a:xfrm>
          <a:custGeom>
            <a:avLst/>
            <a:gdLst/>
            <a:ahLst/>
            <a:cxnLst/>
            <a:rect l="l" t="t" r="r" b="b"/>
            <a:pathLst>
              <a:path w="5345173" h="429044">
                <a:moveTo>
                  <a:pt x="35752" y="0"/>
                </a:moveTo>
                <a:lnTo>
                  <a:pt x="5309421" y="0"/>
                </a:lnTo>
                <a:cubicBezTo>
                  <a:pt x="5329166" y="0"/>
                  <a:pt x="5345173" y="16007"/>
                  <a:pt x="5345173" y="35752"/>
                </a:cubicBezTo>
                <a:lnTo>
                  <a:pt x="5345173" y="393292"/>
                </a:lnTo>
                <a:cubicBezTo>
                  <a:pt x="5345173" y="413037"/>
                  <a:pt x="5329166" y="429044"/>
                  <a:pt x="5309421" y="429044"/>
                </a:cubicBezTo>
                <a:lnTo>
                  <a:pt x="35752" y="429044"/>
                </a:lnTo>
                <a:cubicBezTo>
                  <a:pt x="16007" y="429044"/>
                  <a:pt x="0" y="413037"/>
                  <a:pt x="0" y="393292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40800" y="3396228"/>
            <a:ext cx="67932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subsample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337040" y="3378352"/>
            <a:ext cx="303906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3539" y="3771642"/>
            <a:ext cx="5345173" cy="429044"/>
          </a:xfrm>
          <a:custGeom>
            <a:avLst/>
            <a:gdLst/>
            <a:ahLst/>
            <a:cxnLst/>
            <a:rect l="l" t="t" r="r" b="b"/>
            <a:pathLst>
              <a:path w="5345173" h="429044">
                <a:moveTo>
                  <a:pt x="35752" y="0"/>
                </a:moveTo>
                <a:lnTo>
                  <a:pt x="5309421" y="0"/>
                </a:lnTo>
                <a:cubicBezTo>
                  <a:pt x="5329166" y="0"/>
                  <a:pt x="5345173" y="16007"/>
                  <a:pt x="5345173" y="35752"/>
                </a:cubicBezTo>
                <a:lnTo>
                  <a:pt x="5345173" y="393292"/>
                </a:lnTo>
                <a:cubicBezTo>
                  <a:pt x="5345173" y="413037"/>
                  <a:pt x="5329166" y="429044"/>
                  <a:pt x="5309421" y="429044"/>
                </a:cubicBezTo>
                <a:lnTo>
                  <a:pt x="35752" y="429044"/>
                </a:lnTo>
                <a:cubicBezTo>
                  <a:pt x="16007" y="429044"/>
                  <a:pt x="0" y="413037"/>
                  <a:pt x="0" y="393292"/>
                </a:cubicBezTo>
                <a:lnTo>
                  <a:pt x="0" y="35752"/>
                </a:lnTo>
                <a:cubicBezTo>
                  <a:pt x="0" y="16007"/>
                  <a:pt x="16007" y="0"/>
                  <a:pt x="3575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40800" y="3896780"/>
            <a:ext cx="1161994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colsample_bytree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37040" y="3878903"/>
            <a:ext cx="303906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83373" y="4455764"/>
            <a:ext cx="5649079" cy="2332927"/>
          </a:xfrm>
          <a:custGeom>
            <a:avLst/>
            <a:gdLst/>
            <a:ahLst/>
            <a:cxnLst/>
            <a:rect l="l" t="t" r="r" b="b"/>
            <a:pathLst>
              <a:path w="5649079" h="2332927">
                <a:moveTo>
                  <a:pt x="71504" y="0"/>
                </a:moveTo>
                <a:lnTo>
                  <a:pt x="5577575" y="0"/>
                </a:lnTo>
                <a:cubicBezTo>
                  <a:pt x="5617066" y="0"/>
                  <a:pt x="5649079" y="32014"/>
                  <a:pt x="5649079" y="71504"/>
                </a:cubicBezTo>
                <a:lnTo>
                  <a:pt x="5649079" y="2261422"/>
                </a:lnTo>
                <a:cubicBezTo>
                  <a:pt x="5649079" y="2300913"/>
                  <a:pt x="5617066" y="2332927"/>
                  <a:pt x="5577575" y="2332927"/>
                </a:cubicBezTo>
                <a:lnTo>
                  <a:pt x="71504" y="2332927"/>
                </a:lnTo>
                <a:cubicBezTo>
                  <a:pt x="32014" y="2332927"/>
                  <a:pt x="0" y="2300913"/>
                  <a:pt x="0" y="2261422"/>
                </a:cubicBezTo>
                <a:lnTo>
                  <a:pt x="0" y="71504"/>
                </a:lnTo>
                <a:cubicBezTo>
                  <a:pt x="0" y="32014"/>
                  <a:pt x="32014" y="0"/>
                  <a:pt x="7150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pic>
        <p:nvPicPr>
          <p:cNvPr id="46" name="Image 0" descr="https://kimi-web-img.moonshot.cn/img/media.geeksforgeeks.org/38d60e47d45d07cd752cde4be98f5c7e5ebb84f3.webp"/>
          <p:cNvPicPr>
            <a:picLocks noChangeAspect="1"/>
          </p:cNvPicPr>
          <p:nvPr/>
        </p:nvPicPr>
        <p:blipFill>
          <a:blip r:embed="rId3"/>
          <a:srcRect t="34462" b="34462"/>
          <a:stretch/>
        </p:blipFill>
        <p:spPr>
          <a:xfrm>
            <a:off x="6183373" y="4455764"/>
            <a:ext cx="5649079" cy="1430147"/>
          </a:xfrm>
          <a:prstGeom prst="roundRect">
            <a:avLst>
              <a:gd name="adj" fmla="val 3065"/>
            </a:avLst>
          </a:prstGeom>
        </p:spPr>
      </p:pic>
      <p:sp>
        <p:nvSpPr>
          <p:cNvPr id="47" name="Text 44"/>
          <p:cNvSpPr/>
          <p:nvPr/>
        </p:nvSpPr>
        <p:spPr>
          <a:xfrm>
            <a:off x="6326388" y="5978126"/>
            <a:ext cx="5416680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PROCESS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326388" y="6192534"/>
            <a:ext cx="5425619" cy="41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sequentially builds trees where each new tree corrects errors made by previous trees, combining their predictions for final results.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762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3686175" cy="2324100"/>
          </a:xfrm>
          <a:custGeom>
            <a:avLst/>
            <a:gdLst/>
            <a:ahLst/>
            <a:cxnLst/>
            <a:rect l="l" t="t" r="r" b="b"/>
            <a:pathLst>
              <a:path w="3686175" h="2324100">
                <a:moveTo>
                  <a:pt x="0" y="0"/>
                </a:moveTo>
                <a:lnTo>
                  <a:pt x="3609968" y="0"/>
                </a:lnTo>
                <a:cubicBezTo>
                  <a:pt x="3652056" y="0"/>
                  <a:pt x="3686175" y="34119"/>
                  <a:pt x="3686175" y="76207"/>
                </a:cubicBezTo>
                <a:lnTo>
                  <a:pt x="3686175" y="2247893"/>
                </a:lnTo>
                <a:cubicBezTo>
                  <a:pt x="3686175" y="2289981"/>
                  <a:pt x="3652056" y="2324100"/>
                  <a:pt x="3609968" y="2324100"/>
                </a:cubicBez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606028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335" y="147909"/>
                </a:moveTo>
                <a:cubicBezTo>
                  <a:pt x="1842" y="155209"/>
                  <a:pt x="8305" y="160734"/>
                  <a:pt x="16073" y="160734"/>
                </a:cubicBezTo>
                <a:lnTo>
                  <a:pt x="133945" y="160734"/>
                </a:lnTo>
                <a:cubicBezTo>
                  <a:pt x="142819" y="160734"/>
                  <a:pt x="150019" y="153535"/>
                  <a:pt x="150019" y="144661"/>
                </a:cubicBezTo>
                <a:lnTo>
                  <a:pt x="150019" y="112514"/>
                </a:lnTo>
                <a:cubicBezTo>
                  <a:pt x="150019" y="103640"/>
                  <a:pt x="142819" y="96441"/>
                  <a:pt x="133945" y="96441"/>
                </a:cubicBezTo>
                <a:lnTo>
                  <a:pt x="117872" y="96441"/>
                </a:lnTo>
                <a:lnTo>
                  <a:pt x="117872" y="120551"/>
                </a:lnTo>
                <a:cubicBezTo>
                  <a:pt x="117872" y="125004"/>
                  <a:pt x="114289" y="128588"/>
                  <a:pt x="109835" y="128588"/>
                </a:cubicBezTo>
                <a:cubicBezTo>
                  <a:pt x="105381" y="128588"/>
                  <a:pt x="101798" y="125004"/>
                  <a:pt x="101798" y="120551"/>
                </a:cubicBezTo>
                <a:lnTo>
                  <a:pt x="101798" y="96441"/>
                </a:lnTo>
                <a:lnTo>
                  <a:pt x="80367" y="96441"/>
                </a:lnTo>
                <a:lnTo>
                  <a:pt x="80367" y="120551"/>
                </a:lnTo>
                <a:cubicBezTo>
                  <a:pt x="80367" y="125004"/>
                  <a:pt x="76784" y="128588"/>
                  <a:pt x="72330" y="128588"/>
                </a:cubicBezTo>
                <a:cubicBezTo>
                  <a:pt x="67877" y="128588"/>
                  <a:pt x="64294" y="125004"/>
                  <a:pt x="64294" y="120551"/>
                </a:cubicBezTo>
                <a:lnTo>
                  <a:pt x="64294" y="96441"/>
                </a:lnTo>
                <a:lnTo>
                  <a:pt x="40184" y="96441"/>
                </a:lnTo>
                <a:cubicBezTo>
                  <a:pt x="35730" y="96441"/>
                  <a:pt x="32147" y="92858"/>
                  <a:pt x="32147" y="88404"/>
                </a:cubicBezTo>
                <a:cubicBezTo>
                  <a:pt x="32147" y="83950"/>
                  <a:pt x="35730" y="80367"/>
                  <a:pt x="40184" y="80367"/>
                </a:cubicBezTo>
                <a:lnTo>
                  <a:pt x="64294" y="80367"/>
                </a:lnTo>
                <a:lnTo>
                  <a:pt x="64294" y="58936"/>
                </a:lnTo>
                <a:lnTo>
                  <a:pt x="40184" y="58936"/>
                </a:lnTo>
                <a:cubicBezTo>
                  <a:pt x="35730" y="58936"/>
                  <a:pt x="32147" y="55353"/>
                  <a:pt x="32147" y="50899"/>
                </a:cubicBezTo>
                <a:cubicBezTo>
                  <a:pt x="32147" y="46446"/>
                  <a:pt x="35730" y="42863"/>
                  <a:pt x="40184" y="42863"/>
                </a:cubicBezTo>
                <a:lnTo>
                  <a:pt x="64294" y="42863"/>
                </a:lnTo>
                <a:lnTo>
                  <a:pt x="64294" y="26789"/>
                </a:lnTo>
                <a:cubicBezTo>
                  <a:pt x="64294" y="17915"/>
                  <a:pt x="57094" y="10716"/>
                  <a:pt x="48220" y="10716"/>
                </a:cubicBezTo>
                <a:lnTo>
                  <a:pt x="16073" y="10716"/>
                </a:lnTo>
                <a:cubicBezTo>
                  <a:pt x="7200" y="10716"/>
                  <a:pt x="0" y="17915"/>
                  <a:pt x="0" y="26789"/>
                </a:cubicBezTo>
                <a:lnTo>
                  <a:pt x="0" y="144661"/>
                </a:lnTo>
                <a:cubicBezTo>
                  <a:pt x="0" y="145766"/>
                  <a:pt x="100" y="146871"/>
                  <a:pt x="335" y="14790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790575" y="15240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905000"/>
            <a:ext cx="3362325" cy="762000"/>
          </a:xfrm>
          <a:custGeom>
            <a:avLst/>
            <a:gdLst/>
            <a:ahLst/>
            <a:cxnLst/>
            <a:rect l="l" t="t" r="r" b="b"/>
            <a:pathLst>
              <a:path w="3362325" h="7620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723900"/>
                </a:lnTo>
                <a:cubicBezTo>
                  <a:pt x="3362325" y="744928"/>
                  <a:pt x="3345253" y="762000"/>
                  <a:pt x="33242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93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Squared Error (MSE)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47900"/>
            <a:ext cx="319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squared difference between predicted and actual values. Lower is better.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781063"/>
            <a:ext cx="3362325" cy="762000"/>
          </a:xfrm>
          <a:custGeom>
            <a:avLst/>
            <a:gdLst/>
            <a:ahLst/>
            <a:cxnLst/>
            <a:rect l="l" t="t" r="r" b="b"/>
            <a:pathLst>
              <a:path w="3362325" h="7620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723900"/>
                </a:lnTo>
                <a:cubicBezTo>
                  <a:pt x="3362325" y="744928"/>
                  <a:pt x="3345253" y="762000"/>
                  <a:pt x="33242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95363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Squared Error (RMSE)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123963"/>
            <a:ext cx="319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Square root of MSE, providing error in original units (μg/m³). More interpretable.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3851436"/>
            <a:ext cx="3703320" cy="2617470"/>
          </a:xfrm>
          <a:custGeom>
            <a:avLst/>
            <a:gdLst/>
            <a:ahLst/>
            <a:cxnLst/>
            <a:rect l="l" t="t" r="r" b="b"/>
            <a:pathLst>
              <a:path w="3703320" h="2617470">
                <a:moveTo>
                  <a:pt x="76195" y="0"/>
                </a:moveTo>
                <a:lnTo>
                  <a:pt x="3627125" y="0"/>
                </a:lnTo>
                <a:cubicBezTo>
                  <a:pt x="3669207" y="0"/>
                  <a:pt x="3703320" y="34113"/>
                  <a:pt x="3703320" y="76195"/>
                </a:cubicBezTo>
                <a:lnTo>
                  <a:pt x="3703320" y="2541275"/>
                </a:lnTo>
                <a:cubicBezTo>
                  <a:pt x="3703320" y="2583357"/>
                  <a:pt x="3669207" y="2617470"/>
                  <a:pt x="3627125" y="2617470"/>
                </a:cubicBezTo>
                <a:lnTo>
                  <a:pt x="76195" y="2617470"/>
                </a:lnTo>
                <a:cubicBezTo>
                  <a:pt x="34113" y="2617470"/>
                  <a:pt x="0" y="2583357"/>
                  <a:pt x="0" y="25412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020" y="4007644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Summary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020" y="4350544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Split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79978" y="4350544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Train / 20% Test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1020" y="4655344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45443" y="4655344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020" y="4960144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Count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7436" y="4960144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Features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1020" y="5264944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Time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57218" y="5264944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30 sec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9341" y="1379220"/>
            <a:ext cx="3691890" cy="1310640"/>
          </a:xfrm>
          <a:custGeom>
            <a:avLst/>
            <a:gdLst/>
            <a:ahLst/>
            <a:cxnLst/>
            <a:rect l="l" t="t" r="r" b="b"/>
            <a:pathLst>
              <a:path w="3691890" h="1310640">
                <a:moveTo>
                  <a:pt x="76201" y="0"/>
                </a:moveTo>
                <a:lnTo>
                  <a:pt x="3615689" y="0"/>
                </a:lnTo>
                <a:cubicBezTo>
                  <a:pt x="3657774" y="0"/>
                  <a:pt x="3691890" y="34116"/>
                  <a:pt x="3691890" y="76201"/>
                </a:cubicBezTo>
                <a:lnTo>
                  <a:pt x="3691890" y="1234439"/>
                </a:lnTo>
                <a:cubicBezTo>
                  <a:pt x="3691890" y="1276524"/>
                  <a:pt x="3657774" y="1310640"/>
                  <a:pt x="3615689" y="1310640"/>
                </a:cubicBezTo>
                <a:lnTo>
                  <a:pt x="76201" y="1310640"/>
                </a:lnTo>
                <a:cubicBezTo>
                  <a:pt x="34116" y="1310640"/>
                  <a:pt x="0" y="1276524"/>
                  <a:pt x="0" y="123443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0320">
            <a:solidFill>
              <a:srgbClr val="5E8B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4123" y="1577341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Squared Error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33161" y="1844041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18886" y="2339341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DF2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μg/m³ squared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10181" y="1379220"/>
            <a:ext cx="3691890" cy="1310640"/>
          </a:xfrm>
          <a:custGeom>
            <a:avLst/>
            <a:gdLst/>
            <a:ahLst/>
            <a:cxnLst/>
            <a:rect l="l" t="t" r="r" b="b"/>
            <a:pathLst>
              <a:path w="3691890" h="1310640">
                <a:moveTo>
                  <a:pt x="76201" y="0"/>
                </a:moveTo>
                <a:lnTo>
                  <a:pt x="3615689" y="0"/>
                </a:lnTo>
                <a:cubicBezTo>
                  <a:pt x="3657774" y="0"/>
                  <a:pt x="3691890" y="34116"/>
                  <a:pt x="3691890" y="76201"/>
                </a:cubicBezTo>
                <a:lnTo>
                  <a:pt x="3691890" y="1234439"/>
                </a:lnTo>
                <a:cubicBezTo>
                  <a:pt x="3691890" y="1276524"/>
                  <a:pt x="3657774" y="1310640"/>
                  <a:pt x="3615689" y="1310640"/>
                </a:cubicBezTo>
                <a:lnTo>
                  <a:pt x="76201" y="1310640"/>
                </a:lnTo>
                <a:cubicBezTo>
                  <a:pt x="34116" y="1310640"/>
                  <a:pt x="0" y="1276524"/>
                  <a:pt x="0" y="123443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0320">
            <a:solidFill>
              <a:srgbClr val="5E8B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4963" y="1577341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Squared Error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94000" y="1844041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9725" y="2339341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DF2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μg/m³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45531" y="2853571"/>
            <a:ext cx="7560945" cy="2712720"/>
          </a:xfrm>
          <a:custGeom>
            <a:avLst/>
            <a:gdLst/>
            <a:ahLst/>
            <a:cxnLst/>
            <a:rect l="l" t="t" r="r" b="b"/>
            <a:pathLst>
              <a:path w="7560945" h="2712720">
                <a:moveTo>
                  <a:pt x="76200" y="0"/>
                </a:moveTo>
                <a:lnTo>
                  <a:pt x="7484745" y="0"/>
                </a:lnTo>
                <a:cubicBezTo>
                  <a:pt x="7526829" y="0"/>
                  <a:pt x="7560945" y="34116"/>
                  <a:pt x="7560945" y="76200"/>
                </a:cubicBezTo>
                <a:lnTo>
                  <a:pt x="7560945" y="2636520"/>
                </a:lnTo>
                <a:cubicBezTo>
                  <a:pt x="7560945" y="2678604"/>
                  <a:pt x="7526829" y="2712720"/>
                  <a:pt x="7484745" y="2712720"/>
                </a:cubicBezTo>
                <a:lnTo>
                  <a:pt x="76200" y="2712720"/>
                </a:lnTo>
                <a:cubicBezTo>
                  <a:pt x="34116" y="2712720"/>
                  <a:pt x="0" y="2678604"/>
                  <a:pt x="0" y="26365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1741" y="3009784"/>
            <a:ext cx="7305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 vs Actual Scatter Plot</a:t>
            </a:r>
            <a:endParaRPr lang="en-US" sz="16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01741" y="3238263"/>
            <a:ext cx="7248525" cy="2171700"/>
          </a:xfrm>
          <a:prstGeom prst="roundRect">
            <a:avLst>
              <a:gd name="adj" fmla="val 0"/>
            </a:avLst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401741" y="3238263"/>
            <a:ext cx="7248525" cy="2171700"/>
          </a:xfrm>
          <a:prstGeom prst="roundRect">
            <a:avLst>
              <a:gd name="adj" fmla="val 0"/>
            </a:avLst>
          </a:prstGeom>
        </p:spPr>
      </p:pic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401741" y="3238263"/>
            <a:ext cx="7248525" cy="2171700"/>
          </a:xfrm>
          <a:prstGeom prst="roundRect">
            <a:avLst>
              <a:gd name="adj" fmla="val 0"/>
            </a:avLst>
          </a:prstGeom>
        </p:spPr>
      </p:pic>
      <p:sp>
        <p:nvSpPr>
          <p:cNvPr id="38" name="Shape 33"/>
          <p:cNvSpPr/>
          <p:nvPr/>
        </p:nvSpPr>
        <p:spPr>
          <a:xfrm>
            <a:off x="4245531" y="5727382"/>
            <a:ext cx="7560945" cy="750570"/>
          </a:xfrm>
          <a:custGeom>
            <a:avLst/>
            <a:gdLst/>
            <a:ahLst/>
            <a:cxnLst/>
            <a:rect l="l" t="t" r="r" b="b"/>
            <a:pathLst>
              <a:path w="7560945" h="750570">
                <a:moveTo>
                  <a:pt x="76198" y="0"/>
                </a:moveTo>
                <a:lnTo>
                  <a:pt x="7484747" y="0"/>
                </a:lnTo>
                <a:cubicBezTo>
                  <a:pt x="7526830" y="0"/>
                  <a:pt x="7560945" y="34115"/>
                  <a:pt x="7560945" y="76198"/>
                </a:cubicBezTo>
                <a:lnTo>
                  <a:pt x="7560945" y="674372"/>
                </a:lnTo>
                <a:cubicBezTo>
                  <a:pt x="7560945" y="716455"/>
                  <a:pt x="7526830" y="750570"/>
                  <a:pt x="7484747" y="750570"/>
                </a:cubicBezTo>
                <a:lnTo>
                  <a:pt x="76198" y="750570"/>
                </a:lnTo>
                <a:cubicBezTo>
                  <a:pt x="34115" y="750570"/>
                  <a:pt x="0" y="716455"/>
                  <a:pt x="0" y="6743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377928" y="59859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5"/>
          <p:cNvSpPr/>
          <p:nvPr/>
        </p:nvSpPr>
        <p:spPr>
          <a:xfrm>
            <a:off x="4693920" y="5883594"/>
            <a:ext cx="701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 RMSE of 1.03 μg/m³ indicates that predicted PM2.5 values are very close to actual observed values, demonstrating </a:t>
            </a:r>
            <a:r>
              <a:rPr lang="en-US" sz="1050" dirty="0">
                <a:solidFill>
                  <a:srgbClr val="EDF2F4"/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prediction accuracy 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suitable for real-world applications.</a:t>
            </a:r>
            <a:endParaRPr lang="en-US" sz="1600" dirty="0"/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3489D436-504D-F6AE-2431-21437ABD0671}"/>
              </a:ext>
            </a:extLst>
          </p:cNvPr>
          <p:cNvSpPr/>
          <p:nvPr/>
        </p:nvSpPr>
        <p:spPr>
          <a:xfrm>
            <a:off x="4257608" y="2846072"/>
            <a:ext cx="7560945" cy="2712720"/>
          </a:xfrm>
          <a:custGeom>
            <a:avLst/>
            <a:gdLst/>
            <a:ahLst/>
            <a:cxnLst/>
            <a:rect l="l" t="t" r="r" b="b"/>
            <a:pathLst>
              <a:path w="7560945" h="2712720">
                <a:moveTo>
                  <a:pt x="76200" y="0"/>
                </a:moveTo>
                <a:lnTo>
                  <a:pt x="7484745" y="0"/>
                </a:lnTo>
                <a:cubicBezTo>
                  <a:pt x="7526829" y="0"/>
                  <a:pt x="7560945" y="34116"/>
                  <a:pt x="7560945" y="76200"/>
                </a:cubicBezTo>
                <a:lnTo>
                  <a:pt x="7560945" y="2636520"/>
                </a:lnTo>
                <a:cubicBezTo>
                  <a:pt x="7560945" y="2678604"/>
                  <a:pt x="7526829" y="2712720"/>
                  <a:pt x="7484745" y="2712720"/>
                </a:cubicBezTo>
                <a:lnTo>
                  <a:pt x="76200" y="2712720"/>
                </a:lnTo>
                <a:cubicBezTo>
                  <a:pt x="34116" y="2712720"/>
                  <a:pt x="0" y="2678604"/>
                  <a:pt x="0" y="26365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0EEE518-9B03-8F2D-7496-7D9A30C932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1672" y="2867291"/>
            <a:ext cx="7534342" cy="271853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486" y="334486"/>
            <a:ext cx="50173" cy="334486"/>
          </a:xfrm>
          <a:custGeom>
            <a:avLst/>
            <a:gdLst/>
            <a:ahLst/>
            <a:cxnLst/>
            <a:rect l="l" t="t" r="r" b="b"/>
            <a:pathLst>
              <a:path w="50173" h="334486">
                <a:moveTo>
                  <a:pt x="0" y="0"/>
                </a:moveTo>
                <a:lnTo>
                  <a:pt x="50173" y="0"/>
                </a:lnTo>
                <a:lnTo>
                  <a:pt x="50173" y="334486"/>
                </a:lnTo>
                <a:lnTo>
                  <a:pt x="0" y="334486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485004" y="418107"/>
            <a:ext cx="133794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kern="0" spc="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TESTING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486" y="735868"/>
            <a:ext cx="11673547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Validation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210" y="1204148"/>
            <a:ext cx="5661169" cy="1287770"/>
          </a:xfrm>
          <a:custGeom>
            <a:avLst/>
            <a:gdLst/>
            <a:ahLst/>
            <a:cxnLst/>
            <a:rect l="l" t="t" r="r" b="b"/>
            <a:pathLst>
              <a:path w="5661169" h="1287770">
                <a:moveTo>
                  <a:pt x="0" y="0"/>
                </a:moveTo>
                <a:lnTo>
                  <a:pt x="5594269" y="0"/>
                </a:lnTo>
                <a:cubicBezTo>
                  <a:pt x="5631217" y="0"/>
                  <a:pt x="5661169" y="29952"/>
                  <a:pt x="5661169" y="66900"/>
                </a:cubicBezTo>
                <a:lnTo>
                  <a:pt x="5661169" y="1220870"/>
                </a:lnTo>
                <a:cubicBezTo>
                  <a:pt x="5661169" y="1257818"/>
                  <a:pt x="5631217" y="1287770"/>
                  <a:pt x="5594269" y="1287770"/>
                </a:cubicBezTo>
                <a:lnTo>
                  <a:pt x="0" y="128777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1210" y="1204148"/>
            <a:ext cx="33449" cy="1287770"/>
          </a:xfrm>
          <a:custGeom>
            <a:avLst/>
            <a:gdLst/>
            <a:ahLst/>
            <a:cxnLst/>
            <a:rect l="l" t="t" r="r" b="b"/>
            <a:pathLst>
              <a:path w="33449" h="1287770">
                <a:moveTo>
                  <a:pt x="0" y="0"/>
                </a:moveTo>
                <a:lnTo>
                  <a:pt x="33449" y="0"/>
                </a:lnTo>
                <a:lnTo>
                  <a:pt x="33449" y="1287770"/>
                </a:lnTo>
                <a:lnTo>
                  <a:pt x="0" y="128777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05909" y="1404840"/>
            <a:ext cx="250864" cy="250864"/>
          </a:xfrm>
          <a:custGeom>
            <a:avLst/>
            <a:gdLst/>
            <a:ahLst/>
            <a:cxnLst/>
            <a:rect l="l" t="t" r="r" b="b"/>
            <a:pathLst>
              <a:path w="250864" h="250864">
                <a:moveTo>
                  <a:pt x="125432" y="0"/>
                </a:moveTo>
                <a:cubicBezTo>
                  <a:pt x="127686" y="0"/>
                  <a:pt x="129940" y="490"/>
                  <a:pt x="131998" y="1421"/>
                </a:cubicBezTo>
                <a:lnTo>
                  <a:pt x="224308" y="40569"/>
                </a:lnTo>
                <a:cubicBezTo>
                  <a:pt x="235087" y="45126"/>
                  <a:pt x="243123" y="55758"/>
                  <a:pt x="243074" y="68596"/>
                </a:cubicBezTo>
                <a:cubicBezTo>
                  <a:pt x="242829" y="117201"/>
                  <a:pt x="222838" y="206130"/>
                  <a:pt x="138416" y="246552"/>
                </a:cubicBezTo>
                <a:cubicBezTo>
                  <a:pt x="130234" y="250472"/>
                  <a:pt x="120728" y="250472"/>
                  <a:pt x="112546" y="246552"/>
                </a:cubicBezTo>
                <a:cubicBezTo>
                  <a:pt x="28075" y="206130"/>
                  <a:pt x="8133" y="117201"/>
                  <a:pt x="7889" y="68596"/>
                </a:cubicBezTo>
                <a:cubicBezTo>
                  <a:pt x="7840" y="55758"/>
                  <a:pt x="15875" y="45126"/>
                  <a:pt x="26654" y="40569"/>
                </a:cubicBezTo>
                <a:lnTo>
                  <a:pt x="118916" y="1421"/>
                </a:lnTo>
                <a:cubicBezTo>
                  <a:pt x="120973" y="490"/>
                  <a:pt x="123178" y="0"/>
                  <a:pt x="125432" y="0"/>
                </a:cubicBezTo>
                <a:close/>
                <a:moveTo>
                  <a:pt x="125432" y="32730"/>
                </a:moveTo>
                <a:lnTo>
                  <a:pt x="125432" y="217987"/>
                </a:lnTo>
                <a:cubicBezTo>
                  <a:pt x="193048" y="185257"/>
                  <a:pt x="211226" y="112742"/>
                  <a:pt x="211667" y="69331"/>
                </a:cubicBezTo>
                <a:lnTo>
                  <a:pt x="125432" y="32779"/>
                </a:lnTo>
                <a:lnTo>
                  <a:pt x="125432" y="3277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864123" y="1371391"/>
            <a:ext cx="5067457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5-Fold Cross-Validation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23" y="1672428"/>
            <a:ext cx="5050733" cy="652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4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performed </a:t>
            </a:r>
            <a:r>
              <a:rPr lang="en-US" sz="1054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cross-validation </a:t>
            </a:r>
            <a:r>
              <a:rPr lang="en-US" sz="1054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rigorously test model robustness. This technique evaluates the model across different training and testing splits, ensuring reliable performance on unseen data.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4486" y="2625712"/>
            <a:ext cx="5677893" cy="2343804"/>
          </a:xfrm>
          <a:custGeom>
            <a:avLst/>
            <a:gdLst/>
            <a:ahLst/>
            <a:cxnLst/>
            <a:rect l="l" t="t" r="r" b="b"/>
            <a:pathLst>
              <a:path w="5677893" h="2343804">
                <a:moveTo>
                  <a:pt x="66903" y="0"/>
                </a:moveTo>
                <a:lnTo>
                  <a:pt x="5610990" y="0"/>
                </a:lnTo>
                <a:cubicBezTo>
                  <a:pt x="5647940" y="0"/>
                  <a:pt x="5677893" y="22152"/>
                  <a:pt x="5677893" y="49478"/>
                </a:cubicBezTo>
                <a:lnTo>
                  <a:pt x="5677893" y="2294326"/>
                </a:lnTo>
                <a:cubicBezTo>
                  <a:pt x="5677893" y="2321652"/>
                  <a:pt x="5647940" y="2343804"/>
                  <a:pt x="5610990" y="2343804"/>
                </a:cubicBezTo>
                <a:lnTo>
                  <a:pt x="66903" y="2343804"/>
                </a:lnTo>
                <a:cubicBezTo>
                  <a:pt x="29953" y="2343804"/>
                  <a:pt x="0" y="2321652"/>
                  <a:pt x="0" y="2294326"/>
                </a:cubicBezTo>
                <a:lnTo>
                  <a:pt x="0" y="49478"/>
                </a:lnTo>
                <a:cubicBezTo>
                  <a:pt x="0" y="22170"/>
                  <a:pt x="29978" y="0"/>
                  <a:pt x="669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0370" y="2801317"/>
            <a:ext cx="188148" cy="150519"/>
          </a:xfrm>
          <a:custGeom>
            <a:avLst/>
            <a:gdLst/>
            <a:ahLst/>
            <a:cxnLst/>
            <a:rect l="l" t="t" r="r" b="b"/>
            <a:pathLst>
              <a:path w="188148" h="150519">
                <a:moveTo>
                  <a:pt x="122267" y="61883"/>
                </a:moveTo>
                <a:cubicBezTo>
                  <a:pt x="125853" y="60913"/>
                  <a:pt x="129616" y="62618"/>
                  <a:pt x="131233" y="65940"/>
                </a:cubicBezTo>
                <a:lnTo>
                  <a:pt x="136701" y="76994"/>
                </a:lnTo>
                <a:cubicBezTo>
                  <a:pt x="139729" y="77405"/>
                  <a:pt x="142699" y="78228"/>
                  <a:pt x="145491" y="79375"/>
                </a:cubicBezTo>
                <a:lnTo>
                  <a:pt x="155781" y="72525"/>
                </a:lnTo>
                <a:cubicBezTo>
                  <a:pt x="158868" y="70467"/>
                  <a:pt x="162954" y="70879"/>
                  <a:pt x="165570" y="73495"/>
                </a:cubicBezTo>
                <a:lnTo>
                  <a:pt x="171215" y="79140"/>
                </a:lnTo>
                <a:cubicBezTo>
                  <a:pt x="173831" y="81756"/>
                  <a:pt x="174243" y="85872"/>
                  <a:pt x="172185" y="88929"/>
                </a:cubicBezTo>
                <a:lnTo>
                  <a:pt x="165335" y="99189"/>
                </a:lnTo>
                <a:cubicBezTo>
                  <a:pt x="165894" y="100571"/>
                  <a:pt x="166394" y="102012"/>
                  <a:pt x="166805" y="103511"/>
                </a:cubicBezTo>
                <a:cubicBezTo>
                  <a:pt x="167217" y="105010"/>
                  <a:pt x="167481" y="106480"/>
                  <a:pt x="167687" y="107979"/>
                </a:cubicBezTo>
                <a:lnTo>
                  <a:pt x="178770" y="113447"/>
                </a:lnTo>
                <a:cubicBezTo>
                  <a:pt x="182092" y="115094"/>
                  <a:pt x="183797" y="118857"/>
                  <a:pt x="182827" y="122414"/>
                </a:cubicBezTo>
                <a:lnTo>
                  <a:pt x="180769" y="130116"/>
                </a:lnTo>
                <a:cubicBezTo>
                  <a:pt x="179799" y="133673"/>
                  <a:pt x="176477" y="136084"/>
                  <a:pt x="172773" y="135849"/>
                </a:cubicBezTo>
                <a:lnTo>
                  <a:pt x="160426" y="135055"/>
                </a:lnTo>
                <a:cubicBezTo>
                  <a:pt x="158574" y="137436"/>
                  <a:pt x="156428" y="139641"/>
                  <a:pt x="153988" y="141523"/>
                </a:cubicBezTo>
                <a:lnTo>
                  <a:pt x="154781" y="153841"/>
                </a:lnTo>
                <a:cubicBezTo>
                  <a:pt x="155016" y="157545"/>
                  <a:pt x="152606" y="160896"/>
                  <a:pt x="149049" y="161837"/>
                </a:cubicBezTo>
                <a:lnTo>
                  <a:pt x="141346" y="163895"/>
                </a:lnTo>
                <a:cubicBezTo>
                  <a:pt x="137760" y="164865"/>
                  <a:pt x="134026" y="163160"/>
                  <a:pt x="132380" y="159838"/>
                </a:cubicBezTo>
                <a:lnTo>
                  <a:pt x="126912" y="148784"/>
                </a:lnTo>
                <a:cubicBezTo>
                  <a:pt x="123884" y="148372"/>
                  <a:pt x="120915" y="147549"/>
                  <a:pt x="118122" y="146403"/>
                </a:cubicBezTo>
                <a:lnTo>
                  <a:pt x="107832" y="153253"/>
                </a:lnTo>
                <a:cubicBezTo>
                  <a:pt x="104746" y="155310"/>
                  <a:pt x="100659" y="154899"/>
                  <a:pt x="98043" y="152282"/>
                </a:cubicBezTo>
                <a:lnTo>
                  <a:pt x="92398" y="146638"/>
                </a:lnTo>
                <a:cubicBezTo>
                  <a:pt x="89782" y="144022"/>
                  <a:pt x="89370" y="139935"/>
                  <a:pt x="91428" y="136848"/>
                </a:cubicBezTo>
                <a:lnTo>
                  <a:pt x="98278" y="126559"/>
                </a:lnTo>
                <a:cubicBezTo>
                  <a:pt x="97719" y="125177"/>
                  <a:pt x="97220" y="123737"/>
                  <a:pt x="96808" y="122238"/>
                </a:cubicBezTo>
                <a:cubicBezTo>
                  <a:pt x="96397" y="120738"/>
                  <a:pt x="96132" y="119239"/>
                  <a:pt x="95926" y="117769"/>
                </a:cubicBezTo>
                <a:lnTo>
                  <a:pt x="84843" y="112301"/>
                </a:lnTo>
                <a:cubicBezTo>
                  <a:pt x="81521" y="110655"/>
                  <a:pt x="79845" y="106892"/>
                  <a:pt x="80786" y="103334"/>
                </a:cubicBezTo>
                <a:lnTo>
                  <a:pt x="82844" y="95632"/>
                </a:lnTo>
                <a:cubicBezTo>
                  <a:pt x="83814" y="92075"/>
                  <a:pt x="87136" y="89664"/>
                  <a:pt x="90840" y="89900"/>
                </a:cubicBezTo>
                <a:lnTo>
                  <a:pt x="103158" y="90693"/>
                </a:lnTo>
                <a:cubicBezTo>
                  <a:pt x="105010" y="88312"/>
                  <a:pt x="107156" y="86107"/>
                  <a:pt x="109596" y="84226"/>
                </a:cubicBezTo>
                <a:lnTo>
                  <a:pt x="108803" y="71937"/>
                </a:lnTo>
                <a:cubicBezTo>
                  <a:pt x="108567" y="68233"/>
                  <a:pt x="110978" y="64882"/>
                  <a:pt x="114535" y="63941"/>
                </a:cubicBezTo>
                <a:lnTo>
                  <a:pt x="122237" y="61883"/>
                </a:lnTo>
                <a:close/>
                <a:moveTo>
                  <a:pt x="131821" y="99954"/>
                </a:moveTo>
                <a:cubicBezTo>
                  <a:pt x="124682" y="99962"/>
                  <a:pt x="118893" y="105764"/>
                  <a:pt x="118901" y="112904"/>
                </a:cubicBezTo>
                <a:cubicBezTo>
                  <a:pt x="118909" y="120043"/>
                  <a:pt x="124712" y="125832"/>
                  <a:pt x="131851" y="125824"/>
                </a:cubicBezTo>
                <a:cubicBezTo>
                  <a:pt x="138990" y="125816"/>
                  <a:pt x="144779" y="120013"/>
                  <a:pt x="144771" y="112874"/>
                </a:cubicBezTo>
                <a:cubicBezTo>
                  <a:pt x="144763" y="105735"/>
                  <a:pt x="138960" y="99946"/>
                  <a:pt x="131821" y="99954"/>
                </a:cubicBezTo>
                <a:close/>
                <a:moveTo>
                  <a:pt x="66116" y="-13376"/>
                </a:moveTo>
                <a:lnTo>
                  <a:pt x="73819" y="-11318"/>
                </a:lnTo>
                <a:cubicBezTo>
                  <a:pt x="77376" y="-10348"/>
                  <a:pt x="79787" y="-6997"/>
                  <a:pt x="79551" y="-3322"/>
                </a:cubicBezTo>
                <a:lnTo>
                  <a:pt x="78758" y="8966"/>
                </a:lnTo>
                <a:cubicBezTo>
                  <a:pt x="81198" y="10848"/>
                  <a:pt x="83344" y="13023"/>
                  <a:pt x="85196" y="15434"/>
                </a:cubicBezTo>
                <a:lnTo>
                  <a:pt x="97543" y="14640"/>
                </a:lnTo>
                <a:cubicBezTo>
                  <a:pt x="101218" y="14405"/>
                  <a:pt x="104569" y="16816"/>
                  <a:pt x="105539" y="20373"/>
                </a:cubicBezTo>
                <a:lnTo>
                  <a:pt x="107597" y="28075"/>
                </a:lnTo>
                <a:cubicBezTo>
                  <a:pt x="108538" y="31632"/>
                  <a:pt x="106862" y="35395"/>
                  <a:pt x="103540" y="37042"/>
                </a:cubicBezTo>
                <a:lnTo>
                  <a:pt x="92457" y="42510"/>
                </a:lnTo>
                <a:cubicBezTo>
                  <a:pt x="92251" y="44009"/>
                  <a:pt x="91957" y="45508"/>
                  <a:pt x="91575" y="46978"/>
                </a:cubicBezTo>
                <a:cubicBezTo>
                  <a:pt x="91193" y="48448"/>
                  <a:pt x="90664" y="49918"/>
                  <a:pt x="90105" y="51300"/>
                </a:cubicBezTo>
                <a:lnTo>
                  <a:pt x="96955" y="61589"/>
                </a:lnTo>
                <a:cubicBezTo>
                  <a:pt x="99013" y="64676"/>
                  <a:pt x="98601" y="68762"/>
                  <a:pt x="95985" y="71379"/>
                </a:cubicBezTo>
                <a:lnTo>
                  <a:pt x="90341" y="77023"/>
                </a:lnTo>
                <a:cubicBezTo>
                  <a:pt x="87724" y="79640"/>
                  <a:pt x="83638" y="80051"/>
                  <a:pt x="80551" y="77993"/>
                </a:cubicBezTo>
                <a:lnTo>
                  <a:pt x="70262" y="71144"/>
                </a:lnTo>
                <a:cubicBezTo>
                  <a:pt x="67469" y="72290"/>
                  <a:pt x="64500" y="73113"/>
                  <a:pt x="61472" y="73525"/>
                </a:cubicBezTo>
                <a:lnTo>
                  <a:pt x="56003" y="84578"/>
                </a:lnTo>
                <a:cubicBezTo>
                  <a:pt x="54357" y="87900"/>
                  <a:pt x="50594" y="89576"/>
                  <a:pt x="47037" y="88635"/>
                </a:cubicBezTo>
                <a:lnTo>
                  <a:pt x="39335" y="86578"/>
                </a:lnTo>
                <a:cubicBezTo>
                  <a:pt x="35748" y="85607"/>
                  <a:pt x="33367" y="82256"/>
                  <a:pt x="33602" y="78581"/>
                </a:cubicBezTo>
                <a:lnTo>
                  <a:pt x="34396" y="66263"/>
                </a:lnTo>
                <a:cubicBezTo>
                  <a:pt x="31956" y="64382"/>
                  <a:pt x="29810" y="62206"/>
                  <a:pt x="27958" y="59796"/>
                </a:cubicBezTo>
                <a:lnTo>
                  <a:pt x="15610" y="60590"/>
                </a:lnTo>
                <a:cubicBezTo>
                  <a:pt x="11936" y="60825"/>
                  <a:pt x="8584" y="58414"/>
                  <a:pt x="7614" y="54857"/>
                </a:cubicBezTo>
                <a:lnTo>
                  <a:pt x="5556" y="47155"/>
                </a:lnTo>
                <a:cubicBezTo>
                  <a:pt x="4616" y="43597"/>
                  <a:pt x="6291" y="39834"/>
                  <a:pt x="9613" y="38188"/>
                </a:cubicBezTo>
                <a:lnTo>
                  <a:pt x="20696" y="32720"/>
                </a:lnTo>
                <a:cubicBezTo>
                  <a:pt x="20902" y="31221"/>
                  <a:pt x="21196" y="29751"/>
                  <a:pt x="21578" y="28252"/>
                </a:cubicBezTo>
                <a:cubicBezTo>
                  <a:pt x="21990" y="26752"/>
                  <a:pt x="22460" y="25312"/>
                  <a:pt x="23048" y="23930"/>
                </a:cubicBezTo>
                <a:lnTo>
                  <a:pt x="16198" y="13670"/>
                </a:lnTo>
                <a:cubicBezTo>
                  <a:pt x="14141" y="10583"/>
                  <a:pt x="14552" y="6497"/>
                  <a:pt x="17169" y="3881"/>
                </a:cubicBezTo>
                <a:lnTo>
                  <a:pt x="22813" y="-1764"/>
                </a:lnTo>
                <a:cubicBezTo>
                  <a:pt x="25429" y="-4380"/>
                  <a:pt x="29516" y="-4792"/>
                  <a:pt x="32603" y="-2734"/>
                </a:cubicBezTo>
                <a:lnTo>
                  <a:pt x="42892" y="4116"/>
                </a:lnTo>
                <a:cubicBezTo>
                  <a:pt x="45685" y="2969"/>
                  <a:pt x="48654" y="2146"/>
                  <a:pt x="51682" y="1734"/>
                </a:cubicBezTo>
                <a:lnTo>
                  <a:pt x="57150" y="-9319"/>
                </a:lnTo>
                <a:cubicBezTo>
                  <a:pt x="58796" y="-12641"/>
                  <a:pt x="62530" y="-14317"/>
                  <a:pt x="66116" y="-13376"/>
                </a:cubicBezTo>
                <a:close/>
                <a:moveTo>
                  <a:pt x="56562" y="24694"/>
                </a:moveTo>
                <a:cubicBezTo>
                  <a:pt x="49423" y="24694"/>
                  <a:pt x="43627" y="30491"/>
                  <a:pt x="43627" y="37630"/>
                </a:cubicBezTo>
                <a:cubicBezTo>
                  <a:pt x="43627" y="44769"/>
                  <a:pt x="49423" y="50565"/>
                  <a:pt x="56562" y="50565"/>
                </a:cubicBezTo>
                <a:cubicBezTo>
                  <a:pt x="63701" y="50565"/>
                  <a:pt x="69497" y="44769"/>
                  <a:pt x="69497" y="37630"/>
                </a:cubicBezTo>
                <a:cubicBezTo>
                  <a:pt x="69497" y="30491"/>
                  <a:pt x="63701" y="24694"/>
                  <a:pt x="56562" y="2469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660609" y="2759506"/>
            <a:ext cx="5293235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Cross-Validation Works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8280" y="3093992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133794" y="0"/>
                </a:moveTo>
                <a:lnTo>
                  <a:pt x="133794" y="0"/>
                </a:lnTo>
                <a:cubicBezTo>
                  <a:pt x="207687" y="0"/>
                  <a:pt x="267588" y="59902"/>
                  <a:pt x="267588" y="133794"/>
                </a:cubicBezTo>
                <a:lnTo>
                  <a:pt x="267588" y="133794"/>
                </a:lnTo>
                <a:cubicBezTo>
                  <a:pt x="267588" y="207687"/>
                  <a:pt x="207687" y="267588"/>
                  <a:pt x="133794" y="267588"/>
                </a:cubicBezTo>
                <a:lnTo>
                  <a:pt x="133794" y="267588"/>
                </a:lnTo>
                <a:cubicBezTo>
                  <a:pt x="59902" y="267588"/>
                  <a:pt x="0" y="207687"/>
                  <a:pt x="0" y="133794"/>
                </a:cubicBezTo>
                <a:lnTo>
                  <a:pt x="0" y="133794"/>
                </a:lnTo>
                <a:cubicBezTo>
                  <a:pt x="0" y="59902"/>
                  <a:pt x="59902" y="0"/>
                  <a:pt x="13379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439012" y="3093992"/>
            <a:ext cx="32612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214" y="3093992"/>
            <a:ext cx="184803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is divided into </a:t>
            </a:r>
            <a:r>
              <a:rPr lang="en-US" sz="922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equal folds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8280" y="3461926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133794" y="0"/>
                </a:moveTo>
                <a:lnTo>
                  <a:pt x="133794" y="0"/>
                </a:lnTo>
                <a:cubicBezTo>
                  <a:pt x="207687" y="0"/>
                  <a:pt x="267588" y="59902"/>
                  <a:pt x="267588" y="133794"/>
                </a:cubicBezTo>
                <a:lnTo>
                  <a:pt x="267588" y="133794"/>
                </a:lnTo>
                <a:cubicBezTo>
                  <a:pt x="267588" y="207687"/>
                  <a:pt x="207687" y="267588"/>
                  <a:pt x="133794" y="267588"/>
                </a:cubicBezTo>
                <a:lnTo>
                  <a:pt x="133794" y="267588"/>
                </a:lnTo>
                <a:cubicBezTo>
                  <a:pt x="59902" y="267588"/>
                  <a:pt x="0" y="207687"/>
                  <a:pt x="0" y="133794"/>
                </a:cubicBezTo>
                <a:lnTo>
                  <a:pt x="0" y="133794"/>
                </a:lnTo>
                <a:cubicBezTo>
                  <a:pt x="0" y="59902"/>
                  <a:pt x="59902" y="0"/>
                  <a:pt x="13379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439012" y="3461926"/>
            <a:ext cx="32612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214" y="3461926"/>
            <a:ext cx="194837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trains on </a:t>
            </a:r>
            <a:r>
              <a:rPr lang="en-US" sz="922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folds</a:t>
            </a: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tests on </a:t>
            </a:r>
            <a:r>
              <a:rPr lang="en-US" sz="922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fold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8280" y="3829860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133794" y="0"/>
                </a:moveTo>
                <a:lnTo>
                  <a:pt x="133794" y="0"/>
                </a:lnTo>
                <a:cubicBezTo>
                  <a:pt x="207687" y="0"/>
                  <a:pt x="267588" y="59902"/>
                  <a:pt x="267588" y="133794"/>
                </a:cubicBezTo>
                <a:lnTo>
                  <a:pt x="267588" y="133794"/>
                </a:lnTo>
                <a:cubicBezTo>
                  <a:pt x="267588" y="207687"/>
                  <a:pt x="207687" y="267588"/>
                  <a:pt x="133794" y="267588"/>
                </a:cubicBezTo>
                <a:lnTo>
                  <a:pt x="133794" y="267588"/>
                </a:lnTo>
                <a:cubicBezTo>
                  <a:pt x="59902" y="267588"/>
                  <a:pt x="0" y="207687"/>
                  <a:pt x="0" y="133794"/>
                </a:cubicBezTo>
                <a:lnTo>
                  <a:pt x="0" y="133794"/>
                </a:lnTo>
                <a:cubicBezTo>
                  <a:pt x="0" y="59902"/>
                  <a:pt x="59902" y="0"/>
                  <a:pt x="13379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439012" y="3829860"/>
            <a:ext cx="32612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214" y="3829860"/>
            <a:ext cx="285985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repeats </a:t>
            </a:r>
            <a:r>
              <a:rPr lang="en-US" sz="922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times</a:t>
            </a: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each fold used once for testing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8280" y="4197794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133794" y="0"/>
                </a:moveTo>
                <a:lnTo>
                  <a:pt x="133794" y="0"/>
                </a:lnTo>
                <a:cubicBezTo>
                  <a:pt x="207687" y="0"/>
                  <a:pt x="267588" y="59902"/>
                  <a:pt x="267588" y="133794"/>
                </a:cubicBezTo>
                <a:lnTo>
                  <a:pt x="267588" y="133794"/>
                </a:lnTo>
                <a:cubicBezTo>
                  <a:pt x="267588" y="207687"/>
                  <a:pt x="207687" y="267588"/>
                  <a:pt x="133794" y="267588"/>
                </a:cubicBezTo>
                <a:lnTo>
                  <a:pt x="133794" y="267588"/>
                </a:lnTo>
                <a:cubicBezTo>
                  <a:pt x="59902" y="267588"/>
                  <a:pt x="0" y="207687"/>
                  <a:pt x="0" y="133794"/>
                </a:cubicBezTo>
                <a:lnTo>
                  <a:pt x="0" y="133794"/>
                </a:lnTo>
                <a:cubicBezTo>
                  <a:pt x="0" y="59902"/>
                  <a:pt x="59902" y="0"/>
                  <a:pt x="133794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439012" y="4197794"/>
            <a:ext cx="32612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6214" y="4197794"/>
            <a:ext cx="280131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are </a:t>
            </a:r>
            <a:r>
              <a:rPr lang="en-US" sz="922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averaged</a:t>
            </a: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get final performance estimate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7830" y="5269820"/>
            <a:ext cx="5667858" cy="926525"/>
          </a:xfrm>
          <a:custGeom>
            <a:avLst/>
            <a:gdLst/>
            <a:ahLst/>
            <a:cxnLst/>
            <a:rect l="l" t="t" r="r" b="b"/>
            <a:pathLst>
              <a:path w="5667858" h="926525">
                <a:moveTo>
                  <a:pt x="66895" y="0"/>
                </a:moveTo>
                <a:lnTo>
                  <a:pt x="5600963" y="0"/>
                </a:lnTo>
                <a:cubicBezTo>
                  <a:pt x="5637908" y="0"/>
                  <a:pt x="5667858" y="29950"/>
                  <a:pt x="5667858" y="66895"/>
                </a:cubicBezTo>
                <a:lnTo>
                  <a:pt x="5667858" y="859630"/>
                </a:lnTo>
                <a:cubicBezTo>
                  <a:pt x="5667858" y="896575"/>
                  <a:pt x="5637908" y="926525"/>
                  <a:pt x="5600963" y="926525"/>
                </a:cubicBezTo>
                <a:lnTo>
                  <a:pt x="66895" y="926525"/>
                </a:lnTo>
                <a:cubicBezTo>
                  <a:pt x="29950" y="926525"/>
                  <a:pt x="0" y="896575"/>
                  <a:pt x="0" y="859630"/>
                </a:cubicBezTo>
                <a:lnTo>
                  <a:pt x="0" y="66895"/>
                </a:lnTo>
                <a:cubicBezTo>
                  <a:pt x="0" y="29975"/>
                  <a:pt x="29975" y="0"/>
                  <a:pt x="6689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8418" y="5440410"/>
            <a:ext cx="100346" cy="133794"/>
          </a:xfrm>
          <a:custGeom>
            <a:avLst/>
            <a:gdLst/>
            <a:ahLst/>
            <a:cxnLst/>
            <a:rect l="l" t="t" r="r" b="b"/>
            <a:pathLst>
              <a:path w="100346" h="133794">
                <a:moveTo>
                  <a:pt x="76540" y="100346"/>
                </a:moveTo>
                <a:cubicBezTo>
                  <a:pt x="78447" y="94518"/>
                  <a:pt x="82263" y="89240"/>
                  <a:pt x="86574" y="84693"/>
                </a:cubicBezTo>
                <a:cubicBezTo>
                  <a:pt x="95119" y="75703"/>
                  <a:pt x="100346" y="63552"/>
                  <a:pt x="100346" y="50173"/>
                </a:cubicBezTo>
                <a:cubicBezTo>
                  <a:pt x="100346" y="22473"/>
                  <a:pt x="77872" y="0"/>
                  <a:pt x="50173" y="0"/>
                </a:cubicBezTo>
                <a:cubicBezTo>
                  <a:pt x="22473" y="0"/>
                  <a:pt x="0" y="22473"/>
                  <a:pt x="0" y="50173"/>
                </a:cubicBezTo>
                <a:cubicBezTo>
                  <a:pt x="0" y="63552"/>
                  <a:pt x="5226" y="75703"/>
                  <a:pt x="13771" y="84693"/>
                </a:cubicBezTo>
                <a:cubicBezTo>
                  <a:pt x="18083" y="89240"/>
                  <a:pt x="21924" y="94518"/>
                  <a:pt x="23806" y="100346"/>
                </a:cubicBezTo>
                <a:lnTo>
                  <a:pt x="76514" y="100346"/>
                </a:lnTo>
                <a:close/>
                <a:moveTo>
                  <a:pt x="75259" y="112889"/>
                </a:moveTo>
                <a:lnTo>
                  <a:pt x="25086" y="112889"/>
                </a:lnTo>
                <a:lnTo>
                  <a:pt x="25086" y="117070"/>
                </a:lnTo>
                <a:cubicBezTo>
                  <a:pt x="25086" y="128620"/>
                  <a:pt x="34442" y="137975"/>
                  <a:pt x="45992" y="137975"/>
                </a:cubicBezTo>
                <a:lnTo>
                  <a:pt x="54354" y="137975"/>
                </a:lnTo>
                <a:cubicBezTo>
                  <a:pt x="65904" y="137975"/>
                  <a:pt x="75259" y="128620"/>
                  <a:pt x="75259" y="117070"/>
                </a:cubicBezTo>
                <a:lnTo>
                  <a:pt x="75259" y="112889"/>
                </a:lnTo>
                <a:close/>
                <a:moveTo>
                  <a:pt x="48082" y="29267"/>
                </a:moveTo>
                <a:cubicBezTo>
                  <a:pt x="37682" y="29267"/>
                  <a:pt x="29267" y="37682"/>
                  <a:pt x="29267" y="48082"/>
                </a:cubicBezTo>
                <a:cubicBezTo>
                  <a:pt x="29267" y="51558"/>
                  <a:pt x="26471" y="54354"/>
                  <a:pt x="22996" y="54354"/>
                </a:cubicBezTo>
                <a:cubicBezTo>
                  <a:pt x="19520" y="54354"/>
                  <a:pt x="16724" y="51558"/>
                  <a:pt x="16724" y="48082"/>
                </a:cubicBezTo>
                <a:cubicBezTo>
                  <a:pt x="16724" y="30757"/>
                  <a:pt x="30757" y="16724"/>
                  <a:pt x="48082" y="16724"/>
                </a:cubicBezTo>
                <a:cubicBezTo>
                  <a:pt x="51558" y="16724"/>
                  <a:pt x="54354" y="19520"/>
                  <a:pt x="54354" y="22996"/>
                </a:cubicBezTo>
                <a:cubicBezTo>
                  <a:pt x="54354" y="26471"/>
                  <a:pt x="51558" y="29267"/>
                  <a:pt x="48082" y="2926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5"/>
          <p:cNvSpPr/>
          <p:nvPr/>
        </p:nvSpPr>
        <p:spPr>
          <a:xfrm>
            <a:off x="642212" y="5406961"/>
            <a:ext cx="529323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4970" y="5674550"/>
            <a:ext cx="5452115" cy="38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 provides a </a:t>
            </a:r>
            <a:r>
              <a:rPr lang="en-US" sz="922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reliable estimate </a:t>
            </a:r>
            <a:r>
              <a:rPr lang="en-US" sz="922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model performance than a single train-test split. It helps detect overfitting and ensures the model generalizes well to new, unseen data.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8681" y="1204148"/>
            <a:ext cx="5677893" cy="2450107"/>
          </a:xfrm>
          <a:custGeom>
            <a:avLst/>
            <a:gdLst/>
            <a:ahLst/>
            <a:cxnLst/>
            <a:rect l="l" t="t" r="r" b="b"/>
            <a:pathLst>
              <a:path w="5677893" h="2450107">
                <a:moveTo>
                  <a:pt x="66888" y="0"/>
                </a:moveTo>
                <a:lnTo>
                  <a:pt x="5611005" y="0"/>
                </a:lnTo>
                <a:cubicBezTo>
                  <a:pt x="5647946" y="0"/>
                  <a:pt x="5677893" y="29947"/>
                  <a:pt x="5677893" y="66888"/>
                </a:cubicBezTo>
                <a:lnTo>
                  <a:pt x="5677893" y="2383219"/>
                </a:lnTo>
                <a:cubicBezTo>
                  <a:pt x="5677893" y="2420160"/>
                  <a:pt x="5647946" y="2450107"/>
                  <a:pt x="5611005" y="2450107"/>
                </a:cubicBezTo>
                <a:lnTo>
                  <a:pt x="66888" y="2450107"/>
                </a:lnTo>
                <a:cubicBezTo>
                  <a:pt x="29971" y="2450107"/>
                  <a:pt x="0" y="2420136"/>
                  <a:pt x="0" y="2383219"/>
                </a:cubicBezTo>
                <a:lnTo>
                  <a:pt x="0" y="66888"/>
                </a:lnTo>
                <a:cubicBezTo>
                  <a:pt x="0" y="29971"/>
                  <a:pt x="29971" y="0"/>
                  <a:pt x="6688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pic>
        <p:nvPicPr>
          <p:cNvPr id="30" name="Image 0" descr="https://kimi-web-img.moonshot.cn/img/media.geeksforgeeks.org/335a1fac8859638bf62f2e49380d535ce29476c3.webp"/>
          <p:cNvPicPr>
            <a:picLocks noChangeAspect="1"/>
          </p:cNvPicPr>
          <p:nvPr/>
        </p:nvPicPr>
        <p:blipFill>
          <a:blip r:embed="rId3"/>
          <a:srcRect t="30065" b="30065"/>
          <a:stretch/>
        </p:blipFill>
        <p:spPr>
          <a:xfrm>
            <a:off x="6178681" y="1204148"/>
            <a:ext cx="5677893" cy="1605531"/>
          </a:xfrm>
          <a:prstGeom prst="roundRect">
            <a:avLst>
              <a:gd name="adj" fmla="val 2730"/>
            </a:avLst>
          </a:prstGeom>
        </p:spPr>
      </p:pic>
      <p:sp>
        <p:nvSpPr>
          <p:cNvPr id="31" name="Text 28"/>
          <p:cNvSpPr/>
          <p:nvPr/>
        </p:nvSpPr>
        <p:spPr>
          <a:xfrm>
            <a:off x="6312475" y="2943473"/>
            <a:ext cx="5460477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CROSS-VALIDATION VISUALIZATION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12475" y="3144063"/>
            <a:ext cx="5468840" cy="38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2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fold serves as the test set exactly once, while the remaining folds form the training set. This ensures comprehensive evaluation across all data partitions.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182026" y="3731973"/>
            <a:ext cx="5667858" cy="2969969"/>
          </a:xfrm>
          <a:custGeom>
            <a:avLst/>
            <a:gdLst/>
            <a:ahLst/>
            <a:cxnLst/>
            <a:rect l="l" t="t" r="r" b="b"/>
            <a:pathLst>
              <a:path w="5667858" h="2969969">
                <a:moveTo>
                  <a:pt x="66898" y="0"/>
                </a:moveTo>
                <a:lnTo>
                  <a:pt x="5600961" y="0"/>
                </a:lnTo>
                <a:cubicBezTo>
                  <a:pt x="5637907" y="0"/>
                  <a:pt x="5667858" y="29081"/>
                  <a:pt x="5667858" y="64953"/>
                </a:cubicBezTo>
                <a:lnTo>
                  <a:pt x="5667858" y="2905016"/>
                </a:lnTo>
                <a:cubicBezTo>
                  <a:pt x="5667858" y="2940888"/>
                  <a:pt x="5637907" y="2969969"/>
                  <a:pt x="5600961" y="2969969"/>
                </a:cubicBezTo>
                <a:lnTo>
                  <a:pt x="66898" y="2969969"/>
                </a:lnTo>
                <a:cubicBezTo>
                  <a:pt x="29951" y="2969969"/>
                  <a:pt x="0" y="2940888"/>
                  <a:pt x="0" y="2905016"/>
                </a:cubicBezTo>
                <a:lnTo>
                  <a:pt x="0" y="64953"/>
                </a:lnTo>
                <a:cubicBezTo>
                  <a:pt x="0" y="29105"/>
                  <a:pt x="29976" y="0"/>
                  <a:pt x="66898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19165" y="3792911"/>
            <a:ext cx="546047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Cross-Validation Results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19165" y="4093948"/>
            <a:ext cx="5393580" cy="334486"/>
          </a:xfrm>
          <a:custGeom>
            <a:avLst/>
            <a:gdLst/>
            <a:ahLst/>
            <a:cxnLst/>
            <a:rect l="l" t="t" r="r" b="b"/>
            <a:pathLst>
              <a:path w="5393580" h="334486">
                <a:moveTo>
                  <a:pt x="33449" y="0"/>
                </a:moveTo>
                <a:lnTo>
                  <a:pt x="5360132" y="0"/>
                </a:lnTo>
                <a:cubicBezTo>
                  <a:pt x="5378605" y="0"/>
                  <a:pt x="5393580" y="14975"/>
                  <a:pt x="5393580" y="33449"/>
                </a:cubicBezTo>
                <a:lnTo>
                  <a:pt x="5393580" y="301037"/>
                </a:lnTo>
                <a:cubicBezTo>
                  <a:pt x="5393580" y="319510"/>
                  <a:pt x="5378605" y="334486"/>
                  <a:pt x="5360132" y="334486"/>
                </a:cubicBezTo>
                <a:lnTo>
                  <a:pt x="33449" y="334486"/>
                </a:lnTo>
                <a:cubicBezTo>
                  <a:pt x="14975" y="334486"/>
                  <a:pt x="0" y="319510"/>
                  <a:pt x="0" y="301037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386062" y="4177569"/>
            <a:ext cx="66060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1 RMSE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354009" y="4160845"/>
            <a:ext cx="35957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1.02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19165" y="4495330"/>
            <a:ext cx="5393580" cy="334486"/>
          </a:xfrm>
          <a:custGeom>
            <a:avLst/>
            <a:gdLst/>
            <a:ahLst/>
            <a:cxnLst/>
            <a:rect l="l" t="t" r="r" b="b"/>
            <a:pathLst>
              <a:path w="5393580" h="334486">
                <a:moveTo>
                  <a:pt x="33449" y="0"/>
                </a:moveTo>
                <a:lnTo>
                  <a:pt x="5360132" y="0"/>
                </a:lnTo>
                <a:cubicBezTo>
                  <a:pt x="5378605" y="0"/>
                  <a:pt x="5393580" y="14975"/>
                  <a:pt x="5393580" y="33449"/>
                </a:cubicBezTo>
                <a:lnTo>
                  <a:pt x="5393580" y="301037"/>
                </a:lnTo>
                <a:cubicBezTo>
                  <a:pt x="5393580" y="319510"/>
                  <a:pt x="5378605" y="334486"/>
                  <a:pt x="5360132" y="334486"/>
                </a:cubicBezTo>
                <a:lnTo>
                  <a:pt x="33449" y="334486"/>
                </a:lnTo>
                <a:cubicBezTo>
                  <a:pt x="14975" y="334486"/>
                  <a:pt x="0" y="319510"/>
                  <a:pt x="0" y="301037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386062" y="4578952"/>
            <a:ext cx="685695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2 RMSE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354009" y="4562228"/>
            <a:ext cx="35957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1.05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19165" y="4896713"/>
            <a:ext cx="5393580" cy="334486"/>
          </a:xfrm>
          <a:custGeom>
            <a:avLst/>
            <a:gdLst/>
            <a:ahLst/>
            <a:cxnLst/>
            <a:rect l="l" t="t" r="r" b="b"/>
            <a:pathLst>
              <a:path w="5393580" h="334486">
                <a:moveTo>
                  <a:pt x="33449" y="0"/>
                </a:moveTo>
                <a:lnTo>
                  <a:pt x="5360132" y="0"/>
                </a:lnTo>
                <a:cubicBezTo>
                  <a:pt x="5378605" y="0"/>
                  <a:pt x="5393580" y="14975"/>
                  <a:pt x="5393580" y="33449"/>
                </a:cubicBezTo>
                <a:lnTo>
                  <a:pt x="5393580" y="301037"/>
                </a:lnTo>
                <a:cubicBezTo>
                  <a:pt x="5393580" y="319510"/>
                  <a:pt x="5378605" y="334486"/>
                  <a:pt x="5360132" y="334486"/>
                </a:cubicBezTo>
                <a:lnTo>
                  <a:pt x="33449" y="334486"/>
                </a:lnTo>
                <a:cubicBezTo>
                  <a:pt x="14975" y="334486"/>
                  <a:pt x="0" y="319510"/>
                  <a:pt x="0" y="301037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6386062" y="4980335"/>
            <a:ext cx="685695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3 RMSE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354009" y="4963610"/>
            <a:ext cx="35957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1.01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19165" y="5298096"/>
            <a:ext cx="5393580" cy="334486"/>
          </a:xfrm>
          <a:custGeom>
            <a:avLst/>
            <a:gdLst/>
            <a:ahLst/>
            <a:cxnLst/>
            <a:rect l="l" t="t" r="r" b="b"/>
            <a:pathLst>
              <a:path w="5393580" h="334486">
                <a:moveTo>
                  <a:pt x="33449" y="0"/>
                </a:moveTo>
                <a:lnTo>
                  <a:pt x="5360132" y="0"/>
                </a:lnTo>
                <a:cubicBezTo>
                  <a:pt x="5378605" y="0"/>
                  <a:pt x="5393580" y="14975"/>
                  <a:pt x="5393580" y="33449"/>
                </a:cubicBezTo>
                <a:lnTo>
                  <a:pt x="5393580" y="301037"/>
                </a:lnTo>
                <a:cubicBezTo>
                  <a:pt x="5393580" y="319510"/>
                  <a:pt x="5378605" y="334486"/>
                  <a:pt x="5360132" y="334486"/>
                </a:cubicBezTo>
                <a:lnTo>
                  <a:pt x="33449" y="334486"/>
                </a:lnTo>
                <a:cubicBezTo>
                  <a:pt x="14975" y="334486"/>
                  <a:pt x="0" y="319510"/>
                  <a:pt x="0" y="301037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386062" y="5381717"/>
            <a:ext cx="685695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4 RMSE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354009" y="5364993"/>
            <a:ext cx="35957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1.04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19165" y="5699479"/>
            <a:ext cx="5393580" cy="334486"/>
          </a:xfrm>
          <a:custGeom>
            <a:avLst/>
            <a:gdLst/>
            <a:ahLst/>
            <a:cxnLst/>
            <a:rect l="l" t="t" r="r" b="b"/>
            <a:pathLst>
              <a:path w="5393580" h="334486">
                <a:moveTo>
                  <a:pt x="33449" y="0"/>
                </a:moveTo>
                <a:lnTo>
                  <a:pt x="5360132" y="0"/>
                </a:lnTo>
                <a:cubicBezTo>
                  <a:pt x="5378605" y="0"/>
                  <a:pt x="5393580" y="14975"/>
                  <a:pt x="5393580" y="33449"/>
                </a:cubicBezTo>
                <a:lnTo>
                  <a:pt x="5393580" y="301037"/>
                </a:lnTo>
                <a:cubicBezTo>
                  <a:pt x="5393580" y="319510"/>
                  <a:pt x="5378605" y="334486"/>
                  <a:pt x="5360132" y="334486"/>
                </a:cubicBezTo>
                <a:lnTo>
                  <a:pt x="33449" y="334486"/>
                </a:lnTo>
                <a:cubicBezTo>
                  <a:pt x="14975" y="334486"/>
                  <a:pt x="0" y="319510"/>
                  <a:pt x="0" y="301037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6386062" y="5783100"/>
            <a:ext cx="69405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 5 RMSE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354009" y="5766376"/>
            <a:ext cx="35957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1.03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19165" y="6104206"/>
            <a:ext cx="5393580" cy="6690"/>
          </a:xfrm>
          <a:custGeom>
            <a:avLst/>
            <a:gdLst/>
            <a:ahLst/>
            <a:cxnLst/>
            <a:rect l="l" t="t" r="r" b="b"/>
            <a:pathLst>
              <a:path w="5393580" h="6690">
                <a:moveTo>
                  <a:pt x="0" y="0"/>
                </a:moveTo>
                <a:lnTo>
                  <a:pt x="5393580" y="0"/>
                </a:lnTo>
                <a:lnTo>
                  <a:pt x="5393580" y="6690"/>
                </a:lnTo>
                <a:lnTo>
                  <a:pt x="0" y="669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6319165" y="6207895"/>
            <a:ext cx="66060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RMSE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1404391" y="6174447"/>
            <a:ext cx="393021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1.03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319165" y="6442035"/>
            <a:ext cx="878025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Deviation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384113" y="6442035"/>
            <a:ext cx="384658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±0.015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7625" cy="254000"/>
          </a:xfrm>
          <a:custGeom>
            <a:avLst/>
            <a:gdLst/>
            <a:ahLst/>
            <a:cxnLst/>
            <a:rect l="l" t="t" r="r" b="b"/>
            <a:pathLst>
              <a:path w="47625" h="254000">
                <a:moveTo>
                  <a:pt x="0" y="0"/>
                </a:moveTo>
                <a:lnTo>
                  <a:pt x="47625" y="0"/>
                </a:lnTo>
                <a:lnTo>
                  <a:pt x="47625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460375" y="365125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03250"/>
            <a:ext cx="11676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&amp; Visualization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952500"/>
            <a:ext cx="5699125" cy="1317625"/>
          </a:xfrm>
          <a:custGeom>
            <a:avLst/>
            <a:gdLst/>
            <a:ahLst/>
            <a:cxnLst/>
            <a:rect l="l" t="t" r="r" b="b"/>
            <a:pathLst>
              <a:path w="5699125" h="1317625">
                <a:moveTo>
                  <a:pt x="0" y="0"/>
                </a:moveTo>
                <a:lnTo>
                  <a:pt x="5635629" y="0"/>
                </a:lnTo>
                <a:cubicBezTo>
                  <a:pt x="5670697" y="0"/>
                  <a:pt x="5699125" y="28428"/>
                  <a:pt x="5699125" y="63496"/>
                </a:cubicBezTo>
                <a:lnTo>
                  <a:pt x="5699125" y="1254129"/>
                </a:lnTo>
                <a:cubicBezTo>
                  <a:pt x="5699125" y="1289197"/>
                  <a:pt x="5670697" y="1317625"/>
                  <a:pt x="5635629" y="1317625"/>
                </a:cubicBezTo>
                <a:lnTo>
                  <a:pt x="0" y="13176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952500"/>
            <a:ext cx="31750" cy="1317625"/>
          </a:xfrm>
          <a:custGeom>
            <a:avLst/>
            <a:gdLst/>
            <a:ahLst/>
            <a:cxnLst/>
            <a:rect l="l" t="t" r="r" b="b"/>
            <a:pathLst>
              <a:path w="31750" h="1317625">
                <a:moveTo>
                  <a:pt x="0" y="0"/>
                </a:moveTo>
                <a:lnTo>
                  <a:pt x="31750" y="0"/>
                </a:lnTo>
                <a:lnTo>
                  <a:pt x="31750" y="1317625"/>
                </a:lnTo>
                <a:lnTo>
                  <a:pt x="0" y="131762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464344" y="10874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627063" y="1047750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0375" y="1365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8"/>
          <p:cNvSpPr/>
          <p:nvPr/>
        </p:nvSpPr>
        <p:spPr>
          <a:xfrm>
            <a:off x="646906" y="1333500"/>
            <a:ext cx="4341813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Influence:</a:t>
            </a:r>
            <a:r>
              <a:rPr lang="en-US" sz="10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Past PM2.5 levels strongly influence future pollution levels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0375" y="15875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906" y="1555750"/>
            <a:ext cx="3563938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 Features Impact:</a:t>
            </a:r>
            <a:r>
              <a:rPr lang="en-US" sz="10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Significantly improved prediction accuracy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0375" y="18097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6906" y="1778000"/>
            <a:ext cx="38100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Capture:</a:t>
            </a:r>
            <a:r>
              <a:rPr lang="en-US" sz="10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Rolling averages captured long-term pollution trends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0375" y="20320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6906" y="2000250"/>
            <a:ext cx="33655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Importance:</a:t>
            </a:r>
            <a:r>
              <a:rPr lang="en-US" sz="10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Historical indicators are most influential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675" y="2368550"/>
            <a:ext cx="5705475" cy="3927475"/>
          </a:xfrm>
          <a:custGeom>
            <a:avLst/>
            <a:gdLst/>
            <a:ahLst/>
            <a:cxnLst/>
            <a:rect l="l" t="t" r="r" b="b"/>
            <a:pathLst>
              <a:path w="5705475" h="3927475">
                <a:moveTo>
                  <a:pt x="63507" y="0"/>
                </a:moveTo>
                <a:lnTo>
                  <a:pt x="5641968" y="0"/>
                </a:lnTo>
                <a:cubicBezTo>
                  <a:pt x="5677042" y="0"/>
                  <a:pt x="5705475" y="28433"/>
                  <a:pt x="5705475" y="63507"/>
                </a:cubicBezTo>
                <a:lnTo>
                  <a:pt x="5705475" y="3863968"/>
                </a:lnTo>
                <a:cubicBezTo>
                  <a:pt x="5705475" y="3899042"/>
                  <a:pt x="5677042" y="3927475"/>
                  <a:pt x="5641968" y="3927475"/>
                </a:cubicBezTo>
                <a:lnTo>
                  <a:pt x="63507" y="3927475"/>
                </a:lnTo>
                <a:cubicBezTo>
                  <a:pt x="28433" y="3927475"/>
                  <a:pt x="0" y="3899042"/>
                  <a:pt x="0" y="3863968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100" y="2466977"/>
            <a:ext cx="555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Importance (XGBoost)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2625627"/>
            <a:ext cx="4492625" cy="3571875"/>
          </a:xfrm>
          <a:prstGeom prst="roundRect">
            <a:avLst>
              <a:gd name="adj" fmla="val 0"/>
            </a:avLst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19100" y="2625627"/>
            <a:ext cx="4492625" cy="3571875"/>
          </a:xfrm>
          <a:prstGeom prst="roundRect">
            <a:avLst>
              <a:gd name="adj" fmla="val 0"/>
            </a:avLst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19100" y="2625627"/>
            <a:ext cx="4492625" cy="3571875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7"/>
          <p:cNvSpPr/>
          <p:nvPr/>
        </p:nvSpPr>
        <p:spPr>
          <a:xfrm>
            <a:off x="6162675" y="955675"/>
            <a:ext cx="5705475" cy="2736850"/>
          </a:xfrm>
          <a:custGeom>
            <a:avLst/>
            <a:gdLst/>
            <a:ahLst/>
            <a:cxnLst/>
            <a:rect l="l" t="t" r="r" b="b"/>
            <a:pathLst>
              <a:path w="5705475" h="2736850">
                <a:moveTo>
                  <a:pt x="63495" y="0"/>
                </a:moveTo>
                <a:lnTo>
                  <a:pt x="5641980" y="0"/>
                </a:lnTo>
                <a:cubicBezTo>
                  <a:pt x="5677047" y="0"/>
                  <a:pt x="5705475" y="28428"/>
                  <a:pt x="5705475" y="63495"/>
                </a:cubicBezTo>
                <a:lnTo>
                  <a:pt x="5705475" y="2673355"/>
                </a:lnTo>
                <a:cubicBezTo>
                  <a:pt x="5705475" y="2708422"/>
                  <a:pt x="5677047" y="2736850"/>
                  <a:pt x="5641980" y="2736850"/>
                </a:cubicBezTo>
                <a:lnTo>
                  <a:pt x="63495" y="2736850"/>
                </a:lnTo>
                <a:cubicBezTo>
                  <a:pt x="28428" y="2736850"/>
                  <a:pt x="0" y="2708422"/>
                  <a:pt x="0" y="267335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61100" y="1054102"/>
            <a:ext cx="555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 vs Actual Values</a:t>
            </a:r>
            <a:endParaRPr lang="en-US" sz="16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261100" y="1212752"/>
            <a:ext cx="4492625" cy="3571875"/>
          </a:xfrm>
          <a:prstGeom prst="roundRect">
            <a:avLst>
              <a:gd name="adj" fmla="val 0"/>
            </a:avLst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6261100" y="1212752"/>
            <a:ext cx="4492625" cy="3571875"/>
          </a:xfrm>
          <a:prstGeom prst="roundRect">
            <a:avLst>
              <a:gd name="adj" fmla="val 0"/>
            </a:avLst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261100" y="1212752"/>
            <a:ext cx="4492625" cy="3571875"/>
          </a:xfrm>
          <a:prstGeom prst="roundRect">
            <a:avLst>
              <a:gd name="adj" fmla="val 0"/>
            </a:avLst>
          </a:prstGeom>
        </p:spPr>
      </p:pic>
      <p:sp>
        <p:nvSpPr>
          <p:cNvPr id="27" name="Shape 19"/>
          <p:cNvSpPr/>
          <p:nvPr/>
        </p:nvSpPr>
        <p:spPr>
          <a:xfrm>
            <a:off x="6162675" y="3797300"/>
            <a:ext cx="5705475" cy="2736850"/>
          </a:xfrm>
          <a:custGeom>
            <a:avLst/>
            <a:gdLst/>
            <a:ahLst/>
            <a:cxnLst/>
            <a:rect l="l" t="t" r="r" b="b"/>
            <a:pathLst>
              <a:path w="5705475" h="2736850">
                <a:moveTo>
                  <a:pt x="63495" y="0"/>
                </a:moveTo>
                <a:lnTo>
                  <a:pt x="5641980" y="0"/>
                </a:lnTo>
                <a:cubicBezTo>
                  <a:pt x="5677047" y="0"/>
                  <a:pt x="5705475" y="28428"/>
                  <a:pt x="5705475" y="63495"/>
                </a:cubicBezTo>
                <a:lnTo>
                  <a:pt x="5705475" y="2673355"/>
                </a:lnTo>
                <a:cubicBezTo>
                  <a:pt x="5705475" y="2708422"/>
                  <a:pt x="5677047" y="2736850"/>
                  <a:pt x="5641980" y="2736850"/>
                </a:cubicBezTo>
                <a:lnTo>
                  <a:pt x="63495" y="2736850"/>
                </a:lnTo>
                <a:cubicBezTo>
                  <a:pt x="28428" y="2736850"/>
                  <a:pt x="0" y="2708422"/>
                  <a:pt x="0" y="267335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261100" y="3895727"/>
            <a:ext cx="555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PM2.5 Distribution Histogram</a:t>
            </a:r>
            <a:endParaRPr lang="en-US" sz="16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261100" y="4054377"/>
            <a:ext cx="3222597" cy="2562135"/>
          </a:xfrm>
          <a:prstGeom prst="roundRect">
            <a:avLst>
              <a:gd name="adj" fmla="val 0"/>
            </a:avLst>
          </a:prstGeom>
        </p:spPr>
      </p:pic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155531" y="3429000"/>
            <a:ext cx="3730608" cy="2966031"/>
          </a:xfrm>
          <a:prstGeom prst="roundRect">
            <a:avLst>
              <a:gd name="adj" fmla="val 0"/>
            </a:avLst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315D5A3-A7EB-79E4-B7DA-90089A4D78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5079" y="2466976"/>
            <a:ext cx="5757422" cy="378777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0E02F60-CE5C-D0FF-E6DD-96590EC707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9025" y="929500"/>
            <a:ext cx="5689600" cy="28259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A41EBB1-3CB1-1CDF-4166-6006761C66C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69025" y="3801755"/>
            <a:ext cx="5689600" cy="28147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945" y="334945"/>
            <a:ext cx="50242" cy="334945"/>
          </a:xfrm>
          <a:custGeom>
            <a:avLst/>
            <a:gdLst/>
            <a:ahLst/>
            <a:cxnLst/>
            <a:rect l="l" t="t" r="r" b="b"/>
            <a:pathLst>
              <a:path w="50242" h="334945">
                <a:moveTo>
                  <a:pt x="0" y="0"/>
                </a:moveTo>
                <a:lnTo>
                  <a:pt x="50242" y="0"/>
                </a:lnTo>
                <a:lnTo>
                  <a:pt x="50242" y="334945"/>
                </a:lnTo>
                <a:lnTo>
                  <a:pt x="0" y="33494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485670" y="418681"/>
            <a:ext cx="192593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kern="0" spc="4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DEMONSTRATION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945" y="736879"/>
            <a:ext cx="11672835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Example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692" y="1205802"/>
            <a:ext cx="5660571" cy="1289538"/>
          </a:xfrm>
          <a:custGeom>
            <a:avLst/>
            <a:gdLst/>
            <a:ahLst/>
            <a:cxnLst/>
            <a:rect l="l" t="t" r="r" b="b"/>
            <a:pathLst>
              <a:path w="5660571" h="1289538">
                <a:moveTo>
                  <a:pt x="0" y="0"/>
                </a:moveTo>
                <a:lnTo>
                  <a:pt x="5593580" y="0"/>
                </a:lnTo>
                <a:cubicBezTo>
                  <a:pt x="5630578" y="0"/>
                  <a:pt x="5660571" y="29993"/>
                  <a:pt x="5660571" y="66992"/>
                </a:cubicBezTo>
                <a:lnTo>
                  <a:pt x="5660571" y="1222547"/>
                </a:lnTo>
                <a:cubicBezTo>
                  <a:pt x="5660571" y="1259545"/>
                  <a:pt x="5630578" y="1289538"/>
                  <a:pt x="5593580" y="1289538"/>
                </a:cubicBezTo>
                <a:lnTo>
                  <a:pt x="0" y="1289538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1692" y="1205802"/>
            <a:ext cx="33495" cy="1289538"/>
          </a:xfrm>
          <a:custGeom>
            <a:avLst/>
            <a:gdLst/>
            <a:ahLst/>
            <a:cxnLst/>
            <a:rect l="l" t="t" r="r" b="b"/>
            <a:pathLst>
              <a:path w="33495" h="1289538">
                <a:moveTo>
                  <a:pt x="0" y="0"/>
                </a:moveTo>
                <a:lnTo>
                  <a:pt x="33495" y="0"/>
                </a:lnTo>
                <a:lnTo>
                  <a:pt x="33495" y="1289538"/>
                </a:lnTo>
                <a:lnTo>
                  <a:pt x="0" y="1289538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06604" y="1406769"/>
            <a:ext cx="251209" cy="251209"/>
          </a:xfrm>
          <a:custGeom>
            <a:avLst/>
            <a:gdLst/>
            <a:ahLst/>
            <a:cxnLst/>
            <a:rect l="l" t="t" r="r" b="b"/>
            <a:pathLst>
              <a:path w="251209" h="251209">
                <a:moveTo>
                  <a:pt x="168094" y="4612"/>
                </a:moveTo>
                <a:cubicBezTo>
                  <a:pt x="161961" y="-1521"/>
                  <a:pt x="152001" y="-1521"/>
                  <a:pt x="145868" y="4612"/>
                </a:cubicBezTo>
                <a:cubicBezTo>
                  <a:pt x="139735" y="10745"/>
                  <a:pt x="139735" y="20705"/>
                  <a:pt x="145868" y="26838"/>
                </a:cubicBezTo>
                <a:lnTo>
                  <a:pt x="150480" y="31401"/>
                </a:lnTo>
                <a:lnTo>
                  <a:pt x="13787" y="168094"/>
                </a:lnTo>
                <a:cubicBezTo>
                  <a:pt x="4955" y="176926"/>
                  <a:pt x="0" y="188897"/>
                  <a:pt x="0" y="201409"/>
                </a:cubicBezTo>
                <a:lnTo>
                  <a:pt x="0" y="204107"/>
                </a:lnTo>
                <a:cubicBezTo>
                  <a:pt x="0" y="230111"/>
                  <a:pt x="21098" y="251209"/>
                  <a:pt x="47102" y="251209"/>
                </a:cubicBezTo>
                <a:lnTo>
                  <a:pt x="49800" y="251209"/>
                </a:lnTo>
                <a:cubicBezTo>
                  <a:pt x="62312" y="251209"/>
                  <a:pt x="74283" y="246253"/>
                  <a:pt x="83115" y="237422"/>
                </a:cubicBezTo>
                <a:lnTo>
                  <a:pt x="219808" y="100729"/>
                </a:lnTo>
                <a:lnTo>
                  <a:pt x="224420" y="105341"/>
                </a:lnTo>
                <a:cubicBezTo>
                  <a:pt x="230553" y="111474"/>
                  <a:pt x="240513" y="111474"/>
                  <a:pt x="246646" y="105341"/>
                </a:cubicBezTo>
                <a:cubicBezTo>
                  <a:pt x="252779" y="99208"/>
                  <a:pt x="252779" y="89248"/>
                  <a:pt x="246646" y="83115"/>
                </a:cubicBezTo>
                <a:lnTo>
                  <a:pt x="168143" y="4612"/>
                </a:lnTo>
                <a:close/>
                <a:moveTo>
                  <a:pt x="100729" y="125604"/>
                </a:moveTo>
                <a:lnTo>
                  <a:pt x="172706" y="53627"/>
                </a:lnTo>
                <a:lnTo>
                  <a:pt x="197582" y="78503"/>
                </a:lnTo>
                <a:lnTo>
                  <a:pt x="150480" y="125604"/>
                </a:lnTo>
                <a:lnTo>
                  <a:pt x="100680" y="12560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865310" y="1373275"/>
            <a:ext cx="5066044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on Unseen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5310" y="1674725"/>
            <a:ext cx="5049297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was tested on completely </a:t>
            </a:r>
            <a:r>
              <a:rPr lang="en-US" sz="1055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unseen data </a:t>
            </a:r>
            <a:r>
              <a:rPr lang="en-US" sz="1055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demonstrate its real-world applicability. This example showcases the model's ability to accurately estimate pollution levels for new regions and time periods.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1644" y="2778403"/>
            <a:ext cx="5665596" cy="2692959"/>
          </a:xfrm>
          <a:custGeom>
            <a:avLst/>
            <a:gdLst/>
            <a:ahLst/>
            <a:cxnLst/>
            <a:rect l="l" t="t" r="r" b="b"/>
            <a:pathLst>
              <a:path w="5665596" h="2692959">
                <a:moveTo>
                  <a:pt x="66992" y="0"/>
                </a:moveTo>
                <a:lnTo>
                  <a:pt x="5598603" y="0"/>
                </a:lnTo>
                <a:cubicBezTo>
                  <a:pt x="5635602" y="0"/>
                  <a:pt x="5665596" y="23607"/>
                  <a:pt x="5665596" y="52728"/>
                </a:cubicBezTo>
                <a:lnTo>
                  <a:pt x="5665596" y="2640231"/>
                </a:lnTo>
                <a:cubicBezTo>
                  <a:pt x="5665596" y="2669352"/>
                  <a:pt x="5635602" y="2692959"/>
                  <a:pt x="5598603" y="2692959"/>
                </a:cubicBezTo>
                <a:lnTo>
                  <a:pt x="66992" y="2692959"/>
                </a:lnTo>
                <a:cubicBezTo>
                  <a:pt x="29993" y="2692959"/>
                  <a:pt x="0" y="2669352"/>
                  <a:pt x="0" y="2640231"/>
                </a:cubicBezTo>
                <a:lnTo>
                  <a:pt x="0" y="52728"/>
                </a:lnTo>
                <a:cubicBezTo>
                  <a:pt x="0" y="23627"/>
                  <a:pt x="30018" y="0"/>
                  <a:pt x="6699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0320">
            <a:solidFill>
              <a:srgbClr val="5E8B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42" y="2971418"/>
            <a:ext cx="533400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Results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0002" y="3406846"/>
            <a:ext cx="257907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 PM2.5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3705" y="3641308"/>
            <a:ext cx="2771670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56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3.19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0002" y="4177220"/>
            <a:ext cx="257907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EDF2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μg/m³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4780" y="3406846"/>
            <a:ext cx="257907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PM2.5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48484" y="3641308"/>
            <a:ext cx="2771670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56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44780" y="4177220"/>
            <a:ext cx="257907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EDF2F4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μg/m³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9310" y="4549009"/>
            <a:ext cx="5250264" cy="6699"/>
          </a:xfrm>
          <a:custGeom>
            <a:avLst/>
            <a:gdLst/>
            <a:ahLst/>
            <a:cxnLst/>
            <a:rect l="l" t="t" r="r" b="b"/>
            <a:pathLst>
              <a:path w="5250264" h="6699">
                <a:moveTo>
                  <a:pt x="0" y="0"/>
                </a:moveTo>
                <a:lnTo>
                  <a:pt x="5250264" y="0"/>
                </a:lnTo>
                <a:lnTo>
                  <a:pt x="5250264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9310" y="4719727"/>
            <a:ext cx="90435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Absolute Error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4806" y="4686335"/>
            <a:ext cx="485670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9310" y="5054566"/>
            <a:ext cx="84573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 Error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65127" y="5021178"/>
            <a:ext cx="636396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0.31%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8295" y="5806656"/>
            <a:ext cx="5667270" cy="659842"/>
          </a:xfrm>
          <a:custGeom>
            <a:avLst/>
            <a:gdLst/>
            <a:ahLst/>
            <a:cxnLst/>
            <a:rect l="l" t="t" r="r" b="b"/>
            <a:pathLst>
              <a:path w="5667270" h="659842">
                <a:moveTo>
                  <a:pt x="66987" y="0"/>
                </a:moveTo>
                <a:lnTo>
                  <a:pt x="5600283" y="0"/>
                </a:lnTo>
                <a:cubicBezTo>
                  <a:pt x="5637279" y="0"/>
                  <a:pt x="5667270" y="29991"/>
                  <a:pt x="5667270" y="66987"/>
                </a:cubicBezTo>
                <a:lnTo>
                  <a:pt x="5667270" y="592855"/>
                </a:lnTo>
                <a:cubicBezTo>
                  <a:pt x="5667270" y="629851"/>
                  <a:pt x="5637279" y="659842"/>
                  <a:pt x="5600283" y="659842"/>
                </a:cubicBezTo>
                <a:lnTo>
                  <a:pt x="66987" y="659842"/>
                </a:lnTo>
                <a:cubicBezTo>
                  <a:pt x="29991" y="659842"/>
                  <a:pt x="0" y="629851"/>
                  <a:pt x="0" y="592855"/>
                </a:cubicBezTo>
                <a:lnTo>
                  <a:pt x="0" y="66987"/>
                </a:lnTo>
                <a:cubicBezTo>
                  <a:pt x="0" y="29991"/>
                  <a:pt x="29991" y="0"/>
                  <a:pt x="66987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435" y="6034003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100484" y="200967"/>
                </a:moveTo>
                <a:cubicBezTo>
                  <a:pt x="155942" y="200967"/>
                  <a:pt x="200967" y="155942"/>
                  <a:pt x="200967" y="100484"/>
                </a:cubicBezTo>
                <a:cubicBezTo>
                  <a:pt x="200967" y="45025"/>
                  <a:pt x="155942" y="0"/>
                  <a:pt x="100484" y="0"/>
                </a:cubicBezTo>
                <a:cubicBezTo>
                  <a:pt x="45025" y="0"/>
                  <a:pt x="0" y="45025"/>
                  <a:pt x="0" y="100484"/>
                </a:cubicBezTo>
                <a:cubicBezTo>
                  <a:pt x="0" y="155942"/>
                  <a:pt x="45025" y="200967"/>
                  <a:pt x="100484" y="200967"/>
                </a:cubicBezTo>
                <a:close/>
                <a:moveTo>
                  <a:pt x="133612" y="83488"/>
                </a:moveTo>
                <a:lnTo>
                  <a:pt x="102211" y="133729"/>
                </a:lnTo>
                <a:cubicBezTo>
                  <a:pt x="100562" y="136359"/>
                  <a:pt x="97736" y="138008"/>
                  <a:pt x="94635" y="138165"/>
                </a:cubicBezTo>
                <a:cubicBezTo>
                  <a:pt x="91534" y="138322"/>
                  <a:pt x="88551" y="136909"/>
                  <a:pt x="86706" y="134397"/>
                </a:cubicBezTo>
                <a:lnTo>
                  <a:pt x="67866" y="109276"/>
                </a:lnTo>
                <a:cubicBezTo>
                  <a:pt x="64726" y="105115"/>
                  <a:pt x="65589" y="99227"/>
                  <a:pt x="69750" y="96087"/>
                </a:cubicBezTo>
                <a:cubicBezTo>
                  <a:pt x="73910" y="92947"/>
                  <a:pt x="79798" y="93811"/>
                  <a:pt x="82938" y="97971"/>
                </a:cubicBezTo>
                <a:lnTo>
                  <a:pt x="93536" y="112102"/>
                </a:lnTo>
                <a:lnTo>
                  <a:pt x="117636" y="73518"/>
                </a:lnTo>
                <a:cubicBezTo>
                  <a:pt x="120384" y="69122"/>
                  <a:pt x="126193" y="67748"/>
                  <a:pt x="130629" y="70535"/>
                </a:cubicBezTo>
                <a:cubicBezTo>
                  <a:pt x="135064" y="73322"/>
                  <a:pt x="136399" y="79092"/>
                  <a:pt x="133612" y="835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772781" y="5943986"/>
            <a:ext cx="5158154" cy="385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near-perfect prediction demonstrates the model's capability to </a:t>
            </a:r>
            <a:r>
              <a:rPr lang="en-US" sz="923" dirty="0">
                <a:solidFill>
                  <a:srgbClr val="EDF2F4"/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accurately estimate pollution levels </a:t>
            </a:r>
            <a:r>
              <a:rPr lang="en-US" sz="92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real-world scenarios.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3086" y="1209152"/>
            <a:ext cx="5667270" cy="3339857"/>
          </a:xfrm>
          <a:custGeom>
            <a:avLst/>
            <a:gdLst/>
            <a:ahLst/>
            <a:cxnLst/>
            <a:rect l="l" t="t" r="r" b="b"/>
            <a:pathLst>
              <a:path w="5667270" h="3339857">
                <a:moveTo>
                  <a:pt x="66975" y="0"/>
                </a:moveTo>
                <a:lnTo>
                  <a:pt x="5600296" y="0"/>
                </a:lnTo>
                <a:cubicBezTo>
                  <a:pt x="5637285" y="0"/>
                  <a:pt x="5667270" y="29114"/>
                  <a:pt x="5667270" y="65027"/>
                </a:cubicBezTo>
                <a:lnTo>
                  <a:pt x="5667270" y="3274830"/>
                </a:lnTo>
                <a:cubicBezTo>
                  <a:pt x="5667270" y="3310744"/>
                  <a:pt x="5637285" y="3339857"/>
                  <a:pt x="5600296" y="3339857"/>
                </a:cubicBezTo>
                <a:lnTo>
                  <a:pt x="66975" y="3339857"/>
                </a:lnTo>
                <a:cubicBezTo>
                  <a:pt x="29986" y="3339857"/>
                  <a:pt x="0" y="3310744"/>
                  <a:pt x="0" y="3274830"/>
                </a:cubicBezTo>
                <a:lnTo>
                  <a:pt x="0" y="65027"/>
                </a:lnTo>
                <a:cubicBezTo>
                  <a:pt x="0" y="29138"/>
                  <a:pt x="30010" y="0"/>
                  <a:pt x="66975" y="0"/>
                </a:cubicBezTo>
                <a:close/>
              </a:path>
            </a:pathLst>
          </a:custGeom>
          <a:solidFill>
            <a:srgbClr val="1A1D24"/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6320413" y="1346482"/>
            <a:ext cx="5442857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Sample Prediction Output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54391" y="1681320"/>
            <a:ext cx="518327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Model Prediction on Test Sample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4391" y="1929180"/>
            <a:ext cx="509849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70102" y="1929180"/>
            <a:ext cx="638803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"Iceland"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4391" y="2130148"/>
            <a:ext cx="38089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41148" y="2130148"/>
            <a:ext cx="316523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4391" y="2331115"/>
            <a:ext cx="767652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Population: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7905" y="2331115"/>
            <a:ext cx="445372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376000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54391" y="2555527"/>
            <a:ext cx="5124659" cy="6699"/>
          </a:xfrm>
          <a:custGeom>
            <a:avLst/>
            <a:gdLst/>
            <a:ahLst/>
            <a:cxnLst/>
            <a:rect l="l" t="t" r="r" b="b"/>
            <a:pathLst>
              <a:path w="5124659" h="6699">
                <a:moveTo>
                  <a:pt x="0" y="0"/>
                </a:moveTo>
                <a:lnTo>
                  <a:pt x="5124659" y="0"/>
                </a:lnTo>
                <a:lnTo>
                  <a:pt x="5124659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54391" y="2639262"/>
            <a:ext cx="102545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Features: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88369" y="2826831"/>
            <a:ext cx="504929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PM2.5 (t-1): 3.25 μg/m³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8369" y="2994303"/>
            <a:ext cx="504929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PM2.5 (t-2): 3.18 μg/m³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88369" y="3161776"/>
            <a:ext cx="504929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PM2.5 (t-3): 3.22 μg/m³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88369" y="3329248"/>
            <a:ext cx="504929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MA-3: 3.22 μg/m³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88369" y="3496721"/>
            <a:ext cx="504929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MA-5: 3.28 μg/m³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4391" y="3734532"/>
            <a:ext cx="5124659" cy="6699"/>
          </a:xfrm>
          <a:custGeom>
            <a:avLst/>
            <a:gdLst/>
            <a:ahLst/>
            <a:cxnLst/>
            <a:rect l="l" t="t" r="r" b="b"/>
            <a:pathLst>
              <a:path w="5124659" h="6699">
                <a:moveTo>
                  <a:pt x="0" y="0"/>
                </a:moveTo>
                <a:lnTo>
                  <a:pt x="5124659" y="0"/>
                </a:lnTo>
                <a:lnTo>
                  <a:pt x="5124659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54391" y="3818271"/>
            <a:ext cx="767652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27905" y="3818271"/>
            <a:ext cx="70317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3.19 μg/m³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54391" y="4019238"/>
            <a:ext cx="509849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Actual: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70102" y="4019238"/>
            <a:ext cx="703175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3.20 μg/m³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54391" y="4220205"/>
            <a:ext cx="445372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05625" y="4220205"/>
            <a:ext cx="1218886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0.01 μg/m³ (0.31%)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9736" y="4694011"/>
            <a:ext cx="5677319" cy="2076659"/>
          </a:xfrm>
          <a:custGeom>
            <a:avLst/>
            <a:gdLst/>
            <a:ahLst/>
            <a:cxnLst/>
            <a:rect l="l" t="t" r="r" b="b"/>
            <a:pathLst>
              <a:path w="5677319" h="2076659">
                <a:moveTo>
                  <a:pt x="66993" y="0"/>
                </a:moveTo>
                <a:lnTo>
                  <a:pt x="5610326" y="0"/>
                </a:lnTo>
                <a:cubicBezTo>
                  <a:pt x="5647325" y="0"/>
                  <a:pt x="5677319" y="29994"/>
                  <a:pt x="5677319" y="66993"/>
                </a:cubicBezTo>
                <a:lnTo>
                  <a:pt x="5677319" y="2009666"/>
                </a:lnTo>
                <a:cubicBezTo>
                  <a:pt x="5677319" y="2046666"/>
                  <a:pt x="5647325" y="2076659"/>
                  <a:pt x="5610326" y="2076659"/>
                </a:cubicBezTo>
                <a:lnTo>
                  <a:pt x="66993" y="2076659"/>
                </a:lnTo>
                <a:cubicBezTo>
                  <a:pt x="29994" y="2076659"/>
                  <a:pt x="0" y="2046666"/>
                  <a:pt x="0" y="2009666"/>
                </a:cubicBezTo>
                <a:lnTo>
                  <a:pt x="0" y="66993"/>
                </a:lnTo>
                <a:cubicBezTo>
                  <a:pt x="0" y="29994"/>
                  <a:pt x="29994" y="0"/>
                  <a:pt x="669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313714" y="4827989"/>
            <a:ext cx="547635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Summary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3714" y="5129439"/>
            <a:ext cx="2654440" cy="703385"/>
          </a:xfrm>
          <a:custGeom>
            <a:avLst/>
            <a:gdLst/>
            <a:ahLst/>
            <a:cxnLst/>
            <a:rect l="l" t="t" r="r" b="b"/>
            <a:pathLst>
              <a:path w="2654440" h="703385">
                <a:moveTo>
                  <a:pt x="33495" y="0"/>
                </a:moveTo>
                <a:lnTo>
                  <a:pt x="2620944" y="0"/>
                </a:lnTo>
                <a:cubicBezTo>
                  <a:pt x="2639443" y="0"/>
                  <a:pt x="2654440" y="14996"/>
                  <a:pt x="2654440" y="33495"/>
                </a:cubicBezTo>
                <a:lnTo>
                  <a:pt x="2654440" y="669889"/>
                </a:lnTo>
                <a:cubicBezTo>
                  <a:pt x="2654440" y="688388"/>
                  <a:pt x="2639443" y="703385"/>
                  <a:pt x="2620944" y="703385"/>
                </a:cubicBezTo>
                <a:lnTo>
                  <a:pt x="33495" y="703385"/>
                </a:lnTo>
                <a:cubicBezTo>
                  <a:pt x="14996" y="703385"/>
                  <a:pt x="0" y="688388"/>
                  <a:pt x="0" y="669889"/>
                </a:cubicBezTo>
                <a:lnTo>
                  <a:pt x="0" y="33495"/>
                </a:lnTo>
                <a:cubicBezTo>
                  <a:pt x="0" y="14996"/>
                  <a:pt x="14996" y="0"/>
                  <a:pt x="334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57198" y="5229923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146538" y="83736"/>
                </a:moveTo>
                <a:cubicBezTo>
                  <a:pt x="146538" y="49075"/>
                  <a:pt x="118398" y="20934"/>
                  <a:pt x="83736" y="20934"/>
                </a:cubicBezTo>
                <a:cubicBezTo>
                  <a:pt x="49075" y="20934"/>
                  <a:pt x="20934" y="49075"/>
                  <a:pt x="20934" y="83736"/>
                </a:cubicBezTo>
                <a:cubicBezTo>
                  <a:pt x="20934" y="118398"/>
                  <a:pt x="49075" y="146538"/>
                  <a:pt x="83736" y="146538"/>
                </a:cubicBezTo>
                <a:cubicBezTo>
                  <a:pt x="118398" y="146538"/>
                  <a:pt x="146538" y="118398"/>
                  <a:pt x="146538" y="83736"/>
                </a:cubicBezTo>
                <a:close/>
                <a:moveTo>
                  <a:pt x="0" y="83736"/>
                </a:moveTo>
                <a:cubicBezTo>
                  <a:pt x="0" y="37521"/>
                  <a:pt x="37521" y="0"/>
                  <a:pt x="83736" y="0"/>
                </a:cubicBezTo>
                <a:cubicBezTo>
                  <a:pt x="129952" y="0"/>
                  <a:pt x="167473" y="37521"/>
                  <a:pt x="167473" y="83736"/>
                </a:cubicBezTo>
                <a:cubicBezTo>
                  <a:pt x="167473" y="129952"/>
                  <a:pt x="129952" y="167473"/>
                  <a:pt x="83736" y="167473"/>
                </a:cubicBezTo>
                <a:cubicBezTo>
                  <a:pt x="37521" y="167473"/>
                  <a:pt x="0" y="129952"/>
                  <a:pt x="0" y="83736"/>
                </a:cubicBezTo>
                <a:close/>
                <a:moveTo>
                  <a:pt x="83736" y="109904"/>
                </a:moveTo>
                <a:cubicBezTo>
                  <a:pt x="98179" y="109904"/>
                  <a:pt x="109904" y="98179"/>
                  <a:pt x="109904" y="83736"/>
                </a:cubicBezTo>
                <a:cubicBezTo>
                  <a:pt x="109904" y="69294"/>
                  <a:pt x="98179" y="57569"/>
                  <a:pt x="83736" y="57569"/>
                </a:cubicBezTo>
                <a:cubicBezTo>
                  <a:pt x="69294" y="57569"/>
                  <a:pt x="57569" y="69294"/>
                  <a:pt x="57569" y="83736"/>
                </a:cubicBezTo>
                <a:cubicBezTo>
                  <a:pt x="57569" y="98179"/>
                  <a:pt x="69294" y="109904"/>
                  <a:pt x="83736" y="109904"/>
                </a:cubicBezTo>
                <a:close/>
                <a:moveTo>
                  <a:pt x="83736" y="36635"/>
                </a:moveTo>
                <a:cubicBezTo>
                  <a:pt x="109732" y="36635"/>
                  <a:pt x="130838" y="57740"/>
                  <a:pt x="130838" y="83736"/>
                </a:cubicBezTo>
                <a:cubicBezTo>
                  <a:pt x="130838" y="109732"/>
                  <a:pt x="109732" y="130838"/>
                  <a:pt x="83736" y="130838"/>
                </a:cubicBezTo>
                <a:cubicBezTo>
                  <a:pt x="57740" y="130838"/>
                  <a:pt x="36635" y="109732"/>
                  <a:pt x="36635" y="83736"/>
                </a:cubicBezTo>
                <a:cubicBezTo>
                  <a:pt x="36635" y="57740"/>
                  <a:pt x="57740" y="36635"/>
                  <a:pt x="83736" y="36635"/>
                </a:cubicBezTo>
                <a:close/>
                <a:moveTo>
                  <a:pt x="73269" y="83736"/>
                </a:moveTo>
                <a:cubicBezTo>
                  <a:pt x="73269" y="77959"/>
                  <a:pt x="77959" y="73269"/>
                  <a:pt x="83736" y="73269"/>
                </a:cubicBezTo>
                <a:cubicBezTo>
                  <a:pt x="89513" y="73269"/>
                  <a:pt x="94203" y="77959"/>
                  <a:pt x="94203" y="83736"/>
                </a:cubicBezTo>
                <a:cubicBezTo>
                  <a:pt x="94203" y="89513"/>
                  <a:pt x="89513" y="94203"/>
                  <a:pt x="83736" y="94203"/>
                </a:cubicBezTo>
                <a:cubicBezTo>
                  <a:pt x="77959" y="94203"/>
                  <a:pt x="73269" y="89513"/>
                  <a:pt x="73269" y="837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4" name="Text 52"/>
          <p:cNvSpPr/>
          <p:nvPr/>
        </p:nvSpPr>
        <p:spPr>
          <a:xfrm>
            <a:off x="6384890" y="5430890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Precision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89077" y="5598362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±1.03 μg/m³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68637" y="5129439"/>
            <a:ext cx="2654440" cy="703385"/>
          </a:xfrm>
          <a:custGeom>
            <a:avLst/>
            <a:gdLst/>
            <a:ahLst/>
            <a:cxnLst/>
            <a:rect l="l" t="t" r="r" b="b"/>
            <a:pathLst>
              <a:path w="2654440" h="703385">
                <a:moveTo>
                  <a:pt x="33495" y="0"/>
                </a:moveTo>
                <a:lnTo>
                  <a:pt x="2620944" y="0"/>
                </a:lnTo>
                <a:cubicBezTo>
                  <a:pt x="2639443" y="0"/>
                  <a:pt x="2654440" y="14996"/>
                  <a:pt x="2654440" y="33495"/>
                </a:cubicBezTo>
                <a:lnTo>
                  <a:pt x="2654440" y="669889"/>
                </a:lnTo>
                <a:cubicBezTo>
                  <a:pt x="2654440" y="688388"/>
                  <a:pt x="2639443" y="703385"/>
                  <a:pt x="2620944" y="703385"/>
                </a:cubicBezTo>
                <a:lnTo>
                  <a:pt x="33495" y="703385"/>
                </a:lnTo>
                <a:cubicBezTo>
                  <a:pt x="14996" y="703385"/>
                  <a:pt x="0" y="688388"/>
                  <a:pt x="0" y="669889"/>
                </a:cubicBezTo>
                <a:lnTo>
                  <a:pt x="0" y="33495"/>
                </a:lnTo>
                <a:cubicBezTo>
                  <a:pt x="0" y="14996"/>
                  <a:pt x="14996" y="0"/>
                  <a:pt x="334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312121" y="5229923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115105" y="91587"/>
                </a:moveTo>
                <a:lnTo>
                  <a:pt x="52662" y="91587"/>
                </a:lnTo>
                <a:cubicBezTo>
                  <a:pt x="53611" y="112684"/>
                  <a:pt x="58288" y="132114"/>
                  <a:pt x="64928" y="146342"/>
                </a:cubicBezTo>
                <a:cubicBezTo>
                  <a:pt x="68657" y="154356"/>
                  <a:pt x="72680" y="160015"/>
                  <a:pt x="76409" y="163482"/>
                </a:cubicBezTo>
                <a:cubicBezTo>
                  <a:pt x="80073" y="166916"/>
                  <a:pt x="82591" y="167473"/>
                  <a:pt x="83900" y="167473"/>
                </a:cubicBezTo>
                <a:cubicBezTo>
                  <a:pt x="85208" y="167473"/>
                  <a:pt x="87727" y="166916"/>
                  <a:pt x="91390" y="163482"/>
                </a:cubicBezTo>
                <a:cubicBezTo>
                  <a:pt x="95119" y="160015"/>
                  <a:pt x="99142" y="154323"/>
                  <a:pt x="102871" y="146342"/>
                </a:cubicBezTo>
                <a:cubicBezTo>
                  <a:pt x="109511" y="132114"/>
                  <a:pt x="114189" y="112684"/>
                  <a:pt x="115137" y="91587"/>
                </a:cubicBezTo>
                <a:close/>
                <a:moveTo>
                  <a:pt x="52630" y="75886"/>
                </a:moveTo>
                <a:lnTo>
                  <a:pt x="115072" y="75886"/>
                </a:lnTo>
                <a:cubicBezTo>
                  <a:pt x="114156" y="54788"/>
                  <a:pt x="109479" y="35359"/>
                  <a:pt x="102839" y="21130"/>
                </a:cubicBezTo>
                <a:cubicBezTo>
                  <a:pt x="99110" y="13149"/>
                  <a:pt x="95086" y="7458"/>
                  <a:pt x="91358" y="3991"/>
                </a:cubicBezTo>
                <a:cubicBezTo>
                  <a:pt x="87694" y="556"/>
                  <a:pt x="85175" y="0"/>
                  <a:pt x="83867" y="0"/>
                </a:cubicBezTo>
                <a:cubicBezTo>
                  <a:pt x="82559" y="0"/>
                  <a:pt x="80040" y="556"/>
                  <a:pt x="76377" y="3991"/>
                </a:cubicBezTo>
                <a:cubicBezTo>
                  <a:pt x="72648" y="7458"/>
                  <a:pt x="68624" y="13149"/>
                  <a:pt x="64896" y="21130"/>
                </a:cubicBezTo>
                <a:cubicBezTo>
                  <a:pt x="58256" y="35359"/>
                  <a:pt x="53578" y="54788"/>
                  <a:pt x="52630" y="75886"/>
                </a:cubicBezTo>
                <a:close/>
                <a:moveTo>
                  <a:pt x="36929" y="75886"/>
                </a:moveTo>
                <a:cubicBezTo>
                  <a:pt x="38074" y="47887"/>
                  <a:pt x="45303" y="21883"/>
                  <a:pt x="55868" y="4808"/>
                </a:cubicBezTo>
                <a:cubicBezTo>
                  <a:pt x="25742" y="15472"/>
                  <a:pt x="3565" y="42915"/>
                  <a:pt x="491" y="75886"/>
                </a:cubicBezTo>
                <a:lnTo>
                  <a:pt x="36929" y="75886"/>
                </a:lnTo>
                <a:close/>
                <a:moveTo>
                  <a:pt x="491" y="91587"/>
                </a:moveTo>
                <a:cubicBezTo>
                  <a:pt x="3565" y="124558"/>
                  <a:pt x="25742" y="152001"/>
                  <a:pt x="55868" y="162664"/>
                </a:cubicBezTo>
                <a:cubicBezTo>
                  <a:pt x="45303" y="145590"/>
                  <a:pt x="38074" y="119586"/>
                  <a:pt x="36929" y="91587"/>
                </a:cubicBezTo>
                <a:lnTo>
                  <a:pt x="491" y="91587"/>
                </a:lnTo>
                <a:close/>
                <a:moveTo>
                  <a:pt x="130805" y="91587"/>
                </a:moveTo>
                <a:cubicBezTo>
                  <a:pt x="129660" y="119586"/>
                  <a:pt x="122432" y="145590"/>
                  <a:pt x="111866" y="162664"/>
                </a:cubicBezTo>
                <a:cubicBezTo>
                  <a:pt x="141992" y="151968"/>
                  <a:pt x="164169" y="124558"/>
                  <a:pt x="167244" y="91587"/>
                </a:cubicBezTo>
                <a:lnTo>
                  <a:pt x="130805" y="91587"/>
                </a:lnTo>
                <a:close/>
                <a:moveTo>
                  <a:pt x="167244" y="75886"/>
                </a:moveTo>
                <a:cubicBezTo>
                  <a:pt x="164169" y="42915"/>
                  <a:pt x="141992" y="15472"/>
                  <a:pt x="111866" y="4808"/>
                </a:cubicBezTo>
                <a:cubicBezTo>
                  <a:pt x="122432" y="21883"/>
                  <a:pt x="129660" y="47887"/>
                  <a:pt x="130805" y="75886"/>
                </a:cubicBezTo>
                <a:lnTo>
                  <a:pt x="167244" y="7588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9139813" y="5430890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Applicability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44000" y="5598362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200+ regions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13714" y="5933205"/>
            <a:ext cx="2654440" cy="703385"/>
          </a:xfrm>
          <a:custGeom>
            <a:avLst/>
            <a:gdLst/>
            <a:ahLst/>
            <a:cxnLst/>
            <a:rect l="l" t="t" r="r" b="b"/>
            <a:pathLst>
              <a:path w="2654440" h="703385">
                <a:moveTo>
                  <a:pt x="33495" y="0"/>
                </a:moveTo>
                <a:lnTo>
                  <a:pt x="2620944" y="0"/>
                </a:lnTo>
                <a:cubicBezTo>
                  <a:pt x="2639443" y="0"/>
                  <a:pt x="2654440" y="14996"/>
                  <a:pt x="2654440" y="33495"/>
                </a:cubicBezTo>
                <a:lnTo>
                  <a:pt x="2654440" y="669889"/>
                </a:lnTo>
                <a:cubicBezTo>
                  <a:pt x="2654440" y="688388"/>
                  <a:pt x="2639443" y="703385"/>
                  <a:pt x="2620944" y="703385"/>
                </a:cubicBezTo>
                <a:lnTo>
                  <a:pt x="33495" y="703385"/>
                </a:lnTo>
                <a:cubicBezTo>
                  <a:pt x="14996" y="703385"/>
                  <a:pt x="0" y="688388"/>
                  <a:pt x="0" y="669889"/>
                </a:cubicBezTo>
                <a:lnTo>
                  <a:pt x="0" y="33495"/>
                </a:lnTo>
                <a:cubicBezTo>
                  <a:pt x="0" y="14996"/>
                  <a:pt x="14996" y="0"/>
                  <a:pt x="334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557198" y="6033689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0"/>
                </a:moveTo>
                <a:cubicBezTo>
                  <a:pt x="129952" y="0"/>
                  <a:pt x="167473" y="37521"/>
                  <a:pt x="167473" y="83736"/>
                </a:cubicBezTo>
                <a:cubicBezTo>
                  <a:pt x="167473" y="129952"/>
                  <a:pt x="129952" y="167473"/>
                  <a:pt x="83736" y="167473"/>
                </a:cubicBezTo>
                <a:cubicBezTo>
                  <a:pt x="37521" y="167473"/>
                  <a:pt x="0" y="129952"/>
                  <a:pt x="0" y="83736"/>
                </a:cubicBezTo>
                <a:cubicBezTo>
                  <a:pt x="0" y="37521"/>
                  <a:pt x="37521" y="0"/>
                  <a:pt x="83736" y="0"/>
                </a:cubicBezTo>
                <a:close/>
                <a:moveTo>
                  <a:pt x="75886" y="39251"/>
                </a:moveTo>
                <a:lnTo>
                  <a:pt x="75886" y="83736"/>
                </a:lnTo>
                <a:cubicBezTo>
                  <a:pt x="75886" y="86353"/>
                  <a:pt x="77194" y="88806"/>
                  <a:pt x="79386" y="90278"/>
                </a:cubicBezTo>
                <a:lnTo>
                  <a:pt x="110787" y="111212"/>
                </a:lnTo>
                <a:cubicBezTo>
                  <a:pt x="114385" y="113633"/>
                  <a:pt x="119259" y="112651"/>
                  <a:pt x="121679" y="109021"/>
                </a:cubicBezTo>
                <a:cubicBezTo>
                  <a:pt x="124100" y="105390"/>
                  <a:pt x="123118" y="100549"/>
                  <a:pt x="119488" y="98128"/>
                </a:cubicBezTo>
                <a:lnTo>
                  <a:pt x="91587" y="79549"/>
                </a:lnTo>
                <a:lnTo>
                  <a:pt x="91587" y="39251"/>
                </a:lnTo>
                <a:cubicBezTo>
                  <a:pt x="91587" y="34901"/>
                  <a:pt x="88087" y="31401"/>
                  <a:pt x="83736" y="31401"/>
                </a:cubicBezTo>
                <a:cubicBezTo>
                  <a:pt x="79386" y="31401"/>
                  <a:pt x="75886" y="34901"/>
                  <a:pt x="75886" y="3925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Text 60"/>
          <p:cNvSpPr/>
          <p:nvPr/>
        </p:nvSpPr>
        <p:spPr>
          <a:xfrm>
            <a:off x="6384890" y="6234656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Ready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89077" y="6402128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100ms inference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68637" y="5933205"/>
            <a:ext cx="2654440" cy="703385"/>
          </a:xfrm>
          <a:custGeom>
            <a:avLst/>
            <a:gdLst/>
            <a:ahLst/>
            <a:cxnLst/>
            <a:rect l="l" t="t" r="r" b="b"/>
            <a:pathLst>
              <a:path w="2654440" h="703385">
                <a:moveTo>
                  <a:pt x="33495" y="0"/>
                </a:moveTo>
                <a:lnTo>
                  <a:pt x="2620944" y="0"/>
                </a:lnTo>
                <a:cubicBezTo>
                  <a:pt x="2639443" y="0"/>
                  <a:pt x="2654440" y="14996"/>
                  <a:pt x="2654440" y="33495"/>
                </a:cubicBezTo>
                <a:lnTo>
                  <a:pt x="2654440" y="669889"/>
                </a:lnTo>
                <a:cubicBezTo>
                  <a:pt x="2654440" y="688388"/>
                  <a:pt x="2639443" y="703385"/>
                  <a:pt x="2620944" y="703385"/>
                </a:cubicBezTo>
                <a:lnTo>
                  <a:pt x="33495" y="703385"/>
                </a:lnTo>
                <a:cubicBezTo>
                  <a:pt x="14996" y="703385"/>
                  <a:pt x="0" y="688388"/>
                  <a:pt x="0" y="669889"/>
                </a:cubicBezTo>
                <a:lnTo>
                  <a:pt x="0" y="33495"/>
                </a:lnTo>
                <a:cubicBezTo>
                  <a:pt x="0" y="14996"/>
                  <a:pt x="14996" y="0"/>
                  <a:pt x="3349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312121" y="6033689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20934" y="20934"/>
                </a:moveTo>
                <a:cubicBezTo>
                  <a:pt x="20934" y="15144"/>
                  <a:pt x="16257" y="10467"/>
                  <a:pt x="10467" y="10467"/>
                </a:cubicBezTo>
                <a:cubicBezTo>
                  <a:pt x="4677" y="10467"/>
                  <a:pt x="0" y="15144"/>
                  <a:pt x="0" y="20934"/>
                </a:cubicBezTo>
                <a:lnTo>
                  <a:pt x="0" y="130838"/>
                </a:lnTo>
                <a:cubicBezTo>
                  <a:pt x="0" y="145296"/>
                  <a:pt x="11710" y="157005"/>
                  <a:pt x="26168" y="157005"/>
                </a:cubicBezTo>
                <a:lnTo>
                  <a:pt x="157005" y="157005"/>
                </a:lnTo>
                <a:cubicBezTo>
                  <a:pt x="162795" y="157005"/>
                  <a:pt x="167473" y="152328"/>
                  <a:pt x="167473" y="146538"/>
                </a:cubicBezTo>
                <a:cubicBezTo>
                  <a:pt x="167473" y="140749"/>
                  <a:pt x="162795" y="136071"/>
                  <a:pt x="157005" y="136071"/>
                </a:cubicBezTo>
                <a:lnTo>
                  <a:pt x="26168" y="136071"/>
                </a:lnTo>
                <a:cubicBezTo>
                  <a:pt x="23289" y="136071"/>
                  <a:pt x="20934" y="133716"/>
                  <a:pt x="20934" y="130838"/>
                </a:cubicBezTo>
                <a:lnTo>
                  <a:pt x="20934" y="20934"/>
                </a:lnTo>
                <a:close/>
                <a:moveTo>
                  <a:pt x="153931" y="49260"/>
                </a:moveTo>
                <a:cubicBezTo>
                  <a:pt x="158019" y="45172"/>
                  <a:pt x="158019" y="38532"/>
                  <a:pt x="153931" y="34443"/>
                </a:cubicBezTo>
                <a:cubicBezTo>
                  <a:pt x="149842" y="30354"/>
                  <a:pt x="143202" y="30354"/>
                  <a:pt x="139113" y="34443"/>
                </a:cubicBezTo>
                <a:lnTo>
                  <a:pt x="104670" y="68919"/>
                </a:lnTo>
                <a:lnTo>
                  <a:pt x="85895" y="50176"/>
                </a:lnTo>
                <a:cubicBezTo>
                  <a:pt x="81806" y="46088"/>
                  <a:pt x="75166" y="46088"/>
                  <a:pt x="71078" y="50176"/>
                </a:cubicBezTo>
                <a:lnTo>
                  <a:pt x="39677" y="81577"/>
                </a:lnTo>
                <a:cubicBezTo>
                  <a:pt x="35588" y="85666"/>
                  <a:pt x="35588" y="92306"/>
                  <a:pt x="39677" y="96395"/>
                </a:cubicBezTo>
                <a:cubicBezTo>
                  <a:pt x="43765" y="100484"/>
                  <a:pt x="50405" y="100484"/>
                  <a:pt x="54494" y="96395"/>
                </a:cubicBezTo>
                <a:lnTo>
                  <a:pt x="78503" y="72386"/>
                </a:lnTo>
                <a:lnTo>
                  <a:pt x="97278" y="91161"/>
                </a:lnTo>
                <a:cubicBezTo>
                  <a:pt x="101367" y="95250"/>
                  <a:pt x="108007" y="95250"/>
                  <a:pt x="112095" y="91161"/>
                </a:cubicBezTo>
                <a:lnTo>
                  <a:pt x="153964" y="4929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6" name="Text 64"/>
          <p:cNvSpPr/>
          <p:nvPr/>
        </p:nvSpPr>
        <p:spPr>
          <a:xfrm>
            <a:off x="9139813" y="6234656"/>
            <a:ext cx="251208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Accurate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144000" y="6402128"/>
            <a:ext cx="250371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patterns</a:t>
            </a:r>
            <a:endParaRPr lang="en-US" sz="16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0F135B8F-0659-6CBB-D417-17952582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196" y="1520485"/>
            <a:ext cx="5437310" cy="29006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7625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57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the Model into a Comprehensive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6781800" cy="1143000"/>
          </a:xfrm>
          <a:custGeom>
            <a:avLst/>
            <a:gdLst/>
            <a:ahLst/>
            <a:cxnLst/>
            <a:rect l="l" t="t" r="r" b="b"/>
            <a:pathLst>
              <a:path w="6781800" h="1143000">
                <a:moveTo>
                  <a:pt x="0" y="0"/>
                </a:moveTo>
                <a:lnTo>
                  <a:pt x="6705596" y="0"/>
                </a:lnTo>
                <a:cubicBezTo>
                  <a:pt x="6747682" y="0"/>
                  <a:pt x="6781800" y="34118"/>
                  <a:pt x="6781800" y="76204"/>
                </a:cubicBezTo>
                <a:lnTo>
                  <a:pt x="6781800" y="1066796"/>
                </a:lnTo>
                <a:cubicBezTo>
                  <a:pt x="6781800" y="1108882"/>
                  <a:pt x="6747682" y="1143000"/>
                  <a:pt x="670559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Shape 6"/>
          <p:cNvSpPr/>
          <p:nvPr/>
        </p:nvSpPr>
        <p:spPr>
          <a:xfrm>
            <a:off x="547688" y="1866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7"/>
          <p:cNvSpPr/>
          <p:nvPr/>
        </p:nvSpPr>
        <p:spPr>
          <a:xfrm>
            <a:off x="863679" y="1828800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Enhancement Roadmap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79" y="2171700"/>
            <a:ext cx="6238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current model can be significantly improved and expanded into a comprehensive air quality management platform through the following enhancements: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952750"/>
            <a:ext cx="3343275" cy="1695450"/>
          </a:xfrm>
          <a:custGeom>
            <a:avLst/>
            <a:gdLst/>
            <a:ahLst/>
            <a:cxnLst/>
            <a:rect l="l" t="t" r="r" b="b"/>
            <a:pathLst>
              <a:path w="3343275" h="169545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1619256"/>
                </a:lnTo>
                <a:cubicBezTo>
                  <a:pt x="3343275" y="1661337"/>
                  <a:pt x="3309162" y="1695450"/>
                  <a:pt x="3267081" y="1695450"/>
                </a:cubicBezTo>
                <a:lnTo>
                  <a:pt x="76194" y="1695450"/>
                </a:lnTo>
                <a:cubicBezTo>
                  <a:pt x="34113" y="1695450"/>
                  <a:pt x="0" y="1661337"/>
                  <a:pt x="0" y="16192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1000" y="2952750"/>
            <a:ext cx="3343275" cy="38100"/>
          </a:xfrm>
          <a:custGeom>
            <a:avLst/>
            <a:gdLst/>
            <a:ahLst/>
            <a:cxnLst/>
            <a:rect l="l" t="t" r="r" b="b"/>
            <a:pathLst>
              <a:path w="3343275" h="3810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557213" y="3143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847725" y="31242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" y="3429000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real-time air quality data feeds from ground sensors and satellite observations.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7688" y="390512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ubicBezTo>
                  <a:pt x="0" y="25608"/>
                  <a:pt x="25608" y="0"/>
                  <a:pt x="57150" y="0"/>
                </a:cubicBezTo>
                <a:close/>
                <a:moveTo>
                  <a:pt x="51792" y="26789"/>
                </a:moveTo>
                <a:lnTo>
                  <a:pt x="51792" y="57150"/>
                </a:lnTo>
                <a:cubicBezTo>
                  <a:pt x="51792" y="58936"/>
                  <a:pt x="52685" y="60610"/>
                  <a:pt x="54181" y="61615"/>
                </a:cubicBezTo>
                <a:lnTo>
                  <a:pt x="75612" y="75902"/>
                </a:lnTo>
                <a:cubicBezTo>
                  <a:pt x="78068" y="77554"/>
                  <a:pt x="81394" y="76885"/>
                  <a:pt x="83046" y="74407"/>
                </a:cubicBezTo>
                <a:cubicBezTo>
                  <a:pt x="84698" y="71929"/>
                  <a:pt x="84028" y="68625"/>
                  <a:pt x="81550" y="66973"/>
                </a:cubicBezTo>
                <a:lnTo>
                  <a:pt x="62508" y="54293"/>
                </a:lnTo>
                <a:lnTo>
                  <a:pt x="62508" y="26789"/>
                </a:lnTo>
                <a:cubicBezTo>
                  <a:pt x="62508" y="23820"/>
                  <a:pt x="60119" y="21431"/>
                  <a:pt x="57150" y="21431"/>
                </a:cubicBezTo>
                <a:cubicBezTo>
                  <a:pt x="54181" y="21431"/>
                  <a:pt x="51792" y="23820"/>
                  <a:pt x="51792" y="26789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752475" y="3886200"/>
            <a:ext cx="1247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updates every hour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36670" y="2952750"/>
            <a:ext cx="3343275" cy="1695450"/>
          </a:xfrm>
          <a:custGeom>
            <a:avLst/>
            <a:gdLst/>
            <a:ahLst/>
            <a:cxnLst/>
            <a:rect l="l" t="t" r="r" b="b"/>
            <a:pathLst>
              <a:path w="3343275" h="169545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1619256"/>
                </a:lnTo>
                <a:cubicBezTo>
                  <a:pt x="3343275" y="1661337"/>
                  <a:pt x="3309162" y="1695450"/>
                  <a:pt x="3267081" y="1695450"/>
                </a:cubicBezTo>
                <a:lnTo>
                  <a:pt x="76194" y="1695450"/>
                </a:lnTo>
                <a:cubicBezTo>
                  <a:pt x="34113" y="1695450"/>
                  <a:pt x="0" y="1661337"/>
                  <a:pt x="0" y="16192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36670" y="2952750"/>
            <a:ext cx="3343275" cy="38100"/>
          </a:xfrm>
          <a:custGeom>
            <a:avLst/>
            <a:gdLst/>
            <a:ahLst/>
            <a:cxnLst/>
            <a:rect l="l" t="t" r="r" b="b"/>
            <a:pathLst>
              <a:path w="3343275" h="3810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976" y="3143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68771" y="-5507"/>
                </a:moveTo>
                <a:cubicBezTo>
                  <a:pt x="170594" y="-4763"/>
                  <a:pt x="171934" y="-3125"/>
                  <a:pt x="172306" y="-1191"/>
                </a:cubicBezTo>
                <a:lnTo>
                  <a:pt x="178594" y="29766"/>
                </a:lnTo>
                <a:lnTo>
                  <a:pt x="209550" y="36016"/>
                </a:lnTo>
                <a:cubicBezTo>
                  <a:pt x="211485" y="36426"/>
                  <a:pt x="213085" y="37728"/>
                  <a:pt x="213866" y="39551"/>
                </a:cubicBezTo>
                <a:cubicBezTo>
                  <a:pt x="214647" y="41374"/>
                  <a:pt x="214424" y="43458"/>
                  <a:pt x="213345" y="45095"/>
                </a:cubicBezTo>
                <a:lnTo>
                  <a:pt x="195895" y="71400"/>
                </a:lnTo>
                <a:lnTo>
                  <a:pt x="213345" y="97706"/>
                </a:lnTo>
                <a:cubicBezTo>
                  <a:pt x="214424" y="99343"/>
                  <a:pt x="214647" y="101426"/>
                  <a:pt x="213866" y="103250"/>
                </a:cubicBezTo>
                <a:cubicBezTo>
                  <a:pt x="213085" y="105073"/>
                  <a:pt x="211485" y="106412"/>
                  <a:pt x="209550" y="106784"/>
                </a:cubicBezTo>
                <a:lnTo>
                  <a:pt x="186407" y="111509"/>
                </a:lnTo>
                <a:cubicBezTo>
                  <a:pt x="181980" y="108272"/>
                  <a:pt x="177068" y="105705"/>
                  <a:pt x="171748" y="103919"/>
                </a:cubicBezTo>
                <a:cubicBezTo>
                  <a:pt x="170817" y="99194"/>
                  <a:pt x="169218" y="94729"/>
                  <a:pt x="167022" y="90636"/>
                </a:cubicBezTo>
                <a:cubicBezTo>
                  <a:pt x="170557" y="85092"/>
                  <a:pt x="172641" y="78507"/>
                  <a:pt x="172641" y="71400"/>
                </a:cubicBezTo>
                <a:cubicBezTo>
                  <a:pt x="172641" y="51681"/>
                  <a:pt x="156642" y="35682"/>
                  <a:pt x="136922" y="35682"/>
                </a:cubicBezTo>
                <a:cubicBezTo>
                  <a:pt x="119100" y="35682"/>
                  <a:pt x="104329" y="48741"/>
                  <a:pt x="101650" y="65782"/>
                </a:cubicBezTo>
                <a:cubicBezTo>
                  <a:pt x="91790" y="58229"/>
                  <a:pt x="79511" y="53690"/>
                  <a:pt x="66154" y="53541"/>
                </a:cubicBezTo>
                <a:lnTo>
                  <a:pt x="60536" y="45095"/>
                </a:lnTo>
                <a:cubicBezTo>
                  <a:pt x="59457" y="43458"/>
                  <a:pt x="59234" y="41374"/>
                  <a:pt x="60015" y="39551"/>
                </a:cubicBezTo>
                <a:cubicBezTo>
                  <a:pt x="60796" y="37728"/>
                  <a:pt x="62396" y="36388"/>
                  <a:pt x="64331" y="36016"/>
                </a:cubicBezTo>
                <a:lnTo>
                  <a:pt x="95250" y="29766"/>
                </a:lnTo>
                <a:lnTo>
                  <a:pt x="101501" y="-1191"/>
                </a:lnTo>
                <a:cubicBezTo>
                  <a:pt x="101910" y="-3125"/>
                  <a:pt x="103212" y="-4725"/>
                  <a:pt x="105035" y="-5507"/>
                </a:cubicBezTo>
                <a:cubicBezTo>
                  <a:pt x="106859" y="-6288"/>
                  <a:pt x="108942" y="-6065"/>
                  <a:pt x="110579" y="-4986"/>
                </a:cubicBezTo>
                <a:lnTo>
                  <a:pt x="136922" y="12502"/>
                </a:lnTo>
                <a:lnTo>
                  <a:pt x="163227" y="-4949"/>
                </a:lnTo>
                <a:cubicBezTo>
                  <a:pt x="164864" y="-6028"/>
                  <a:pt x="166948" y="-6251"/>
                  <a:pt x="168771" y="-5469"/>
                </a:cubicBezTo>
                <a:close/>
                <a:moveTo>
                  <a:pt x="154781" y="71438"/>
                </a:moveTo>
                <a:cubicBezTo>
                  <a:pt x="154781" y="72851"/>
                  <a:pt x="154632" y="74228"/>
                  <a:pt x="154298" y="75567"/>
                </a:cubicBezTo>
                <a:cubicBezTo>
                  <a:pt x="146224" y="69242"/>
                  <a:pt x="136066" y="65484"/>
                  <a:pt x="125016" y="65484"/>
                </a:cubicBezTo>
                <a:cubicBezTo>
                  <a:pt x="123304" y="65484"/>
                  <a:pt x="121630" y="65559"/>
                  <a:pt x="119993" y="65745"/>
                </a:cubicBezTo>
                <a:cubicBezTo>
                  <a:pt x="122374" y="58675"/>
                  <a:pt x="129071" y="53578"/>
                  <a:pt x="136922" y="53578"/>
                </a:cubicBezTo>
                <a:cubicBezTo>
                  <a:pt x="146782" y="53578"/>
                  <a:pt x="154781" y="61578"/>
                  <a:pt x="154781" y="71438"/>
                </a:cubicBezTo>
                <a:close/>
                <a:moveTo>
                  <a:pt x="35719" y="190500"/>
                </a:moveTo>
                <a:cubicBezTo>
                  <a:pt x="15999" y="190500"/>
                  <a:pt x="0" y="174501"/>
                  <a:pt x="0" y="154781"/>
                </a:cubicBezTo>
                <a:cubicBezTo>
                  <a:pt x="0" y="138968"/>
                  <a:pt x="10269" y="125537"/>
                  <a:pt x="24519" y="120848"/>
                </a:cubicBezTo>
                <a:cubicBezTo>
                  <a:pt x="24036" y="118356"/>
                  <a:pt x="23812" y="115751"/>
                  <a:pt x="23812" y="113109"/>
                </a:cubicBezTo>
                <a:cubicBezTo>
                  <a:pt x="23812" y="90078"/>
                  <a:pt x="42453" y="71438"/>
                  <a:pt x="65484" y="71438"/>
                </a:cubicBezTo>
                <a:cubicBezTo>
                  <a:pt x="81521" y="71438"/>
                  <a:pt x="95436" y="80479"/>
                  <a:pt x="102394" y="93762"/>
                </a:cubicBezTo>
                <a:cubicBezTo>
                  <a:pt x="107863" y="87399"/>
                  <a:pt x="115974" y="83344"/>
                  <a:pt x="125016" y="83344"/>
                </a:cubicBezTo>
                <a:cubicBezTo>
                  <a:pt x="141461" y="83344"/>
                  <a:pt x="154781" y="96664"/>
                  <a:pt x="154781" y="113109"/>
                </a:cubicBezTo>
                <a:cubicBezTo>
                  <a:pt x="154781" y="115156"/>
                  <a:pt x="154558" y="117128"/>
                  <a:pt x="154186" y="119063"/>
                </a:cubicBezTo>
                <a:cubicBezTo>
                  <a:pt x="154372" y="119063"/>
                  <a:pt x="154595" y="119063"/>
                  <a:pt x="154781" y="119063"/>
                </a:cubicBez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35719" y="19050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4303395" y="31242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 Parameters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89070" y="3429000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weather data: temperature, humidity, wind speed, and precipitation.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3358" y="390512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64294" y="7144"/>
                </a:moveTo>
                <a:cubicBezTo>
                  <a:pt x="64294" y="11095"/>
                  <a:pt x="67486" y="14288"/>
                  <a:pt x="71438" y="14288"/>
                </a:cubicBezTo>
                <a:lnTo>
                  <a:pt x="80367" y="14288"/>
                </a:lnTo>
                <a:cubicBezTo>
                  <a:pt x="83336" y="14288"/>
                  <a:pt x="85725" y="16676"/>
                  <a:pt x="85725" y="19645"/>
                </a:cubicBezTo>
                <a:cubicBezTo>
                  <a:pt x="85725" y="22614"/>
                  <a:pt x="83336" y="25003"/>
                  <a:pt x="80367" y="25003"/>
                </a:cubicBezTo>
                <a:lnTo>
                  <a:pt x="7144" y="25003"/>
                </a:lnTo>
                <a:cubicBezTo>
                  <a:pt x="3192" y="25003"/>
                  <a:pt x="0" y="28195"/>
                  <a:pt x="0" y="32147"/>
                </a:cubicBezTo>
                <a:cubicBezTo>
                  <a:pt x="0" y="36098"/>
                  <a:pt x="3192" y="39291"/>
                  <a:pt x="7144" y="39291"/>
                </a:cubicBezTo>
                <a:lnTo>
                  <a:pt x="80367" y="39291"/>
                </a:lnTo>
                <a:cubicBezTo>
                  <a:pt x="91217" y="39291"/>
                  <a:pt x="100013" y="30495"/>
                  <a:pt x="100013" y="19645"/>
                </a:cubicBezTo>
                <a:cubicBezTo>
                  <a:pt x="100013" y="8796"/>
                  <a:pt x="91217" y="0"/>
                  <a:pt x="80367" y="0"/>
                </a:cubicBezTo>
                <a:lnTo>
                  <a:pt x="71438" y="0"/>
                </a:lnTo>
                <a:cubicBezTo>
                  <a:pt x="67486" y="0"/>
                  <a:pt x="64294" y="3192"/>
                  <a:pt x="64294" y="7144"/>
                </a:cubicBezTo>
                <a:close/>
                <a:moveTo>
                  <a:pt x="78581" y="85725"/>
                </a:moveTo>
                <a:cubicBezTo>
                  <a:pt x="78581" y="89676"/>
                  <a:pt x="81774" y="92869"/>
                  <a:pt x="85725" y="92869"/>
                </a:cubicBezTo>
                <a:lnTo>
                  <a:pt x="92869" y="92869"/>
                </a:lnTo>
                <a:cubicBezTo>
                  <a:pt x="104701" y="92869"/>
                  <a:pt x="114300" y="83269"/>
                  <a:pt x="114300" y="71438"/>
                </a:cubicBezTo>
                <a:cubicBezTo>
                  <a:pt x="114300" y="59606"/>
                  <a:pt x="104701" y="50006"/>
                  <a:pt x="92869" y="50006"/>
                </a:cubicBez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92869" y="64294"/>
                </a:lnTo>
                <a:cubicBezTo>
                  <a:pt x="96820" y="64294"/>
                  <a:pt x="100013" y="67486"/>
                  <a:pt x="100013" y="71438"/>
                </a:cubicBezTo>
                <a:cubicBezTo>
                  <a:pt x="100013" y="75389"/>
                  <a:pt x="96820" y="78581"/>
                  <a:pt x="92869" y="78581"/>
                </a:cubicBezTo>
                <a:lnTo>
                  <a:pt x="85725" y="78581"/>
                </a:lnTo>
                <a:cubicBezTo>
                  <a:pt x="81774" y="78581"/>
                  <a:pt x="78581" y="81774"/>
                  <a:pt x="78581" y="85725"/>
                </a:cubicBezTo>
                <a:close/>
                <a:moveTo>
                  <a:pt x="28575" y="114300"/>
                </a:moveTo>
                <a:lnTo>
                  <a:pt x="37505" y="114300"/>
                </a:lnTo>
                <a:cubicBezTo>
                  <a:pt x="48354" y="114300"/>
                  <a:pt x="57150" y="105504"/>
                  <a:pt x="57150" y="94655"/>
                </a:cubicBezTo>
                <a:cubicBezTo>
                  <a:pt x="57150" y="83805"/>
                  <a:pt x="48354" y="75009"/>
                  <a:pt x="37505" y="75009"/>
                </a:cubicBezTo>
                <a:lnTo>
                  <a:pt x="7144" y="75009"/>
                </a:lnTo>
                <a:cubicBezTo>
                  <a:pt x="3192" y="75009"/>
                  <a:pt x="0" y="78202"/>
                  <a:pt x="0" y="82153"/>
                </a:cubicBezTo>
                <a:cubicBezTo>
                  <a:pt x="0" y="86105"/>
                  <a:pt x="3192" y="89297"/>
                  <a:pt x="7144" y="89297"/>
                </a:cubicBezTo>
                <a:lnTo>
                  <a:pt x="37505" y="89297"/>
                </a:lnTo>
                <a:cubicBezTo>
                  <a:pt x="40474" y="89297"/>
                  <a:pt x="42863" y="91686"/>
                  <a:pt x="42863" y="94655"/>
                </a:cubicBezTo>
                <a:cubicBezTo>
                  <a:pt x="42863" y="97624"/>
                  <a:pt x="40474" y="100013"/>
                  <a:pt x="37505" y="100013"/>
                </a:cubicBezTo>
                <a:lnTo>
                  <a:pt x="28575" y="100013"/>
                </a:lnTo>
                <a:cubicBezTo>
                  <a:pt x="24624" y="100013"/>
                  <a:pt x="21431" y="103205"/>
                  <a:pt x="21431" y="107156"/>
                </a:cubicBezTo>
                <a:cubicBezTo>
                  <a:pt x="21431" y="111108"/>
                  <a:pt x="24624" y="114300"/>
                  <a:pt x="28575" y="11430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4208145" y="3886200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prediction accuracy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4781550"/>
            <a:ext cx="3343275" cy="1695450"/>
          </a:xfrm>
          <a:custGeom>
            <a:avLst/>
            <a:gdLst/>
            <a:ahLst/>
            <a:cxnLst/>
            <a:rect l="l" t="t" r="r" b="b"/>
            <a:pathLst>
              <a:path w="3343275" h="169545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1619256"/>
                </a:lnTo>
                <a:cubicBezTo>
                  <a:pt x="3343275" y="1661337"/>
                  <a:pt x="3309162" y="1695450"/>
                  <a:pt x="3267081" y="1695450"/>
                </a:cubicBezTo>
                <a:lnTo>
                  <a:pt x="76194" y="1695450"/>
                </a:lnTo>
                <a:cubicBezTo>
                  <a:pt x="34113" y="1695450"/>
                  <a:pt x="0" y="1661337"/>
                  <a:pt x="0" y="16192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1000" y="4781550"/>
            <a:ext cx="3343275" cy="38100"/>
          </a:xfrm>
          <a:custGeom>
            <a:avLst/>
            <a:gdLst/>
            <a:ahLst/>
            <a:cxnLst/>
            <a:rect l="l" t="t" r="r" b="b"/>
            <a:pathLst>
              <a:path w="3343275" h="3810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Shape 25"/>
          <p:cNvSpPr/>
          <p:nvPr/>
        </p:nvSpPr>
        <p:spPr>
          <a:xfrm>
            <a:off x="533400" y="49720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847725" y="49530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Maps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3400" y="5257800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interactive pollution visualization maps with geographic overlays.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7688" y="573392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78559" y="62508"/>
                </a:moveTo>
                <a:lnTo>
                  <a:pt x="35942" y="62508"/>
                </a:lnTo>
                <a:cubicBezTo>
                  <a:pt x="36589" y="76907"/>
                  <a:pt x="39782" y="90168"/>
                  <a:pt x="44314" y="99879"/>
                </a:cubicBezTo>
                <a:cubicBezTo>
                  <a:pt x="46859" y="105348"/>
                  <a:pt x="49604" y="109210"/>
                  <a:pt x="52149" y="111576"/>
                </a:cubicBezTo>
                <a:cubicBezTo>
                  <a:pt x="54650" y="113920"/>
                  <a:pt x="56369" y="114300"/>
                  <a:pt x="57262" y="114300"/>
                </a:cubicBezTo>
                <a:cubicBezTo>
                  <a:pt x="58155" y="114300"/>
                  <a:pt x="59874" y="113920"/>
                  <a:pt x="62374" y="111576"/>
                </a:cubicBezTo>
                <a:cubicBezTo>
                  <a:pt x="64919" y="109210"/>
                  <a:pt x="67665" y="105326"/>
                  <a:pt x="70210" y="99879"/>
                </a:cubicBezTo>
                <a:cubicBezTo>
                  <a:pt x="74741" y="90168"/>
                  <a:pt x="77934" y="76907"/>
                  <a:pt x="78581" y="62508"/>
                </a:cubicBezTo>
                <a:close/>
                <a:moveTo>
                  <a:pt x="35920" y="51792"/>
                </a:moveTo>
                <a:lnTo>
                  <a:pt x="78537" y="51792"/>
                </a:lnTo>
                <a:cubicBezTo>
                  <a:pt x="77912" y="37393"/>
                  <a:pt x="74719" y="24132"/>
                  <a:pt x="70187" y="14421"/>
                </a:cubicBezTo>
                <a:cubicBezTo>
                  <a:pt x="67642" y="8974"/>
                  <a:pt x="64897" y="5090"/>
                  <a:pt x="62352" y="2724"/>
                </a:cubicBezTo>
                <a:cubicBezTo>
                  <a:pt x="59851" y="380"/>
                  <a:pt x="58132" y="0"/>
                  <a:pt x="57239" y="0"/>
                </a:cubicBezTo>
                <a:cubicBezTo>
                  <a:pt x="56346" y="0"/>
                  <a:pt x="54627" y="380"/>
                  <a:pt x="52127" y="2724"/>
                </a:cubicBezTo>
                <a:cubicBezTo>
                  <a:pt x="49582" y="5090"/>
                  <a:pt x="46836" y="8974"/>
                  <a:pt x="44291" y="14421"/>
                </a:cubicBezTo>
                <a:cubicBezTo>
                  <a:pt x="39759" y="24132"/>
                  <a:pt x="36567" y="37393"/>
                  <a:pt x="35920" y="51792"/>
                </a:cubicBezTo>
                <a:close/>
                <a:moveTo>
                  <a:pt x="25204" y="51792"/>
                </a:moveTo>
                <a:cubicBezTo>
                  <a:pt x="25985" y="32683"/>
                  <a:pt x="30919" y="14935"/>
                  <a:pt x="38130" y="3282"/>
                </a:cubicBezTo>
                <a:cubicBezTo>
                  <a:pt x="17569" y="10559"/>
                  <a:pt x="2433" y="29289"/>
                  <a:pt x="335" y="51792"/>
                </a:cubicBezTo>
                <a:lnTo>
                  <a:pt x="25204" y="51792"/>
                </a:lnTo>
                <a:close/>
                <a:moveTo>
                  <a:pt x="335" y="62508"/>
                </a:moveTo>
                <a:cubicBezTo>
                  <a:pt x="2433" y="85011"/>
                  <a:pt x="17569" y="103741"/>
                  <a:pt x="38130" y="111018"/>
                </a:cubicBezTo>
                <a:cubicBezTo>
                  <a:pt x="30919" y="99365"/>
                  <a:pt x="25985" y="81617"/>
                  <a:pt x="25204" y="62508"/>
                </a:cubicBezTo>
                <a:lnTo>
                  <a:pt x="335" y="62508"/>
                </a:lnTo>
                <a:close/>
                <a:moveTo>
                  <a:pt x="89275" y="62508"/>
                </a:moveTo>
                <a:cubicBezTo>
                  <a:pt x="88493" y="81617"/>
                  <a:pt x="83560" y="99365"/>
                  <a:pt x="76349" y="111018"/>
                </a:cubicBezTo>
                <a:cubicBezTo>
                  <a:pt x="96909" y="103718"/>
                  <a:pt x="112045" y="85011"/>
                  <a:pt x="114144" y="62508"/>
                </a:cubicBezTo>
                <a:lnTo>
                  <a:pt x="89275" y="62508"/>
                </a:lnTo>
                <a:close/>
                <a:moveTo>
                  <a:pt x="114144" y="51792"/>
                </a:moveTo>
                <a:cubicBezTo>
                  <a:pt x="112045" y="29289"/>
                  <a:pt x="96909" y="10559"/>
                  <a:pt x="76349" y="3282"/>
                </a:cubicBezTo>
                <a:cubicBezTo>
                  <a:pt x="83560" y="14935"/>
                  <a:pt x="88493" y="32683"/>
                  <a:pt x="89275" y="51792"/>
                </a:cubicBezTo>
                <a:lnTo>
                  <a:pt x="114144" y="51792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752475" y="57150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coverage visualization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36670" y="4781550"/>
            <a:ext cx="3343275" cy="1695450"/>
          </a:xfrm>
          <a:custGeom>
            <a:avLst/>
            <a:gdLst/>
            <a:ahLst/>
            <a:cxnLst/>
            <a:rect l="l" t="t" r="r" b="b"/>
            <a:pathLst>
              <a:path w="3343275" h="169545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1619256"/>
                </a:lnTo>
                <a:cubicBezTo>
                  <a:pt x="3343275" y="1661337"/>
                  <a:pt x="3309162" y="1695450"/>
                  <a:pt x="3267081" y="1695450"/>
                </a:cubicBezTo>
                <a:lnTo>
                  <a:pt x="76194" y="1695450"/>
                </a:lnTo>
                <a:cubicBezTo>
                  <a:pt x="34113" y="1695450"/>
                  <a:pt x="0" y="1661337"/>
                  <a:pt x="0" y="16192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36670" y="4781550"/>
            <a:ext cx="3343275" cy="38100"/>
          </a:xfrm>
          <a:custGeom>
            <a:avLst/>
            <a:gdLst/>
            <a:ahLst/>
            <a:cxnLst/>
            <a:rect l="l" t="t" r="r" b="b"/>
            <a:pathLst>
              <a:path w="3343275" h="3810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4000976" y="4972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13481" y="71065"/>
                </a:moveTo>
                <a:cubicBezTo>
                  <a:pt x="109984" y="67568"/>
                  <a:pt x="104329" y="67568"/>
                  <a:pt x="100868" y="71065"/>
                </a:cubicBezTo>
                <a:lnTo>
                  <a:pt x="74079" y="97854"/>
                </a:lnTo>
                <a:cubicBezTo>
                  <a:pt x="70582" y="101352"/>
                  <a:pt x="70582" y="107007"/>
                  <a:pt x="74079" y="110468"/>
                </a:cubicBezTo>
                <a:cubicBezTo>
                  <a:pt x="77577" y="113928"/>
                  <a:pt x="83232" y="113965"/>
                  <a:pt x="86692" y="110468"/>
                </a:cubicBezTo>
                <a:lnTo>
                  <a:pt x="98227" y="98933"/>
                </a:lnTo>
                <a:lnTo>
                  <a:pt x="98227" y="136922"/>
                </a:lnTo>
                <a:cubicBezTo>
                  <a:pt x="98227" y="141870"/>
                  <a:pt x="102208" y="145852"/>
                  <a:pt x="107156" y="145852"/>
                </a:cubicBezTo>
                <a:cubicBezTo>
                  <a:pt x="112105" y="145852"/>
                  <a:pt x="116086" y="141870"/>
                  <a:pt x="116086" y="136922"/>
                </a:cubicBezTo>
                <a:lnTo>
                  <a:pt x="116086" y="98933"/>
                </a:lnTo>
                <a:lnTo>
                  <a:pt x="127620" y="110468"/>
                </a:lnTo>
                <a:cubicBezTo>
                  <a:pt x="131118" y="113965"/>
                  <a:pt x="136773" y="113965"/>
                  <a:pt x="140233" y="110468"/>
                </a:cubicBezTo>
                <a:cubicBezTo>
                  <a:pt x="143694" y="106970"/>
                  <a:pt x="143731" y="101315"/>
                  <a:pt x="140233" y="97854"/>
                </a:cubicBezTo>
                <a:lnTo>
                  <a:pt x="113444" y="71065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4303395" y="49530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989070" y="5257800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as a cloud-based monitoring system with API access.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10501" y="573392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4288" y="7144"/>
                </a:moveTo>
                <a:cubicBezTo>
                  <a:pt x="6407" y="7144"/>
                  <a:pt x="0" y="13551"/>
                  <a:pt x="0" y="21431"/>
                </a:cubicBezTo>
                <a:lnTo>
                  <a:pt x="0" y="35719"/>
                </a:lnTo>
                <a:cubicBezTo>
                  <a:pt x="0" y="43599"/>
                  <a:pt x="6407" y="50006"/>
                  <a:pt x="14288" y="50006"/>
                </a:cubicBezTo>
                <a:lnTo>
                  <a:pt x="85725" y="50006"/>
                </a:lnTo>
                <a:cubicBezTo>
                  <a:pt x="93605" y="50006"/>
                  <a:pt x="100013" y="43599"/>
                  <a:pt x="100013" y="35719"/>
                </a:cubicBezTo>
                <a:lnTo>
                  <a:pt x="100013" y="21431"/>
                </a:lnTo>
                <a:cubicBezTo>
                  <a:pt x="100013" y="13551"/>
                  <a:pt x="93605" y="7144"/>
                  <a:pt x="85725" y="7144"/>
                </a:cubicBezTo>
                <a:lnTo>
                  <a:pt x="14288" y="7144"/>
                </a:lnTo>
                <a:close/>
                <a:moveTo>
                  <a:pt x="62508" y="23217"/>
                </a:moveTo>
                <a:cubicBezTo>
                  <a:pt x="65465" y="23217"/>
                  <a:pt x="67866" y="25618"/>
                  <a:pt x="67866" y="28575"/>
                </a:cubicBezTo>
                <a:cubicBezTo>
                  <a:pt x="67866" y="31532"/>
                  <a:pt x="65465" y="33933"/>
                  <a:pt x="62508" y="33933"/>
                </a:cubicBezTo>
                <a:cubicBezTo>
                  <a:pt x="59551" y="33933"/>
                  <a:pt x="57150" y="31532"/>
                  <a:pt x="57150" y="28575"/>
                </a:cubicBezTo>
                <a:cubicBezTo>
                  <a:pt x="57150" y="25618"/>
                  <a:pt x="59551" y="23217"/>
                  <a:pt x="62508" y="23217"/>
                </a:cubicBezTo>
                <a:close/>
                <a:moveTo>
                  <a:pt x="75009" y="28575"/>
                </a:moveTo>
                <a:cubicBezTo>
                  <a:pt x="75009" y="25618"/>
                  <a:pt x="77410" y="23217"/>
                  <a:pt x="80367" y="23217"/>
                </a:cubicBezTo>
                <a:cubicBezTo>
                  <a:pt x="83324" y="23217"/>
                  <a:pt x="85725" y="25618"/>
                  <a:pt x="85725" y="28575"/>
                </a:cubicBezTo>
                <a:cubicBezTo>
                  <a:pt x="85725" y="31532"/>
                  <a:pt x="83324" y="33933"/>
                  <a:pt x="80367" y="33933"/>
                </a:cubicBezTo>
                <a:cubicBezTo>
                  <a:pt x="77410" y="33933"/>
                  <a:pt x="75009" y="31532"/>
                  <a:pt x="75009" y="28575"/>
                </a:cubicBezTo>
                <a:close/>
                <a:moveTo>
                  <a:pt x="14288" y="64294"/>
                </a:moveTo>
                <a:cubicBezTo>
                  <a:pt x="6407" y="64294"/>
                  <a:pt x="0" y="70701"/>
                  <a:pt x="0" y="78581"/>
                </a:cubicBez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78581"/>
                </a:lnTo>
                <a:cubicBezTo>
                  <a:pt x="100013" y="70701"/>
                  <a:pt x="93605" y="64294"/>
                  <a:pt x="85725" y="64294"/>
                </a:cubicBezTo>
                <a:lnTo>
                  <a:pt x="14288" y="64294"/>
                </a:lnTo>
                <a:close/>
                <a:moveTo>
                  <a:pt x="62508" y="80367"/>
                </a:moveTo>
                <a:cubicBezTo>
                  <a:pt x="65465" y="80367"/>
                  <a:pt x="67866" y="82768"/>
                  <a:pt x="67866" y="85725"/>
                </a:cubicBezTo>
                <a:cubicBezTo>
                  <a:pt x="67866" y="88682"/>
                  <a:pt x="65465" y="91083"/>
                  <a:pt x="62508" y="91083"/>
                </a:cubicBezTo>
                <a:cubicBezTo>
                  <a:pt x="59551" y="91083"/>
                  <a:pt x="57150" y="88682"/>
                  <a:pt x="57150" y="85725"/>
                </a:cubicBezTo>
                <a:cubicBezTo>
                  <a:pt x="57150" y="82768"/>
                  <a:pt x="59551" y="80367"/>
                  <a:pt x="62508" y="80367"/>
                </a:cubicBezTo>
                <a:close/>
                <a:moveTo>
                  <a:pt x="75009" y="85725"/>
                </a:moveTo>
                <a:cubicBezTo>
                  <a:pt x="75009" y="82768"/>
                  <a:pt x="77410" y="80367"/>
                  <a:pt x="80367" y="80367"/>
                </a:cubicBezTo>
                <a:cubicBezTo>
                  <a:pt x="83324" y="80367"/>
                  <a:pt x="85725" y="82768"/>
                  <a:pt x="85725" y="85725"/>
                </a:cubicBezTo>
                <a:cubicBezTo>
                  <a:pt x="85725" y="88682"/>
                  <a:pt x="83324" y="91083"/>
                  <a:pt x="80367" y="91083"/>
                </a:cubicBezTo>
                <a:cubicBezTo>
                  <a:pt x="77410" y="91083"/>
                  <a:pt x="75009" y="88682"/>
                  <a:pt x="75009" y="8572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8" name="Text 36"/>
          <p:cNvSpPr/>
          <p:nvPr/>
        </p:nvSpPr>
        <p:spPr>
          <a:xfrm>
            <a:off x="4208145" y="57150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infrastructure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30440" y="1676400"/>
            <a:ext cx="4476750" cy="2914650"/>
          </a:xfrm>
          <a:custGeom>
            <a:avLst/>
            <a:gdLst/>
            <a:ahLst/>
            <a:cxnLst/>
            <a:rect l="l" t="t" r="r" b="b"/>
            <a:pathLst>
              <a:path w="4476750" h="2914650">
                <a:moveTo>
                  <a:pt x="76189" y="0"/>
                </a:moveTo>
                <a:lnTo>
                  <a:pt x="4400561" y="0"/>
                </a:lnTo>
                <a:cubicBezTo>
                  <a:pt x="4442639" y="0"/>
                  <a:pt x="4476750" y="34111"/>
                  <a:pt x="4476750" y="76189"/>
                </a:cubicBezTo>
                <a:lnTo>
                  <a:pt x="4476750" y="2838461"/>
                </a:lnTo>
                <a:cubicBezTo>
                  <a:pt x="4476750" y="2880539"/>
                  <a:pt x="4442639" y="2914650"/>
                  <a:pt x="4400561" y="2914650"/>
                </a:cubicBezTo>
                <a:lnTo>
                  <a:pt x="76189" y="2914650"/>
                </a:lnTo>
                <a:cubicBezTo>
                  <a:pt x="34111" y="2914650"/>
                  <a:pt x="0" y="2880539"/>
                  <a:pt x="0" y="2838461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pic>
        <p:nvPicPr>
          <p:cNvPr id="40" name="Image 0" descr="https://kimi-web-img.moonshot.cn/img/scx2.b-cdn.net/f60c676a4d020550a163a2609a6334d4571053ea.jpg"/>
          <p:cNvPicPr>
            <a:picLocks noChangeAspect="1"/>
          </p:cNvPicPr>
          <p:nvPr/>
        </p:nvPicPr>
        <p:blipFill>
          <a:blip r:embed="rId3"/>
          <a:srcRect t="9149" b="9149"/>
          <a:stretch/>
        </p:blipFill>
        <p:spPr>
          <a:xfrm>
            <a:off x="7330440" y="1676400"/>
            <a:ext cx="4476750" cy="1828800"/>
          </a:xfrm>
          <a:prstGeom prst="roundRect">
            <a:avLst>
              <a:gd name="adj" fmla="val 2614"/>
            </a:avLst>
          </a:prstGeom>
        </p:spPr>
      </p:pic>
      <p:sp>
        <p:nvSpPr>
          <p:cNvPr id="41" name="Text 38"/>
          <p:cNvSpPr/>
          <p:nvPr/>
        </p:nvSpPr>
        <p:spPr>
          <a:xfrm>
            <a:off x="7482840" y="3657600"/>
            <a:ext cx="4229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PM2.5 MONITORING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482840" y="3886079"/>
            <a:ext cx="4238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Satellite-derived global PM2.5 concentration map showing pollution hotspots and clean air regions worldwide.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334250" y="4751074"/>
            <a:ext cx="4474845" cy="1722120"/>
          </a:xfrm>
          <a:custGeom>
            <a:avLst/>
            <a:gdLst/>
            <a:ahLst/>
            <a:cxnLst/>
            <a:rect l="l" t="t" r="r" b="b"/>
            <a:pathLst>
              <a:path w="4474845" h="1722120">
                <a:moveTo>
                  <a:pt x="76204" y="0"/>
                </a:moveTo>
                <a:lnTo>
                  <a:pt x="4398641" y="0"/>
                </a:lnTo>
                <a:cubicBezTo>
                  <a:pt x="4440727" y="0"/>
                  <a:pt x="4474845" y="34118"/>
                  <a:pt x="4474845" y="76204"/>
                </a:cubicBezTo>
                <a:lnTo>
                  <a:pt x="4474845" y="1645916"/>
                </a:lnTo>
                <a:cubicBezTo>
                  <a:pt x="4474845" y="1688002"/>
                  <a:pt x="4440727" y="1722120"/>
                  <a:pt x="4398641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0460" y="4907282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Potential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490460" y="5250182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Health Benefit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386542" y="5250182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490460" y="5478782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490460" y="5478782"/>
            <a:ext cx="3743325" cy="76200"/>
          </a:xfrm>
          <a:custGeom>
            <a:avLst/>
            <a:gdLst/>
            <a:ahLst/>
            <a:cxnLst/>
            <a:rect l="l" t="t" r="r" b="b"/>
            <a:pathLst>
              <a:path w="3743325" h="76200">
                <a:moveTo>
                  <a:pt x="38100" y="0"/>
                </a:moveTo>
                <a:lnTo>
                  <a:pt x="3705225" y="0"/>
                </a:lnTo>
                <a:cubicBezTo>
                  <a:pt x="3726253" y="0"/>
                  <a:pt x="3743325" y="17072"/>
                  <a:pt x="3743325" y="38100"/>
                </a:cubicBezTo>
                <a:lnTo>
                  <a:pt x="3743325" y="38100"/>
                </a:lnTo>
                <a:cubicBezTo>
                  <a:pt x="3743325" y="59128"/>
                  <a:pt x="3726253" y="76200"/>
                  <a:pt x="37052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9" name="Text 46"/>
          <p:cNvSpPr/>
          <p:nvPr/>
        </p:nvSpPr>
        <p:spPr>
          <a:xfrm>
            <a:off x="7490460" y="5631182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Support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1386542" y="5631182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490460" y="5859782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490460" y="5859782"/>
            <a:ext cx="3533775" cy="76200"/>
          </a:xfrm>
          <a:custGeom>
            <a:avLst/>
            <a:gdLst/>
            <a:ahLst/>
            <a:cxnLst/>
            <a:rect l="l" t="t" r="r" b="b"/>
            <a:pathLst>
              <a:path w="3533775" h="76200">
                <a:moveTo>
                  <a:pt x="38100" y="0"/>
                </a:moveTo>
                <a:lnTo>
                  <a:pt x="3495675" y="0"/>
                </a:lnTo>
                <a:cubicBezTo>
                  <a:pt x="3516703" y="0"/>
                  <a:pt x="3533775" y="17072"/>
                  <a:pt x="3533775" y="38100"/>
                </a:cubicBezTo>
                <a:lnTo>
                  <a:pt x="3533775" y="38100"/>
                </a:lnTo>
                <a:cubicBezTo>
                  <a:pt x="3533775" y="59128"/>
                  <a:pt x="3516703" y="76200"/>
                  <a:pt x="3495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0"/>
          <p:cNvSpPr/>
          <p:nvPr/>
        </p:nvSpPr>
        <p:spPr>
          <a:xfrm>
            <a:off x="7490460" y="6012182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Value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082219" y="6012182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High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490460" y="6240782"/>
            <a:ext cx="4162425" cy="76200"/>
          </a:xfrm>
          <a:custGeom>
            <a:avLst/>
            <a:gdLst/>
            <a:ahLst/>
            <a:cxnLst/>
            <a:rect l="l" t="t" r="r" b="b"/>
            <a:pathLst>
              <a:path w="4162425" h="76200">
                <a:moveTo>
                  <a:pt x="38100" y="0"/>
                </a:moveTo>
                <a:lnTo>
                  <a:pt x="4124325" y="0"/>
                </a:lnTo>
                <a:cubicBezTo>
                  <a:pt x="4145353" y="0"/>
                  <a:pt x="4162425" y="17072"/>
                  <a:pt x="4162425" y="38100"/>
                </a:cubicBezTo>
                <a:lnTo>
                  <a:pt x="4162425" y="38100"/>
                </a:lnTo>
                <a:cubicBezTo>
                  <a:pt x="4162425" y="59128"/>
                  <a:pt x="4145353" y="76200"/>
                  <a:pt x="4124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490460" y="6240782"/>
            <a:ext cx="3952875" cy="76200"/>
          </a:xfrm>
          <a:custGeom>
            <a:avLst/>
            <a:gdLst/>
            <a:ahLst/>
            <a:cxnLst/>
            <a:rect l="l" t="t" r="r" b="b"/>
            <a:pathLst>
              <a:path w="3952875" h="76200">
                <a:moveTo>
                  <a:pt x="38100" y="0"/>
                </a:moveTo>
                <a:lnTo>
                  <a:pt x="3914775" y="0"/>
                </a:lnTo>
                <a:cubicBezTo>
                  <a:pt x="3935803" y="0"/>
                  <a:pt x="3952875" y="17072"/>
                  <a:pt x="3952875" y="38100"/>
                </a:cubicBezTo>
                <a:lnTo>
                  <a:pt x="3952875" y="38100"/>
                </a:lnTo>
                <a:cubicBezTo>
                  <a:pt x="3952875" y="59128"/>
                  <a:pt x="3935803" y="76200"/>
                  <a:pt x="39147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47625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0" y="0"/>
                </a:moveTo>
                <a:lnTo>
                  <a:pt x="5524497" y="0"/>
                </a:lnTo>
                <a:cubicBezTo>
                  <a:pt x="5566555" y="0"/>
                  <a:pt x="5600700" y="34145"/>
                  <a:pt x="5600700" y="76203"/>
                </a:cubicBezTo>
                <a:lnTo>
                  <a:pt x="5600700" y="1390647"/>
                </a:lnTo>
                <a:cubicBezTo>
                  <a:pt x="5600700" y="1432705"/>
                  <a:pt x="5566555" y="1466850"/>
                  <a:pt x="5524497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576263" y="16002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984290" y="1562100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4290" y="1905000"/>
            <a:ext cx="4905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developed a comprehensive machine learning framework that successfully predicts PM2.5 pollution levels using historical environmental data with high accuracy.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2994660"/>
            <a:ext cx="2741295" cy="998220"/>
          </a:xfrm>
          <a:custGeom>
            <a:avLst/>
            <a:gdLst/>
            <a:ahLst/>
            <a:cxnLst/>
            <a:rect l="l" t="t" r="r" b="b"/>
            <a:pathLst>
              <a:path w="2741295" h="998220">
                <a:moveTo>
                  <a:pt x="76204" y="0"/>
                </a:moveTo>
                <a:lnTo>
                  <a:pt x="2665091" y="0"/>
                </a:lnTo>
                <a:cubicBezTo>
                  <a:pt x="2707177" y="0"/>
                  <a:pt x="2741295" y="34118"/>
                  <a:pt x="2741295" y="76204"/>
                </a:cubicBezTo>
                <a:lnTo>
                  <a:pt x="2741295" y="922016"/>
                </a:lnTo>
                <a:cubicBezTo>
                  <a:pt x="2741295" y="964102"/>
                  <a:pt x="2707177" y="998220"/>
                  <a:pt x="26650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4832" y="31699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855345" y="3150868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020" y="3455668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feature engineering with lag and rolling averages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1835" y="2994660"/>
            <a:ext cx="2741295" cy="998220"/>
          </a:xfrm>
          <a:custGeom>
            <a:avLst/>
            <a:gdLst/>
            <a:ahLst/>
            <a:cxnLst/>
            <a:rect l="l" t="t" r="r" b="b"/>
            <a:pathLst>
              <a:path w="2741295" h="998220">
                <a:moveTo>
                  <a:pt x="76204" y="0"/>
                </a:moveTo>
                <a:lnTo>
                  <a:pt x="2665091" y="0"/>
                </a:lnTo>
                <a:cubicBezTo>
                  <a:pt x="2707177" y="0"/>
                  <a:pt x="2741295" y="34118"/>
                  <a:pt x="2741295" y="76204"/>
                </a:cubicBezTo>
                <a:lnTo>
                  <a:pt x="2741295" y="922016"/>
                </a:lnTo>
                <a:cubicBezTo>
                  <a:pt x="2741295" y="964102"/>
                  <a:pt x="2707177" y="998220"/>
                  <a:pt x="26650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8045" y="316991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3722370" y="3150868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08045" y="3455668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XGBoost regression algorithm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4114806"/>
            <a:ext cx="2741295" cy="998220"/>
          </a:xfrm>
          <a:custGeom>
            <a:avLst/>
            <a:gdLst/>
            <a:ahLst/>
            <a:cxnLst/>
            <a:rect l="l" t="t" r="r" b="b"/>
            <a:pathLst>
              <a:path w="2741295" h="998220">
                <a:moveTo>
                  <a:pt x="76204" y="0"/>
                </a:moveTo>
                <a:lnTo>
                  <a:pt x="2665091" y="0"/>
                </a:lnTo>
                <a:cubicBezTo>
                  <a:pt x="2707177" y="0"/>
                  <a:pt x="2741295" y="34118"/>
                  <a:pt x="2741295" y="76204"/>
                </a:cubicBezTo>
                <a:lnTo>
                  <a:pt x="2741295" y="922016"/>
                </a:lnTo>
                <a:cubicBezTo>
                  <a:pt x="2741295" y="964102"/>
                  <a:pt x="2707177" y="998220"/>
                  <a:pt x="26650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4832" y="42900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855345" y="4271014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020" y="4575814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≈ 1.03 μg/m³, near-perfect predictions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51835" y="4114806"/>
            <a:ext cx="2741295" cy="998220"/>
          </a:xfrm>
          <a:custGeom>
            <a:avLst/>
            <a:gdLst/>
            <a:ahLst/>
            <a:cxnLst/>
            <a:rect l="l" t="t" r="r" b="b"/>
            <a:pathLst>
              <a:path w="2741295" h="998220">
                <a:moveTo>
                  <a:pt x="76204" y="0"/>
                </a:moveTo>
                <a:lnTo>
                  <a:pt x="2665091" y="0"/>
                </a:lnTo>
                <a:cubicBezTo>
                  <a:pt x="2707177" y="0"/>
                  <a:pt x="2741295" y="34118"/>
                  <a:pt x="2741295" y="76204"/>
                </a:cubicBezTo>
                <a:lnTo>
                  <a:pt x="2741295" y="922016"/>
                </a:lnTo>
                <a:cubicBezTo>
                  <a:pt x="2741295" y="964102"/>
                  <a:pt x="2707177" y="998220"/>
                  <a:pt x="266509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31858" y="42900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3722370" y="4271014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08045" y="4575814"/>
            <a:ext cx="2495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analysis of pollution patterns and trends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8620" y="5276852"/>
            <a:ext cx="5606415" cy="1405890"/>
          </a:xfrm>
          <a:custGeom>
            <a:avLst/>
            <a:gdLst/>
            <a:ahLst/>
            <a:cxnLst/>
            <a:rect l="l" t="t" r="r" b="b"/>
            <a:pathLst>
              <a:path w="5606415" h="1405890">
                <a:moveTo>
                  <a:pt x="76199" y="0"/>
                </a:moveTo>
                <a:lnTo>
                  <a:pt x="5530216" y="0"/>
                </a:lnTo>
                <a:cubicBezTo>
                  <a:pt x="5572299" y="0"/>
                  <a:pt x="5606415" y="34116"/>
                  <a:pt x="5606415" y="76199"/>
                </a:cubicBezTo>
                <a:lnTo>
                  <a:pt x="5606415" y="1329691"/>
                </a:lnTo>
                <a:cubicBezTo>
                  <a:pt x="5606415" y="1371774"/>
                  <a:pt x="5572299" y="1405890"/>
                  <a:pt x="5530216" y="1405890"/>
                </a:cubicBezTo>
                <a:lnTo>
                  <a:pt x="76199" y="1405890"/>
                </a:lnTo>
                <a:cubicBezTo>
                  <a:pt x="34116" y="1405890"/>
                  <a:pt x="0" y="1371774"/>
                  <a:pt x="0" y="132969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20320">
            <a:solidFill>
              <a:srgbClr val="5E8B7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1737" y="548449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767715" y="5436868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Applications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5779768"/>
            <a:ext cx="5362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system can support </a:t>
            </a:r>
            <a:r>
              <a:rPr lang="en-US" sz="1200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pollution monitoring </a:t>
            </a: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r>
              <a:rPr lang="en-US" sz="1200" dirty="0">
                <a:solidFill>
                  <a:srgbClr val="EDF2F4">
                    <a:alpha val="90000"/>
                  </a:srgbClr>
                </a:solidFill>
                <a:highlight>
                  <a:srgbClr val="5E8B7E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decision-making </a:t>
            </a:r>
            <a:r>
              <a:rPr lang="en-US" sz="12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enabling proactive public health interventions and evidence-based environmental regulations.</a:t>
            </a:r>
            <a:endParaRPr lang="en-US" sz="16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51270" y="1760107"/>
            <a:ext cx="5295900" cy="3286125"/>
          </a:xfrm>
          <a:prstGeom prst="roundRect">
            <a:avLst>
              <a:gd name="adj" fmla="val 0"/>
            </a:avLst>
          </a:prstGeom>
        </p:spPr>
      </p:pic>
      <p:sp>
        <p:nvSpPr>
          <p:cNvPr id="35" name="Shape 30"/>
          <p:cNvSpPr/>
          <p:nvPr/>
        </p:nvSpPr>
        <p:spPr>
          <a:xfrm>
            <a:off x="6191250" y="5357096"/>
            <a:ext cx="5619750" cy="1333500"/>
          </a:xfrm>
          <a:custGeom>
            <a:avLst/>
            <a:gdLst/>
            <a:ahLst/>
            <a:cxnLst/>
            <a:rect l="l" t="t" r="r" b="b"/>
            <a:pathLst>
              <a:path w="5619750" h="1333500">
                <a:moveTo>
                  <a:pt x="76196" y="0"/>
                </a:moveTo>
                <a:lnTo>
                  <a:pt x="5543554" y="0"/>
                </a:lnTo>
                <a:cubicBezTo>
                  <a:pt x="5585636" y="0"/>
                  <a:pt x="5619750" y="34114"/>
                  <a:pt x="5619750" y="76196"/>
                </a:cubicBezTo>
                <a:lnTo>
                  <a:pt x="5619750" y="1257304"/>
                </a:lnTo>
                <a:cubicBezTo>
                  <a:pt x="5619750" y="1299386"/>
                  <a:pt x="5585636" y="1333500"/>
                  <a:pt x="554355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6343650" y="5509496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 at a Glance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6343650" y="5852396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38103" y="0"/>
                </a:moveTo>
                <a:lnTo>
                  <a:pt x="1657347" y="0"/>
                </a:lnTo>
                <a:cubicBezTo>
                  <a:pt x="1678391" y="0"/>
                  <a:pt x="1695450" y="17059"/>
                  <a:pt x="1695450" y="38103"/>
                </a:cubicBezTo>
                <a:lnTo>
                  <a:pt x="1695450" y="647697"/>
                </a:lnTo>
                <a:cubicBezTo>
                  <a:pt x="1695450" y="668741"/>
                  <a:pt x="1678391" y="685800"/>
                  <a:pt x="16573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400800" y="5966696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1.03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6429375" y="627138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(μg/m³)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8153400" y="5852396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38103" y="0"/>
                </a:moveTo>
                <a:lnTo>
                  <a:pt x="1657347" y="0"/>
                </a:lnTo>
                <a:cubicBezTo>
                  <a:pt x="1678391" y="0"/>
                  <a:pt x="1695450" y="17059"/>
                  <a:pt x="1695450" y="38103"/>
                </a:cubicBezTo>
                <a:lnTo>
                  <a:pt x="1695450" y="647697"/>
                </a:lnTo>
                <a:cubicBezTo>
                  <a:pt x="1695450" y="668741"/>
                  <a:pt x="1678391" y="685800"/>
                  <a:pt x="16573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8210550" y="5966696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239125" y="627138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Estimators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9963150" y="5852396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38103" y="0"/>
                </a:moveTo>
                <a:lnTo>
                  <a:pt x="1657347" y="0"/>
                </a:lnTo>
                <a:cubicBezTo>
                  <a:pt x="1678391" y="0"/>
                  <a:pt x="1695450" y="17059"/>
                  <a:pt x="1695450" y="38103"/>
                </a:cubicBezTo>
                <a:lnTo>
                  <a:pt x="1695450" y="647697"/>
                </a:lnTo>
                <a:cubicBezTo>
                  <a:pt x="1695450" y="668741"/>
                  <a:pt x="1678391" y="685800"/>
                  <a:pt x="16573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10020300" y="5966696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10048875" y="627138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Data</a:t>
            </a:r>
            <a:endParaRPr lang="en-US" sz="16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43513BF-7129-A968-B87D-4116E8BE4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057" y="1333500"/>
            <a:ext cx="5635943" cy="37795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aa51ef732495feec2dcb31778bb5860da81d6f09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3317" r="331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3607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5E8B7E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731" y="79248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50800">
            <a:solidFill>
              <a:srgbClr val="5E8B7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281" y="10020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3"/>
          <p:cNvSpPr/>
          <p:nvPr/>
        </p:nvSpPr>
        <p:spPr>
          <a:xfrm>
            <a:off x="4334113" y="1916432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281" y="275463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4448413" y="3021332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Welcome Any Questions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36814" y="3634621"/>
            <a:ext cx="4122420" cy="2446020"/>
          </a:xfrm>
          <a:custGeom>
            <a:avLst/>
            <a:gdLst/>
            <a:ahLst/>
            <a:cxnLst/>
            <a:rect l="l" t="t" r="r" b="b"/>
            <a:pathLst>
              <a:path w="4122420" h="2446020">
                <a:moveTo>
                  <a:pt x="76194" y="0"/>
                </a:moveTo>
                <a:lnTo>
                  <a:pt x="4046226" y="0"/>
                </a:lnTo>
                <a:cubicBezTo>
                  <a:pt x="4088307" y="0"/>
                  <a:pt x="4122420" y="34113"/>
                  <a:pt x="4122420" y="76194"/>
                </a:cubicBezTo>
                <a:lnTo>
                  <a:pt x="4122420" y="2369826"/>
                </a:lnTo>
                <a:cubicBezTo>
                  <a:pt x="4122420" y="2411907"/>
                  <a:pt x="4088307" y="2446020"/>
                  <a:pt x="4046226" y="2446020"/>
                </a:cubicBezTo>
                <a:lnTo>
                  <a:pt x="76194" y="2446020"/>
                </a:lnTo>
                <a:cubicBezTo>
                  <a:pt x="34113" y="2446020"/>
                  <a:pt x="0" y="2411907"/>
                  <a:pt x="0" y="236982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69224" y="3867029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69224" y="4095629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Inoveters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0300" y="3867029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10300" y="4095629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ExxonMobil Hackathon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69224" y="4590929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69224" y="4819529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Mahati Atre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69224" y="5048129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Prakhar Mandloi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10300" y="4590929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10300" y="4819529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PM2.5 Prediction ML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1456</Words>
  <Application>Microsoft Office PowerPoint</Application>
  <PresentationFormat>Widescreen</PresentationFormat>
  <Paragraphs>308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Liter</vt:lpstr>
      <vt:lpstr>Arial</vt:lpstr>
      <vt:lpstr>Quattrocento Sans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PM2.5 Air Pollution Prediction using Machine Learning</dc:title>
  <dc:subject>PM2.5 Air Pollution Prediction using Machine Learning</dc:subject>
  <dc:creator>Kimi</dc:creator>
  <cp:lastModifiedBy>PRAKHAR MANDLOI</cp:lastModifiedBy>
  <cp:revision>2</cp:revision>
  <dcterms:created xsi:type="dcterms:W3CDTF">2026-03-15T06:18:26Z</dcterms:created>
  <dcterms:modified xsi:type="dcterms:W3CDTF">2026-03-15T06:51:17Z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{"Label":"PM2.5 Air Pollution Prediction using Machine Learning","ContentProducer":"001191110108MACG2KBH8F10000","ProduceID":"19cf0192-9162-83b0-8000-000071900be9","ReservedCode1":"","ContentPropagator":"001191110108MACG2KBH8F20000","PropagateID":"19cf0192-9162-83b0-8000-000071900be9","ReservedCode2":""}</vt:lpwstr>
  </property>
</Properties>
</file>